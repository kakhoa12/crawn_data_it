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91" r:id="rId28"/>
    <p:sldId id="293" r:id="rId29"/>
    <p:sldId id="295" r:id="rId30"/>
    <p:sldId id="294" r:id="rId31"/>
    <p:sldId id="298" r:id="rId32"/>
    <p:sldId id="296" r:id="rId33"/>
    <p:sldId id="297" r:id="rId34"/>
    <p:sldId id="299" r:id="rId35"/>
    <p:sldId id="300" r:id="rId36"/>
    <p:sldId id="292" r:id="rId37"/>
    <p:sldId id="301" r:id="rId38"/>
    <p:sldId id="302" r:id="rId39"/>
    <p:sldId id="282" r:id="rId40"/>
    <p:sldId id="283" r:id="rId41"/>
    <p:sldId id="284" r:id="rId42"/>
    <p:sldId id="285" r:id="rId43"/>
    <p:sldId id="286" r:id="rId44"/>
    <p:sldId id="287" r:id="rId45"/>
    <p:sldId id="288" r:id="rId46"/>
    <p:sldId id="289" r:id="rId47"/>
    <p:sldId id="290" r:id="rId48"/>
  </p:sldIdLst>
  <p:sldSz cx="18288000" cy="10287000"/>
  <p:notesSz cx="6858000" cy="9144000"/>
  <p:embeddedFontLst>
    <p:embeddedFont>
      <p:font typeface="Montserrat" panose="00000500000000000000" pitchFamily="2" charset="0"/>
      <p:regular r:id="rId50"/>
      <p:bold r:id="rId51"/>
      <p:italic r:id="rId52"/>
      <p:boldItalic r:id="rId53"/>
    </p:embeddedFont>
    <p:embeddedFont>
      <p:font typeface="Montserrat Bold" panose="00000800000000000000" charset="0"/>
      <p:regular r:id="rId54"/>
    </p:embeddedFont>
    <p:embeddedFont>
      <p:font typeface="Open Sans Extra Bold" panose="020B0604020202020204" charset="0"/>
      <p:regular r:id="rId55"/>
    </p:embeddedFont>
    <p:embeddedFont>
      <p:font typeface="Poppins" panose="00000500000000000000" pitchFamily="2" charset="0"/>
      <p:regular r:id="rId56"/>
      <p:bold r:id="rId57"/>
      <p:italic r:id="rId58"/>
      <p:boldItalic r:id="rId59"/>
    </p:embeddedFont>
    <p:embeddedFont>
      <p:font typeface="Poppins Bold" panose="00000800000000000000" charset="0"/>
      <p:regular r:id="rId60"/>
    </p:embeddedFont>
    <p:embeddedFont>
      <p:font typeface="Source Sans Pro" panose="020B0503030403020204" pitchFamily="34" charset="0"/>
      <p:regular r:id="rId61"/>
      <p:bold r:id="rId62"/>
      <p:italic r:id="rId63"/>
      <p:boldItalic r:id="rId64"/>
    </p:embeddedFont>
    <p:embeddedFont>
      <p:font typeface="Source Sans Pro Bold" panose="020B0703030403020204" charset="0"/>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0523" autoAdjust="0"/>
  </p:normalViewPr>
  <p:slideViewPr>
    <p:cSldViewPr>
      <p:cViewPr varScale="1">
        <p:scale>
          <a:sx n="44" d="100"/>
          <a:sy n="44" d="100"/>
        </p:scale>
        <p:origin x="133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font" Target="fonts/font14.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21.07.2025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3732075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Hiện nay, không khó để tìm thấy một sàn thương mại điện tử trên internet. Shopee, Lazada hay Tiktok shop ngay chính tại Việt Nam chính là ví dụ điển hình cho sự phát triển của ngành thương mại điện tử tại Việt Nam. Theo Metric, Tổng doanh thu của toàn thị trường TMĐT trong quý III/2023 đạt 63 nghìn tỷ đồng và đạt mức tăng trưởng 54,42% so với cùng kỳ năm ngoái. Năm 2023, tổng doanh thu 9 tháng đầu tiên đã cao hơn cả năm 2022 khoảng 10 nghìn tỷ đồng, tương đương 7%. Trong đó, Tiktok Shop mang về 25 nghìn tỷ đồng. Nếu chỉ tính trên doanh thu 4 sàn Shopee, Lazada, Tiki, Sendo (Tikok Shop ra mắt vào cuối tháng 4/2022), tỷ lệ tăng trưởng so với cùng kỳ là 33%. Đây là các con số rất ấn tượng, chứng minh rằng thị trường thương mại điện tử vẫn đang tăng trưởng rất mạnh tại Việt Nam [1] . Điều này chứng minh cho xu hướng không thể phủ nhận – Dịch chuyển từ thương mại truyền thống sang thương mại điện tử.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Kiến trúc Modular: NestJS hỗ trợ kiến trúc modular, giúp dễ dàng chia hệ thống thành các module độc lập và có thể tái sử dụng. Điều này giúp quản lý và mở rộng các microservices một cách hiệu quả.</a:t>
            </a:r>
          </a:p>
          <a:p>
            <a:endParaRPr lang="en-US"/>
          </a:p>
          <a:p>
            <a:r>
              <a:rPr lang="en-US"/>
              <a:t>- Dễ dàng xây dựng các dịch vụ độc lập: NestJS cung cấp các công cụ và cấu trúc để xây dựng các dịch vụ độc lập, giúp dễ dàng quản lý, phát triển và triển khai từng microservice.</a:t>
            </a:r>
          </a:p>
          <a:p>
            <a:endParaRPr lang="en-US"/>
          </a:p>
          <a:p>
            <a:r>
              <a:rPr lang="en-US"/>
              <a:t>- Hỗ trợ Dependency Injection: Tính năng Dependency Injection của NestJS giúp quản lý các phụ thuộc giữa các thành phần trong hệ thống, làm cho mã nguồn dễ duy trì và kiểm thử hơn.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Hình ảnh mô tả kiến trúc triển khai ứng dụng trên Kubernetes. Người dùng truy cập ứng dụng thông qua trình duyệt. Khi người dùng tương tác với website, hệ thống sẽ gửi request đến cluster. Kong API Gateway (Ingress service sử dụng Kong API Gateway làm plugin) đóng vai trò trung gian, tiếp nhận, kiểm tra và chuyển tiếp request đó đến service đích, từ đó chuyển đến các pod thích hợp.</a:t>
            </a:r>
          </a:p>
          <a:p>
            <a:r>
              <a:rPr lang="en-US"/>
              <a:t>Đối với những request yêu cầu dữ liệu từ các pod khác, các pod sẽ giao tiếp với nhau thông qua message queue (cụ thể là RabbitMQ), và các pod có thể sử dụng dữ liệu chung được lưu trữ ở Redis. Khi tất cả các bước xử lý hoàn tất, service đích sẽ nhận kết quả từ pod, chuyển ngược lại Kong, từ Kong tới Front End và Front End sẽ hiển thị kết quả cho người dùng.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Hiện nay, không khó để tìm thấy một sàn thương mại điện tử trên internet. Shopee, Lazada hay Tiktok shop ngay chính tại Việt Nam chính là ví dụ điển hình cho sự phát triển của ngành thương mại điện tử tại Việt Nam. Theo Metric, Tổng doanh thu của toàn thị trường TMĐT trong quý III/2023 đạt 63 nghìn tỷ đồng và đạt mức tăng trưởng 54,42% so với cùng kỳ năm ngoái. Năm 2023, tổng doanh thu 9 tháng đầu tiên đã cao hơn cả năm 2022 khoảng 10 nghìn tỷ đồng, tương đương 7%. Trong đó, Tiktok Shop mang về 25 nghìn tỷ đồng. Nếu chỉ tính trên doanh thu 4 sàn Shopee, Lazada, Tiki, Sendo (Tikok Shop ra mắt vào cuối tháng 4/2022), tỷ lệ tăng trưởng so với cùng kỳ là 33%. Đây là các con số rất ấn tượng, chứng minh rằng thị trường thương mại điện tử vẫn đang tăng trưởng rất mạnh tại Việt Nam [1] . Điều này chứng minh cho xu hướng không thể phủ nhận – Dịch chuyển từ thương mại truyền thống sang thương mại điện tử.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Hiện nay, không khó để tìm thấy một sàn thương mại điện tử trên internet. Shopee, Lazada hay Tiktok shop ngay chính tại Việt Nam chính là ví dụ điển hình cho sự phát triển của ngành thương mại điện tử tại Việt Nam. Theo Metric, Tổng doanh thu của toàn thị trường TMĐT trong quý III/2023 đạt 63 nghìn tỷ đồng và đạt mức tăng trưởng 54,42% so với cùng kỳ năm ngoái. Năm 2023, tổng doanh thu 9 tháng đầu tiên đã cao hơn cả năm 2022 khoảng 10 nghìn tỷ đồng, tương đương 7%. Trong đó, Tiktok Shop mang về 25 nghìn tỷ đồng. Nếu chỉ tính trên doanh thu 4 sàn Shopee, Lazada, Tiki, Sendo (Tikok Shop ra mắt vào cuối tháng 4/2022), tỷ lệ tăng trưởng so với cùng kỳ là 33%. Đây là các con số rất ấn tượng, chứng minh rằng thị trường thương mại điện tử vẫn đang tăng trưởng rất mạnh tại Việt Nam [1] . Điều này chứng minh cho xu hướng không thể phủ nhận – Dịch chuyển từ thương mại truyền thống sang thương mại điện tử.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Hiện nay, không khó để tìm thấy một sàn thương mại điện tử trên internet. Shopee, Lazada hay Tiktok shop ngay chính tại Việt Nam chính là ví dụ điển hình cho sự phát triển của ngành thương mại điện tử tại Việt Nam. Theo Metric, Tổng doanh thu của toàn thị trường TMĐT trong quý III/2023 đạt 63 nghìn tỷ đồng và đạt mức tăng trưởng 54,42% so với cùng kỳ năm ngoái. Năm 2023, tổng doanh thu 9 tháng đầu tiên đã cao hơn cả năm 2022 khoảng 10 nghìn tỷ đồng, tương đương 7%. Trong đó, Tiktok Shop mang về 25 nghìn tỷ đồng. Nếu chỉ tính trên doanh thu 4 sàn Shopee, Lazada, Tiki, Sendo (Tikok Shop ra mắt vào cuối tháng 4/2022), tỷ lệ tăng trưởng so với cùng kỳ là 33%. Đây là các con số rất ấn tượng, chứng minh rằng thị trường thương mại điện tử vẫn đang tăng trưởng rất mạnh tại Việt Nam [1] . Điều này chứng minh cho xu hướng không thể phủ nhận – Dịch chuyển từ thương mại truyền thống sang thương mại điện tử.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a:t>Ngoài hệ thống như em kể trên, nhóm em cũng áp dụng AI để có thể gợi ý các công việc cho ứng viên để xem ứng viên có phù hợp với công việc hay không, cụ thể là các thuật toán trong Machine learning để tạo ra mô hình AI </a:t>
            </a:r>
          </a:p>
        </p:txBody>
      </p:sp>
      <p:sp>
        <p:nvSpPr>
          <p:cNvPr id="4" name="Slide Number Placeholder 3"/>
          <p:cNvSpPr>
            <a:spLocks noGrp="1"/>
          </p:cNvSpPr>
          <p:nvPr>
            <p:ph type="sldNum" sz="quarter" idx="5"/>
          </p:nvPr>
        </p:nvSpPr>
        <p:spPr/>
        <p:txBody>
          <a:bodyPr/>
          <a:lstStyle/>
          <a:p>
            <a:fld id="{871B2431-D351-4C6E-A3CF-9DFAC0E3E050}" type="slidenum">
              <a:rPr lang="cs-CZ" smtClean="0"/>
              <a:t>27</a:t>
            </a:fld>
            <a:endParaRPr lang="cs-CZ"/>
          </a:p>
        </p:txBody>
      </p:sp>
    </p:spTree>
    <p:extLst>
      <p:ext uri="{BB962C8B-B14F-4D97-AF65-F5344CB8AC3E}">
        <p14:creationId xmlns:p14="http://schemas.microsoft.com/office/powerpoint/2010/main" val="3237421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AB096-1C4B-6CE0-3D8B-971600E955B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5F82CA-D6F2-2EAE-B407-9D00C856A47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1DA9600-3C90-3256-15BE-A6B0D1CDD0D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5D2BC90-3897-8120-9D8B-26E61BDC5EB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77A245B-C6AF-DF61-E6D2-17EC064EAE7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200" b="0" i="0" kern="1200">
                <a:solidFill>
                  <a:schemeClr val="tx1"/>
                </a:solidFill>
                <a:effectLst/>
                <a:latin typeface="+mn-lt"/>
                <a:ea typeface="+mn-ea"/>
                <a:cs typeface="+mn-cs"/>
              </a:rPr>
              <a:t>Bối cảnh về những khó khăn khi tuyển dụng ( nói hết ý trên ), nói xong thì đưa ra mục tiêu đạt được </a:t>
            </a:r>
          </a:p>
          <a:p>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Mục tiêu giải quyết vấn đề của nhóm em là, áp dụng Machine learning để có thể tự động đánh giá mức độ phù hợp giữa JD (Job Description) và CR (Candidate Resume), giúp</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 tiết kiệm chi phí tuyển dụng</a:t>
            </a:r>
          </a:p>
          <a:p>
            <a:pPr marL="171450" indent="-171450">
              <a:buFontTx/>
              <a:buChar char="-"/>
            </a:pPr>
            <a:r>
              <a:rPr lang="en-US" sz="1200" b="0" i="0" kern="1200">
                <a:solidFill>
                  <a:schemeClr val="tx1"/>
                </a:solidFill>
                <a:effectLst/>
                <a:latin typeface="+mn-lt"/>
                <a:ea typeface="+mn-ea"/>
                <a:cs typeface="+mn-cs"/>
              </a:rPr>
              <a:t>tiết kiệm thời gian </a:t>
            </a:r>
          </a:p>
          <a:p>
            <a:pPr marL="171450" indent="-171450">
              <a:buFontTx/>
              <a:buChar char="-"/>
            </a:pPr>
            <a:r>
              <a:rPr lang="en-US" sz="1200" b="0" i="0" kern="1200">
                <a:solidFill>
                  <a:schemeClr val="tx1"/>
                </a:solidFill>
                <a:effectLst/>
                <a:latin typeface="+mn-lt"/>
                <a:ea typeface="+mn-ea"/>
                <a:cs typeface="+mn-cs"/>
              </a:rPr>
              <a:t>Đánh giá theo tiêu chuẩn trong JD </a:t>
            </a:r>
          </a:p>
          <a:p>
            <a:pPr marL="171450" indent="-171450">
              <a:buFontTx/>
              <a:buChar char="-"/>
            </a:pPr>
            <a:r>
              <a:rPr lang="en-US" sz="1200" b="0" i="0" kern="1200">
                <a:solidFill>
                  <a:schemeClr val="tx1"/>
                </a:solidFill>
                <a:effectLst/>
                <a:latin typeface="+mn-lt"/>
                <a:ea typeface="+mn-ea"/>
                <a:cs typeface="+mn-cs"/>
              </a:rPr>
              <a:t>Gợi ý các CV phù hợp với JD </a:t>
            </a:r>
          </a:p>
          <a:p>
            <a:pPr marL="171450" indent="-171450">
              <a:buFontTx/>
              <a:buChar char="-"/>
            </a:pPr>
            <a:r>
              <a:rPr lang="en-US" sz="1200" b="0" i="0" kern="1200">
                <a:solidFill>
                  <a:schemeClr val="tx1"/>
                </a:solidFill>
                <a:effectLst/>
                <a:latin typeface="+mn-lt"/>
                <a:ea typeface="+mn-ea"/>
                <a:cs typeface="+mn-cs"/>
              </a:rPr>
              <a:t>Nhanh hơn đánh giá thủ công</a:t>
            </a:r>
          </a:p>
          <a:p>
            <a:pPr marL="171450" indent="-171450">
              <a:buFontTx/>
              <a:buChar char="-"/>
            </a:pPr>
            <a:endParaRPr lang="en-US"/>
          </a:p>
        </p:txBody>
      </p:sp>
      <p:sp>
        <p:nvSpPr>
          <p:cNvPr id="6" name="Footer Placeholder 5">
            <a:extLst>
              <a:ext uri="{FF2B5EF4-FFF2-40B4-BE49-F238E27FC236}">
                <a16:creationId xmlns:a16="http://schemas.microsoft.com/office/drawing/2014/main" id="{42D13C28-6F68-6493-5227-0A569F3C298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7DA07AF-7F04-75CA-618D-6F143959612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25986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629B-E52D-0F38-073F-54363E2CDFA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314AE5-08FC-35AC-BF86-98B733E3975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DFDA66-954C-A3A7-6E2B-C86EB29F396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BC93994-F409-E9F4-5F64-6E3C2532985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60CECEA-08A1-752A-0F77-654F61EA673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Mục đích sử dụng Machine Learning để có thể áp dụng các thuật toán và cho ra kết quả đầu ra là 3 class bao gồm: Not suitable, moderately suitable, most suitable để xem thử CV của ứng viên có phù hợp với các nhà tuyển dụng hay không</a:t>
            </a:r>
          </a:p>
        </p:txBody>
      </p:sp>
      <p:sp>
        <p:nvSpPr>
          <p:cNvPr id="6" name="Footer Placeholder 5">
            <a:extLst>
              <a:ext uri="{FF2B5EF4-FFF2-40B4-BE49-F238E27FC236}">
                <a16:creationId xmlns:a16="http://schemas.microsoft.com/office/drawing/2014/main" id="{ECE86371-1D62-4F7A-9353-A63A410805F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250903A-841D-BD93-54CB-29F725FF71A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91621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51623-248D-5B2D-10BD-9249483BFD1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AC9501-5321-083A-F0E1-52CFB77C2C9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FCC1596-1210-65FC-F69B-4FC1A933780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6949F0F-8222-0315-8EB3-51123DC9643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A4F2382-E77D-B59C-B4D9-B3B8109054A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Vì quy mô hệ thống bài toán, chúng em sẽ chọn ra 4 mô hình phân loại ( phân loại là đầu ra sẽ là các class ) phổ biến được sử dụng nhiều nhất kể trên, và từ đó chúng em sẽ nhận xét được đâu là thuật toán sẽ cho ra kết quả tốt nhất và áp dụng vào hệ thống</a:t>
            </a:r>
          </a:p>
        </p:txBody>
      </p:sp>
      <p:sp>
        <p:nvSpPr>
          <p:cNvPr id="6" name="Footer Placeholder 5">
            <a:extLst>
              <a:ext uri="{FF2B5EF4-FFF2-40B4-BE49-F238E27FC236}">
                <a16:creationId xmlns:a16="http://schemas.microsoft.com/office/drawing/2014/main" id="{7BA15E37-3268-D1D1-264E-B16F7F7FEB0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B2EDC5C-0ED0-D2E9-9127-548001DD2F2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59749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CE5AB-19E6-BFA3-898F-FE5992D5136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73E206D-FBCA-F5F1-4122-A231D9768CD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B99C233-E157-EF0D-E51B-165D8DA0B8C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FFAED88-FE64-24D1-CACA-81C3970B9FC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4AC4819-A68C-EC0B-85B3-512FAE4B189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dataset em có 2 nguồn dataset là JD và CR, JD em sẽ cào trực tiếp trên các nền tảng tuyển dụng như là topcv hay là itviet, và CR em sẽ lấy dataset có sẵn trên Kaggle, với các thông số nội dung em để ở bảng này ( đọc các thông số trong bảng)</a:t>
            </a:r>
          </a:p>
        </p:txBody>
      </p:sp>
      <p:sp>
        <p:nvSpPr>
          <p:cNvPr id="6" name="Footer Placeholder 5">
            <a:extLst>
              <a:ext uri="{FF2B5EF4-FFF2-40B4-BE49-F238E27FC236}">
                <a16:creationId xmlns:a16="http://schemas.microsoft.com/office/drawing/2014/main" id="{56AB9355-CEFF-58DF-FAD0-1415774D65B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622E218-E21E-DDFD-1E49-D476D003194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74316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18950-3F0B-8955-98EA-C2CBE44653A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76DA7-923D-8A59-7492-CD42AB0084E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B19B2AE-BE63-E4E6-3B32-C5160AF2A1C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4C322AB-3440-EF76-2D1A-A82671D4F49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5825DDF-0619-BC71-D15C-4125213AE18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em có 2 tập dataset trên rồi tiếp theo em sẽ kết hợp lại 2 dataset này lại với nhau để có thể cho ra 1 dataset duy nhất,  ngoài ra để có thể áp dụng các mô hình vào trong hệ thống chúng em sẽ kết hợp với cách tiếp cận là trích xuất các đặc trưng mới là tính điểm. Ở đây em sẽ công thức tính điểm jacard (</a:t>
            </a:r>
            <a:r>
              <a:rPr lang="vi-VN" sz="1200" b="0" i="0" kern="1200">
                <a:solidFill>
                  <a:schemeClr val="tx1"/>
                </a:solidFill>
                <a:effectLst/>
                <a:latin typeface="+mn-lt"/>
                <a:ea typeface="+mn-ea"/>
                <a:cs typeface="+mn-cs"/>
              </a:rPr>
              <a:t>Là </a:t>
            </a:r>
            <a:r>
              <a:rPr lang="vi-VN" sz="1200" b="1" i="0" kern="1200">
                <a:solidFill>
                  <a:schemeClr val="tx1"/>
                </a:solidFill>
                <a:effectLst/>
                <a:latin typeface="+mn-lt"/>
                <a:ea typeface="+mn-ea"/>
                <a:cs typeface="+mn-cs"/>
              </a:rPr>
              <a:t>chỉ số đo độ tương đồng</a:t>
            </a:r>
            <a:r>
              <a:rPr lang="vi-VN" sz="1200" b="0" i="0" kern="1200">
                <a:solidFill>
                  <a:schemeClr val="tx1"/>
                </a:solidFill>
                <a:effectLst/>
                <a:latin typeface="+mn-lt"/>
                <a:ea typeface="+mn-ea"/>
                <a:cs typeface="+mn-cs"/>
              </a:rPr>
              <a:t> giữa hai tập hợp dữ liệu dựa trên tỷ lệ phần tử chung so với tổng phần tử khác nhau</a:t>
            </a:r>
            <a:r>
              <a:rPr lang="en-US" sz="1200" b="0" i="0" kern="1200">
                <a:solidFill>
                  <a:schemeClr val="tx1"/>
                </a:solidFill>
                <a:effectLst/>
                <a:latin typeface="+mn-lt"/>
                <a:ea typeface="+mn-ea"/>
                <a:cs typeface="+mn-cs"/>
              </a:rPr>
              <a:t>). để có thể tính các điểm jaccard với 4 cụm em nói trên</a:t>
            </a:r>
            <a:endParaRPr lang="en-US"/>
          </a:p>
        </p:txBody>
      </p:sp>
      <p:sp>
        <p:nvSpPr>
          <p:cNvPr id="6" name="Footer Placeholder 5">
            <a:extLst>
              <a:ext uri="{FF2B5EF4-FFF2-40B4-BE49-F238E27FC236}">
                <a16:creationId xmlns:a16="http://schemas.microsoft.com/office/drawing/2014/main" id="{2E6194A4-529A-F7CB-EF08-89F628EE425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8F73685-8A1D-209E-BF32-93B0366A25E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105940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54541-39B8-F5FD-DDF5-886EB3463BA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67C1B-FC00-DE74-B152-5A205FD5F77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2E179EF-92C0-1CAE-B4F3-27B1D218F27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828C750-DDD6-26B7-539B-C16E4CC9B0E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7323BEE-E156-BED9-530F-61CF895D005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em đã tính điểm jaccard tiếp theo em sẽ áp dụng công thức trên để tính điểm Suitability để có thể phân ngưỡng các class ( NOT,MDS,MOS) để đi huấn luyện dữ liệu. Điểm sẽ được tính điểm bằng cách điểm jacard của PS trên 2 tập JD và CR + điểm jacard của SS trên 2 tập JD và CR + điểm jacard của tính từ trên 2 tập JD và CR * trọng số của tính từ trong tập CR là số lượng từ tính từ trong tập CR</a:t>
            </a:r>
          </a:p>
        </p:txBody>
      </p:sp>
      <p:sp>
        <p:nvSpPr>
          <p:cNvPr id="6" name="Footer Placeholder 5">
            <a:extLst>
              <a:ext uri="{FF2B5EF4-FFF2-40B4-BE49-F238E27FC236}">
                <a16:creationId xmlns:a16="http://schemas.microsoft.com/office/drawing/2014/main" id="{66CD1F37-EA01-BD86-D47D-E8D6722A8C8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C849A1E-CCEA-32A3-BA4E-0EBD5516521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935261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1D4E6-EADC-D545-02B8-A9E5D0021AA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56D2FB-F925-C3DD-6E25-61036C9E198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CD9C521-3900-15CB-7CD6-8CE535CDD29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1D71F1A-6443-6C55-11B7-B3D2774A4AB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3279B0D-C711-3D3E-BCD6-288F107F63F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phân tích và tính toán dữ liệu, em đã thu được biểu đồ tần số phân bố điểm suitability Giữa CR và JD như hình trên, để có thể phân ngưỡng em để phân vị các điểm suitability &lt; 40% là sẽ là class Not Suitable ( không phù hợp ) tương ứng với điểm suitability là 0.29 em sẽ cho tròn là 0.3, và phân vị các điểm suitability &gt; 75% có nghĩa là 25% CR có điểm suitability phù hợp sẽ là Most suitable thu được 0.57 em sẽ cho tron lên 0.6 với điểm suitability pù hợp nhất, còn lại sẽ là class Moderately suitable là tương đối phù hợp</a:t>
            </a:r>
          </a:p>
        </p:txBody>
      </p:sp>
      <p:sp>
        <p:nvSpPr>
          <p:cNvPr id="6" name="Footer Placeholder 5">
            <a:extLst>
              <a:ext uri="{FF2B5EF4-FFF2-40B4-BE49-F238E27FC236}">
                <a16:creationId xmlns:a16="http://schemas.microsoft.com/office/drawing/2014/main" id="{FC7492D8-8655-0648-950E-9834EE539AB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8740BFC-FD6F-2B1F-F6E0-FE9FF733945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08180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2A1A-98A3-62A9-6666-58FEAEBE7A6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69366E-5C9F-F449-8D0E-2211384C169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5919269-E28A-955B-2A4D-85CE0C29688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621CD1B-2B0B-1CE8-BFA0-48925CD5C51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11305F0-5E24-86E7-7994-7C01C5F743C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em phân ngưỡng class thì em thu được biểu đồ tròn phân phối trên 3 class như trên, các class sẽ không bị mất mát dữ liệu quá nhiều vẫn đủ để có thể huấn luyện dữ liệu, đọc phần tram trên biểu đồ tròn</a:t>
            </a:r>
          </a:p>
        </p:txBody>
      </p:sp>
      <p:sp>
        <p:nvSpPr>
          <p:cNvPr id="6" name="Footer Placeholder 5">
            <a:extLst>
              <a:ext uri="{FF2B5EF4-FFF2-40B4-BE49-F238E27FC236}">
                <a16:creationId xmlns:a16="http://schemas.microsoft.com/office/drawing/2014/main" id="{9453A540-D67C-D96A-2013-93428EACAD4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CA99511-F073-98BB-8354-490F4FA9F35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498374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FC575-352F-19EF-0EAE-B96991CA3DC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963ECD-57B6-67E6-C39E-B278DB7316B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9F89A99-67D4-2B87-A1A2-12EA7DF70D9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728449E-8788-5EFD-F6C8-4B068077485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BFED871-9120-D887-A987-239DF6B85CE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Để tóm tắt lại quá trình trên em có bảng như sau, đầu tiên chúng ta có các tập dataset về JD sau đó sử lý dữ liệu và trích xuất các đặc trưng và cho ra được JD clean, song song với nó ta làm tương tự như CR và cho ra CR clean, 2 tập JD và CR clean này chúng ta sẽ kết hợp lại với nhau để tính điểm jacard, phân ngưỡng class</a:t>
            </a:r>
          </a:p>
        </p:txBody>
      </p:sp>
      <p:sp>
        <p:nvSpPr>
          <p:cNvPr id="6" name="Footer Placeholder 5">
            <a:extLst>
              <a:ext uri="{FF2B5EF4-FFF2-40B4-BE49-F238E27FC236}">
                <a16:creationId xmlns:a16="http://schemas.microsoft.com/office/drawing/2014/main" id="{5DEAD82C-0FE1-FF7D-D250-8E8347A00D9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1579C58-439D-7DA2-D3F0-4F749435D06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375088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9168-329A-5C8A-BAEA-2D1B95C4DD8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0DA1AB-A45C-015E-E2FD-BBA080B289F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667756E-CEA7-1244-B8C0-05AD68715DA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3A90661-4BC3-FD6D-8876-588B6706DFE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BAEC947-726D-50A9-CF9A-3803B2D0A8C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kết hợp và trích xuất các đặc trưng em thu về 1 dataset mới như trong bảng trên. Em sẽ chia dữ liệu thành 80% huấn luyện và 20% dùng để test </a:t>
            </a:r>
          </a:p>
        </p:txBody>
      </p:sp>
      <p:sp>
        <p:nvSpPr>
          <p:cNvPr id="6" name="Footer Placeholder 5">
            <a:extLst>
              <a:ext uri="{FF2B5EF4-FFF2-40B4-BE49-F238E27FC236}">
                <a16:creationId xmlns:a16="http://schemas.microsoft.com/office/drawing/2014/main" id="{7B5B0B76-A51D-7B28-3DCF-2EFF732C822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9EA96E1-2B4A-6D0A-5311-A430D46B449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150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9BA6B-65D4-6451-E1AC-550B0DD9950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D346DA-3859-2C92-F48E-D771D9509D9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11F7865-01A1-13ED-35D2-B31980793E9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812DE2B-E06A-DC5B-35AE-09E22A4532C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A89BF20-E83A-029F-687C-E95B3D1A88C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khi em huấn luyện và kiểm thử 4 mô hình và em có kết quả như trên. </a:t>
            </a:r>
            <a:r>
              <a:rPr lang="vi-VN" sz="1200" kern="1200">
                <a:solidFill>
                  <a:schemeClr val="tx1"/>
                </a:solidFill>
                <a:effectLst/>
                <a:latin typeface="+mn-lt"/>
                <a:ea typeface="+mn-ea"/>
                <a:cs typeface="+mn-cs"/>
              </a:rPr>
              <a:t>Từ bảng so sánh trên, có thể thấy rằng XGBoost nổi bật nhất với tất cả các chỉ số đều đạt giá trị cao và ổn định, chứng minh hiệu năng vượt trội và khả năng tổng quát hóa tốt. Random Forest cũng thể hiện hiệu suất rất ấn tượng, đặc biệt phù hợp trong các trường hợp yêu cầu mô hình dễ diễn giải hơn. Logistic Regression, tuy đơn giản, vẫn đảm bảo độ chính xác tương đối cao và dễ áp dụng trong thực tế. Trong khi đó, AdaBoost cho thấy hiệu quả thấp hơn rõ rệt và chỉ nên sử dụng khi tài nguyên xử lý hạn chế hoặc yêu cầu tốc độ cao</a:t>
            </a:r>
            <a:r>
              <a:rPr lang="en-US" sz="1200" kern="1200">
                <a:solidFill>
                  <a:schemeClr val="tx1"/>
                </a:solidFill>
                <a:effectLst/>
                <a:latin typeface="+mn-lt"/>
                <a:ea typeface="+mn-ea"/>
                <a:cs typeface="+mn-cs"/>
              </a:rPr>
              <a:t>. Và kết luận lại mô hình XG Boost cho ra kết quả tổng quan cao nhất và chuẩn nhất nên nhóm em sẽ chọn mô hình XG Boost để làm mô hình gợi ý công việc</a:t>
            </a:r>
            <a:endParaRPr lang="en-US"/>
          </a:p>
        </p:txBody>
      </p:sp>
      <p:sp>
        <p:nvSpPr>
          <p:cNvPr id="6" name="Footer Placeholder 5">
            <a:extLst>
              <a:ext uri="{FF2B5EF4-FFF2-40B4-BE49-F238E27FC236}">
                <a16:creationId xmlns:a16="http://schemas.microsoft.com/office/drawing/2014/main" id="{D818D2CF-5E82-3AD8-85C6-8D935E6A333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9CA0618-B9AD-D3AE-28D8-4051AC94301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49587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7.jpeg"/><Relationship Id="rId4"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097502" y="5590237"/>
            <a:ext cx="14099416" cy="140994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391331" y="2381011"/>
            <a:ext cx="8015383" cy="987250"/>
          </a:xfrm>
          <a:prstGeom prst="rect">
            <a:avLst/>
          </a:prstGeom>
        </p:spPr>
        <p:txBody>
          <a:bodyPr lIns="0" tIns="0" rIns="0" bIns="0" rtlCol="0" anchor="t">
            <a:spAutoFit/>
          </a:bodyPr>
          <a:lstStyle/>
          <a:p>
            <a:pPr algn="l">
              <a:lnSpc>
                <a:spcPts val="8059"/>
              </a:lnSpc>
              <a:spcBef>
                <a:spcPct val="0"/>
              </a:spcBef>
            </a:pPr>
            <a:r>
              <a:rPr lang="en-US" sz="5756">
                <a:solidFill>
                  <a:srgbClr val="051D40"/>
                </a:solidFill>
                <a:latin typeface="Open Sans Extra Bold"/>
                <a:ea typeface="Open Sans Extra Bold"/>
                <a:cs typeface="Open Sans Extra Bold"/>
                <a:sym typeface="Open Sans Extra Bold"/>
              </a:rPr>
              <a:t>Khoá luận tốt nghiệp</a:t>
            </a:r>
          </a:p>
        </p:txBody>
      </p:sp>
      <p:grpSp>
        <p:nvGrpSpPr>
          <p:cNvPr id="6" name="Group 6"/>
          <p:cNvGrpSpPr/>
          <p:nvPr/>
        </p:nvGrpSpPr>
        <p:grpSpPr>
          <a:xfrm>
            <a:off x="16420234" y="-1717598"/>
            <a:ext cx="3735531" cy="37355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47857" y="-643475"/>
            <a:ext cx="1286950" cy="128695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929195" y="8389571"/>
            <a:ext cx="3735531" cy="373553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8757394" y="7522582"/>
            <a:ext cx="8779632" cy="1733977"/>
          </a:xfrm>
          <a:custGeom>
            <a:avLst/>
            <a:gdLst/>
            <a:ahLst/>
            <a:cxnLst/>
            <a:rect l="l" t="t" r="r" b="b"/>
            <a:pathLst>
              <a:path w="8779632" h="1733977">
                <a:moveTo>
                  <a:pt x="0" y="0"/>
                </a:moveTo>
                <a:lnTo>
                  <a:pt x="8779632" y="0"/>
                </a:lnTo>
                <a:lnTo>
                  <a:pt x="8779632" y="1733977"/>
                </a:lnTo>
                <a:lnTo>
                  <a:pt x="0" y="1733977"/>
                </a:lnTo>
                <a:lnTo>
                  <a:pt x="0" y="0"/>
                </a:lnTo>
                <a:close/>
              </a:path>
            </a:pathLst>
          </a:custGeom>
          <a:blipFill>
            <a:blip r:embed="rId2"/>
            <a:stretch>
              <a:fillRect/>
            </a:stretch>
          </a:blipFill>
        </p:spPr>
        <p:txBody>
          <a:bodyPr/>
          <a:lstStyle/>
          <a:p>
            <a:endParaRPr lang="en-US"/>
          </a:p>
        </p:txBody>
      </p:sp>
      <p:sp>
        <p:nvSpPr>
          <p:cNvPr id="25" name="TextBox 25"/>
          <p:cNvSpPr txBox="1"/>
          <p:nvPr/>
        </p:nvSpPr>
        <p:spPr>
          <a:xfrm>
            <a:off x="1391331" y="3582946"/>
            <a:ext cx="8015383" cy="2067233"/>
          </a:xfrm>
          <a:prstGeom prst="rect">
            <a:avLst/>
          </a:prstGeom>
        </p:spPr>
        <p:txBody>
          <a:bodyPr lIns="0" tIns="0" rIns="0" bIns="0" rtlCol="0" anchor="t">
            <a:spAutoFit/>
          </a:bodyPr>
          <a:lstStyle/>
          <a:p>
            <a:pPr algn="l">
              <a:lnSpc>
                <a:spcPts val="4619"/>
              </a:lnSpc>
            </a:pPr>
            <a:r>
              <a:rPr lang="en-US" sz="3299" dirty="0" err="1">
                <a:solidFill>
                  <a:srgbClr val="000000"/>
                </a:solidFill>
                <a:latin typeface="Montserrat"/>
                <a:ea typeface="Montserrat"/>
                <a:cs typeface="Montserrat"/>
                <a:sym typeface="Montserrat"/>
              </a:rPr>
              <a:t>Đề</a:t>
            </a:r>
            <a:r>
              <a:rPr lang="en-US" sz="3299" dirty="0">
                <a:solidFill>
                  <a:srgbClr val="000000"/>
                </a:solidFill>
                <a:latin typeface="Montserrat"/>
                <a:ea typeface="Montserrat"/>
                <a:cs typeface="Montserrat"/>
                <a:sym typeface="Montserrat"/>
              </a:rPr>
              <a:t> </a:t>
            </a:r>
            <a:r>
              <a:rPr lang="en-US" sz="3299" dirty="0" err="1">
                <a:solidFill>
                  <a:srgbClr val="000000"/>
                </a:solidFill>
                <a:latin typeface="Montserrat"/>
                <a:ea typeface="Montserrat"/>
                <a:cs typeface="Montserrat"/>
                <a:sym typeface="Montserrat"/>
              </a:rPr>
              <a:t>tài</a:t>
            </a:r>
            <a:r>
              <a:rPr lang="en-US" sz="3299" dirty="0">
                <a:solidFill>
                  <a:srgbClr val="000000"/>
                </a:solidFill>
                <a:latin typeface="Montserrat"/>
                <a:ea typeface="Montserrat"/>
                <a:cs typeface="Montserrat"/>
                <a:sym typeface="Montserrat"/>
              </a:rPr>
              <a:t>: </a:t>
            </a:r>
          </a:p>
          <a:p>
            <a:r>
              <a:rPr lang="en-US" sz="3200" b="1" dirty="0" err="1">
                <a:latin typeface="Montserrat Bold" panose="020B0604020202020204" charset="0"/>
              </a:rPr>
              <a:t>Xây</a:t>
            </a:r>
            <a:r>
              <a:rPr lang="en-US" sz="3200" b="1" dirty="0">
                <a:latin typeface="Montserrat Bold" panose="020B0604020202020204" charset="0"/>
              </a:rPr>
              <a:t> </a:t>
            </a:r>
            <a:r>
              <a:rPr lang="en-US" sz="3200" b="1" dirty="0" err="1">
                <a:latin typeface="Montserrat Bold" panose="020B0604020202020204" charset="0"/>
              </a:rPr>
              <a:t>dựng</a:t>
            </a:r>
            <a:r>
              <a:rPr lang="en-US" sz="3200" b="1" dirty="0">
                <a:latin typeface="Montserrat Bold" panose="020B0604020202020204" charset="0"/>
              </a:rPr>
              <a:t> website </a:t>
            </a:r>
            <a:r>
              <a:rPr lang="en-US" sz="3200" b="1" dirty="0" err="1">
                <a:latin typeface="Montserrat Bold" panose="020B0604020202020204" charset="0"/>
              </a:rPr>
              <a:t>tuyển</a:t>
            </a:r>
            <a:r>
              <a:rPr lang="en-US" sz="3200" b="1" dirty="0">
                <a:latin typeface="Montserrat Bold" panose="020B0604020202020204" charset="0"/>
              </a:rPr>
              <a:t> </a:t>
            </a:r>
            <a:r>
              <a:rPr lang="en-US" sz="3200" b="1" dirty="0" err="1">
                <a:latin typeface="Montserrat Bold" panose="020B0604020202020204" charset="0"/>
              </a:rPr>
              <a:t>dụng</a:t>
            </a:r>
            <a:r>
              <a:rPr lang="en-US" sz="3200" b="1" dirty="0">
                <a:latin typeface="Montserrat Bold" panose="020B0604020202020204" charset="0"/>
              </a:rPr>
              <a:t> </a:t>
            </a:r>
            <a:r>
              <a:rPr lang="en-US" sz="3200" b="1" dirty="0" err="1">
                <a:latin typeface="Montserrat Bold" panose="020B0604020202020204" charset="0"/>
              </a:rPr>
              <a:t>thông</a:t>
            </a:r>
            <a:r>
              <a:rPr lang="en-US" sz="3200" b="1" dirty="0">
                <a:latin typeface="Montserrat Bold" panose="020B0604020202020204" charset="0"/>
              </a:rPr>
              <a:t> </a:t>
            </a:r>
            <a:r>
              <a:rPr lang="en-US" sz="3200" b="1" dirty="0" err="1">
                <a:latin typeface="Montserrat Bold" panose="020B0604020202020204" charset="0"/>
              </a:rPr>
              <a:t>minh</a:t>
            </a:r>
            <a:r>
              <a:rPr lang="en-US" sz="3200" b="1" dirty="0">
                <a:latin typeface="Montserrat Bold" panose="020B0604020202020204" charset="0"/>
              </a:rPr>
              <a:t> </a:t>
            </a:r>
            <a:r>
              <a:rPr lang="en-US" sz="3200" b="1" dirty="0" err="1">
                <a:latin typeface="Montserrat Bold" panose="020B0604020202020204" charset="0"/>
              </a:rPr>
              <a:t>sử</a:t>
            </a:r>
            <a:r>
              <a:rPr lang="en-US" sz="3200" b="1" dirty="0">
                <a:latin typeface="Montserrat Bold" panose="020B0604020202020204" charset="0"/>
              </a:rPr>
              <a:t> </a:t>
            </a:r>
            <a:r>
              <a:rPr lang="en-US" sz="3200" b="1" dirty="0" err="1">
                <a:latin typeface="Montserrat Bold" panose="020B0604020202020204" charset="0"/>
              </a:rPr>
              <a:t>dụng</a:t>
            </a:r>
            <a:r>
              <a:rPr lang="en-US" sz="3200" b="1" dirty="0">
                <a:latin typeface="Montserrat Bold" panose="020B0604020202020204" charset="0"/>
              </a:rPr>
              <a:t> </a:t>
            </a:r>
            <a:r>
              <a:rPr lang="en-US" sz="3200" b="1" dirty="0" err="1">
                <a:latin typeface="Montserrat Bold" panose="020B0604020202020204" charset="0"/>
              </a:rPr>
              <a:t>kiến</a:t>
            </a:r>
            <a:r>
              <a:rPr lang="en-US" sz="3200" b="1" dirty="0">
                <a:latin typeface="Montserrat Bold" panose="020B0604020202020204" charset="0"/>
              </a:rPr>
              <a:t> </a:t>
            </a:r>
            <a:r>
              <a:rPr lang="en-US" sz="3200" b="1" dirty="0" err="1">
                <a:latin typeface="Montserrat Bold" panose="020B0604020202020204" charset="0"/>
              </a:rPr>
              <a:t>trúc</a:t>
            </a:r>
            <a:r>
              <a:rPr lang="en-US" sz="3200" b="1" dirty="0">
                <a:latin typeface="Montserrat Bold" panose="020B0604020202020204" charset="0"/>
              </a:rPr>
              <a:t> Microservice </a:t>
            </a:r>
            <a:r>
              <a:rPr lang="en-US" sz="3200" b="1" dirty="0" err="1">
                <a:latin typeface="Montserrat Bold" panose="020B0604020202020204" charset="0"/>
              </a:rPr>
              <a:t>và</a:t>
            </a:r>
            <a:r>
              <a:rPr lang="en-US" sz="3200" b="1" dirty="0">
                <a:latin typeface="Montserrat Bold" panose="020B0604020202020204" charset="0"/>
              </a:rPr>
              <a:t> AI </a:t>
            </a:r>
            <a:r>
              <a:rPr lang="en-US" sz="3200" b="1" dirty="0" err="1">
                <a:latin typeface="Montserrat Bold" panose="020B0604020202020204" charset="0"/>
              </a:rPr>
              <a:t>hỗ</a:t>
            </a:r>
            <a:r>
              <a:rPr lang="en-US" sz="3200" b="1" dirty="0">
                <a:latin typeface="Montserrat Bold" panose="020B0604020202020204" charset="0"/>
              </a:rPr>
              <a:t> </a:t>
            </a:r>
            <a:r>
              <a:rPr lang="en-US" sz="3200" b="1" dirty="0" err="1">
                <a:latin typeface="Montserrat Bold" panose="020B0604020202020204" charset="0"/>
              </a:rPr>
              <a:t>trợ</a:t>
            </a:r>
            <a:r>
              <a:rPr lang="en-US" sz="3200" b="1" dirty="0">
                <a:latin typeface="Montserrat Bold" panose="020B0604020202020204" charset="0"/>
              </a:rPr>
              <a:t> </a:t>
            </a:r>
            <a:r>
              <a:rPr lang="en-US" sz="3200" b="1" dirty="0" err="1">
                <a:latin typeface="Montserrat Bold" panose="020B0604020202020204" charset="0"/>
              </a:rPr>
              <a:t>tìm</a:t>
            </a:r>
            <a:r>
              <a:rPr lang="en-US" sz="3200" b="1" dirty="0">
                <a:latin typeface="Montserrat Bold" panose="020B0604020202020204" charset="0"/>
              </a:rPr>
              <a:t> </a:t>
            </a:r>
            <a:r>
              <a:rPr lang="en-US" sz="3200" b="1" dirty="0" err="1">
                <a:latin typeface="Montserrat Bold" panose="020B0604020202020204" charset="0"/>
              </a:rPr>
              <a:t>kiếm</a:t>
            </a:r>
            <a:r>
              <a:rPr lang="en-US" sz="3200" b="1" dirty="0">
                <a:latin typeface="Montserrat Bold" panose="020B0604020202020204" charset="0"/>
              </a:rPr>
              <a:t> </a:t>
            </a:r>
            <a:r>
              <a:rPr lang="en-US" sz="3200" b="1" dirty="0" err="1">
                <a:latin typeface="Montserrat Bold" panose="020B0604020202020204" charset="0"/>
              </a:rPr>
              <a:t>việc</a:t>
            </a:r>
            <a:r>
              <a:rPr lang="en-US" sz="3200" b="1" dirty="0">
                <a:latin typeface="Montserrat Bold" panose="020B0604020202020204" charset="0"/>
              </a:rPr>
              <a:t> </a:t>
            </a:r>
            <a:r>
              <a:rPr lang="en-US" sz="3200" b="1" dirty="0" err="1">
                <a:latin typeface="Montserrat Bold" panose="020B0604020202020204" charset="0"/>
              </a:rPr>
              <a:t>làm</a:t>
            </a:r>
            <a:r>
              <a:rPr lang="en-US" sz="3200" b="1" dirty="0">
                <a:latin typeface="Montserrat Bold" panose="020B0604020202020204" charset="0"/>
              </a:rPr>
              <a:t>.</a:t>
            </a:r>
            <a:endParaRPr lang="en-US" sz="3200" dirty="0">
              <a:latin typeface="Montserrat Bold" panose="020B0604020202020204" charset="0"/>
            </a:endParaRPr>
          </a:p>
        </p:txBody>
      </p:sp>
      <p:pic>
        <p:nvPicPr>
          <p:cNvPr id="30" name="Picture 29">
            <a:extLst>
              <a:ext uri="{FF2B5EF4-FFF2-40B4-BE49-F238E27FC236}">
                <a16:creationId xmlns:a16="http://schemas.microsoft.com/office/drawing/2014/main" id="{C5C739F9-3E94-AB9D-A4A2-D5787D7378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779" y="1636625"/>
            <a:ext cx="11145536" cy="62693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4517814" y="-315404"/>
            <a:ext cx="3964281" cy="10917809"/>
            <a:chOff x="0" y="0"/>
            <a:chExt cx="1044090" cy="2875472"/>
          </a:xfrm>
        </p:grpSpPr>
        <p:sp>
          <p:nvSpPr>
            <p:cNvPr id="3" name="Freeform 3"/>
            <p:cNvSpPr/>
            <p:nvPr/>
          </p:nvSpPr>
          <p:spPr>
            <a:xfrm>
              <a:off x="0" y="0"/>
              <a:ext cx="1044090" cy="2875472"/>
            </a:xfrm>
            <a:custGeom>
              <a:avLst/>
              <a:gdLst/>
              <a:ahLst/>
              <a:cxnLst/>
              <a:rect l="l" t="t" r="r" b="b"/>
              <a:pathLst>
                <a:path w="1044090" h="2875472">
                  <a:moveTo>
                    <a:pt x="0" y="0"/>
                  </a:moveTo>
                  <a:lnTo>
                    <a:pt x="1044090" y="0"/>
                  </a:lnTo>
                  <a:lnTo>
                    <a:pt x="1044090" y="2875472"/>
                  </a:lnTo>
                  <a:lnTo>
                    <a:pt x="0" y="2875472"/>
                  </a:lnTo>
                  <a:close/>
                </a:path>
              </a:pathLst>
            </a:custGeom>
            <a:solidFill>
              <a:srgbClr val="145DA0"/>
            </a:solidFill>
            <a:ln cap="sq">
              <a:noFill/>
              <a:prstDash val="solid"/>
              <a:miter/>
            </a:ln>
          </p:spPr>
          <p:txBody>
            <a:bodyPr/>
            <a:lstStyle/>
            <a:p>
              <a:endParaRPr lang="en-US"/>
            </a:p>
          </p:txBody>
        </p:sp>
        <p:sp>
          <p:nvSpPr>
            <p:cNvPr id="4" name="TextBox 4"/>
            <p:cNvSpPr txBox="1"/>
            <p:nvPr/>
          </p:nvSpPr>
          <p:spPr>
            <a:xfrm>
              <a:off x="0" y="-38100"/>
              <a:ext cx="1044090" cy="291357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2941233" y="1582931"/>
            <a:ext cx="5249085" cy="1244549"/>
          </a:xfrm>
          <a:prstGeom prst="rect">
            <a:avLst/>
          </a:prstGeom>
        </p:spPr>
        <p:txBody>
          <a:bodyPr lIns="0" tIns="0" rIns="0" bIns="0" rtlCol="0" anchor="t">
            <a:spAutoFit/>
          </a:bodyPr>
          <a:lstStyle/>
          <a:p>
            <a:pPr algn="l">
              <a:lnSpc>
                <a:spcPts val="10248"/>
              </a:lnSpc>
              <a:spcBef>
                <a:spcPct val="0"/>
              </a:spcBef>
            </a:pPr>
            <a:r>
              <a:rPr lang="en-US" sz="7320">
                <a:solidFill>
                  <a:srgbClr val="051D40"/>
                </a:solidFill>
                <a:latin typeface="Open Sans Extra Bold"/>
                <a:ea typeface="Open Sans Extra Bold"/>
                <a:cs typeface="Open Sans Extra Bold"/>
                <a:sym typeface="Open Sans Extra Bold"/>
              </a:rPr>
              <a:t>Mục lục</a:t>
            </a:r>
          </a:p>
        </p:txBody>
      </p:sp>
      <p:grpSp>
        <p:nvGrpSpPr>
          <p:cNvPr id="6" name="Group 6"/>
          <p:cNvGrpSpPr/>
          <p:nvPr/>
        </p:nvGrpSpPr>
        <p:grpSpPr>
          <a:xfrm>
            <a:off x="-1867766" y="-1614217"/>
            <a:ext cx="3735531" cy="37355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5400000">
            <a:off x="2912435" y="3472452"/>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11796731" y="447246"/>
            <a:ext cx="5972616" cy="9392508"/>
          </a:xfrm>
          <a:custGeom>
            <a:avLst/>
            <a:gdLst/>
            <a:ahLst/>
            <a:cxnLst/>
            <a:rect l="l" t="t" r="r" b="b"/>
            <a:pathLst>
              <a:path w="5972616" h="9392508">
                <a:moveTo>
                  <a:pt x="0" y="0"/>
                </a:moveTo>
                <a:lnTo>
                  <a:pt x="5972616" y="0"/>
                </a:lnTo>
                <a:lnTo>
                  <a:pt x="5972616" y="9392508"/>
                </a:lnTo>
                <a:lnTo>
                  <a:pt x="0" y="9392508"/>
                </a:lnTo>
                <a:lnTo>
                  <a:pt x="0" y="0"/>
                </a:lnTo>
                <a:close/>
              </a:path>
            </a:pathLst>
          </a:custGeom>
          <a:blipFill>
            <a:blip r:embed="rId4"/>
            <a:stretch>
              <a:fillRect l="-2387" r="-2387"/>
            </a:stretch>
          </a:blipFill>
        </p:spPr>
        <p:txBody>
          <a:bodyPr/>
          <a:lstStyle/>
          <a:p>
            <a:endParaRPr lang="en-US"/>
          </a:p>
        </p:txBody>
      </p:sp>
      <p:sp>
        <p:nvSpPr>
          <p:cNvPr id="11" name="TextBox 11"/>
          <p:cNvSpPr txBox="1"/>
          <p:nvPr/>
        </p:nvSpPr>
        <p:spPr>
          <a:xfrm>
            <a:off x="3663160" y="3397227"/>
            <a:ext cx="3773019" cy="517955"/>
          </a:xfrm>
          <a:prstGeom prst="rect">
            <a:avLst/>
          </a:prstGeom>
        </p:spPr>
        <p:txBody>
          <a:bodyPr lIns="0" tIns="0" rIns="0" bIns="0" rtlCol="0" anchor="t">
            <a:spAutoFit/>
          </a:bodyPr>
          <a:lstStyle/>
          <a:p>
            <a:pPr algn="l">
              <a:lnSpc>
                <a:spcPts val="3995"/>
              </a:lnSpc>
              <a:spcBef>
                <a:spcPct val="0"/>
              </a:spcBef>
            </a:pPr>
            <a:r>
              <a:rPr lang="en-US" sz="2853" spc="-57">
                <a:solidFill>
                  <a:srgbClr val="051D40"/>
                </a:solidFill>
                <a:latin typeface="Poppins"/>
                <a:ea typeface="Poppins"/>
                <a:cs typeface="Poppins"/>
                <a:sym typeface="Poppins"/>
              </a:rPr>
              <a:t>1.  Giới thiệu</a:t>
            </a:r>
          </a:p>
        </p:txBody>
      </p:sp>
      <p:sp>
        <p:nvSpPr>
          <p:cNvPr id="12" name="TextBox 12"/>
          <p:cNvSpPr txBox="1"/>
          <p:nvPr/>
        </p:nvSpPr>
        <p:spPr>
          <a:xfrm>
            <a:off x="8483149" y="3397227"/>
            <a:ext cx="660851" cy="518013"/>
          </a:xfrm>
          <a:prstGeom prst="rect">
            <a:avLst/>
          </a:prstGeom>
        </p:spPr>
        <p:txBody>
          <a:bodyPr lIns="0" tIns="0" rIns="0" bIns="0" rtlCol="0" anchor="t">
            <a:spAutoFit/>
          </a:bodyPr>
          <a:lstStyle/>
          <a:p>
            <a:pPr algn="r">
              <a:lnSpc>
                <a:spcPts val="3995"/>
              </a:lnSpc>
              <a:spcBef>
                <a:spcPct val="0"/>
              </a:spcBef>
            </a:pPr>
            <a:r>
              <a:rPr lang="en-US" sz="2853" spc="-57">
                <a:solidFill>
                  <a:srgbClr val="051D40"/>
                </a:solidFill>
                <a:latin typeface="Poppins"/>
                <a:ea typeface="Poppins"/>
                <a:cs typeface="Poppins"/>
                <a:sym typeface="Poppins"/>
              </a:rPr>
              <a:t>3</a:t>
            </a:r>
          </a:p>
        </p:txBody>
      </p:sp>
      <p:sp>
        <p:nvSpPr>
          <p:cNvPr id="13" name="Freeform 13"/>
          <p:cNvSpPr/>
          <p:nvPr/>
        </p:nvSpPr>
        <p:spPr>
          <a:xfrm rot="5400000">
            <a:off x="2912435" y="4097959"/>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TextBox 14"/>
          <p:cNvSpPr txBox="1"/>
          <p:nvPr/>
        </p:nvSpPr>
        <p:spPr>
          <a:xfrm>
            <a:off x="3663160" y="4022734"/>
            <a:ext cx="4143021" cy="517955"/>
          </a:xfrm>
          <a:prstGeom prst="rect">
            <a:avLst/>
          </a:prstGeom>
        </p:spPr>
        <p:txBody>
          <a:bodyPr lIns="0" tIns="0" rIns="0" bIns="0" rtlCol="0" anchor="t">
            <a:spAutoFit/>
          </a:bodyPr>
          <a:lstStyle/>
          <a:p>
            <a:pPr algn="l">
              <a:lnSpc>
                <a:spcPts val="3995"/>
              </a:lnSpc>
              <a:spcBef>
                <a:spcPct val="0"/>
              </a:spcBef>
            </a:pPr>
            <a:r>
              <a:rPr lang="en-US" sz="2853" spc="-57">
                <a:solidFill>
                  <a:srgbClr val="051D40"/>
                </a:solidFill>
                <a:latin typeface="Poppins"/>
                <a:ea typeface="Poppins"/>
                <a:cs typeface="Poppins"/>
                <a:sym typeface="Poppins"/>
              </a:rPr>
              <a:t>2.  Đặt vấn đề</a:t>
            </a:r>
          </a:p>
        </p:txBody>
      </p:sp>
      <p:sp>
        <p:nvSpPr>
          <p:cNvPr id="15" name="TextBox 15"/>
          <p:cNvSpPr txBox="1"/>
          <p:nvPr/>
        </p:nvSpPr>
        <p:spPr>
          <a:xfrm>
            <a:off x="8483149" y="4022734"/>
            <a:ext cx="660851" cy="518013"/>
          </a:xfrm>
          <a:prstGeom prst="rect">
            <a:avLst/>
          </a:prstGeom>
        </p:spPr>
        <p:txBody>
          <a:bodyPr lIns="0" tIns="0" rIns="0" bIns="0" rtlCol="0" anchor="t">
            <a:spAutoFit/>
          </a:bodyPr>
          <a:lstStyle/>
          <a:p>
            <a:pPr algn="r">
              <a:lnSpc>
                <a:spcPts val="3995"/>
              </a:lnSpc>
              <a:spcBef>
                <a:spcPct val="0"/>
              </a:spcBef>
            </a:pPr>
            <a:r>
              <a:rPr lang="en-US" sz="2853" spc="-57">
                <a:solidFill>
                  <a:srgbClr val="051D40"/>
                </a:solidFill>
                <a:latin typeface="Poppins"/>
                <a:ea typeface="Poppins"/>
                <a:cs typeface="Poppins"/>
                <a:sym typeface="Poppins"/>
              </a:rPr>
              <a:t>4</a:t>
            </a:r>
          </a:p>
        </p:txBody>
      </p:sp>
      <p:sp>
        <p:nvSpPr>
          <p:cNvPr id="16" name="Freeform 16"/>
          <p:cNvSpPr/>
          <p:nvPr/>
        </p:nvSpPr>
        <p:spPr>
          <a:xfrm rot="5400000">
            <a:off x="2912435" y="4723196"/>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7" name="TextBox 17"/>
          <p:cNvSpPr txBox="1"/>
          <p:nvPr/>
        </p:nvSpPr>
        <p:spPr>
          <a:xfrm>
            <a:off x="3663160" y="4647971"/>
            <a:ext cx="4652520" cy="517955"/>
          </a:xfrm>
          <a:prstGeom prst="rect">
            <a:avLst/>
          </a:prstGeom>
        </p:spPr>
        <p:txBody>
          <a:bodyPr lIns="0" tIns="0" rIns="0" bIns="0" rtlCol="0" anchor="t">
            <a:spAutoFit/>
          </a:bodyPr>
          <a:lstStyle/>
          <a:p>
            <a:pPr algn="l">
              <a:lnSpc>
                <a:spcPts val="3995"/>
              </a:lnSpc>
              <a:spcBef>
                <a:spcPct val="0"/>
              </a:spcBef>
            </a:pPr>
            <a:r>
              <a:rPr lang="en-US" sz="2853" spc="-57">
                <a:solidFill>
                  <a:srgbClr val="051D40"/>
                </a:solidFill>
                <a:latin typeface="Poppins"/>
                <a:ea typeface="Poppins"/>
                <a:cs typeface="Poppins"/>
                <a:sym typeface="Poppins"/>
              </a:rPr>
              <a:t>3.  Giải pháp</a:t>
            </a:r>
          </a:p>
        </p:txBody>
      </p:sp>
      <p:sp>
        <p:nvSpPr>
          <p:cNvPr id="18" name="TextBox 18"/>
          <p:cNvSpPr txBox="1"/>
          <p:nvPr/>
        </p:nvSpPr>
        <p:spPr>
          <a:xfrm>
            <a:off x="8483149" y="4647971"/>
            <a:ext cx="660851" cy="518013"/>
          </a:xfrm>
          <a:prstGeom prst="rect">
            <a:avLst/>
          </a:prstGeom>
        </p:spPr>
        <p:txBody>
          <a:bodyPr lIns="0" tIns="0" rIns="0" bIns="0" rtlCol="0" anchor="t">
            <a:spAutoFit/>
          </a:bodyPr>
          <a:lstStyle/>
          <a:p>
            <a:pPr algn="r">
              <a:lnSpc>
                <a:spcPts val="3995"/>
              </a:lnSpc>
              <a:spcBef>
                <a:spcPct val="0"/>
              </a:spcBef>
            </a:pPr>
            <a:r>
              <a:rPr lang="en-US" sz="2853" spc="-57">
                <a:solidFill>
                  <a:srgbClr val="051D40"/>
                </a:solidFill>
                <a:latin typeface="Poppins"/>
                <a:ea typeface="Poppins"/>
                <a:cs typeface="Poppins"/>
                <a:sym typeface="Poppins"/>
              </a:rPr>
              <a:t>9</a:t>
            </a:r>
          </a:p>
        </p:txBody>
      </p:sp>
      <p:sp>
        <p:nvSpPr>
          <p:cNvPr id="19" name="Freeform 19"/>
          <p:cNvSpPr/>
          <p:nvPr/>
        </p:nvSpPr>
        <p:spPr>
          <a:xfrm rot="5400000">
            <a:off x="2912435" y="5348703"/>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3663160" y="5273478"/>
            <a:ext cx="4397771" cy="517955"/>
          </a:xfrm>
          <a:prstGeom prst="rect">
            <a:avLst/>
          </a:prstGeom>
        </p:spPr>
        <p:txBody>
          <a:bodyPr lIns="0" tIns="0" rIns="0" bIns="0" rtlCol="0" anchor="t">
            <a:spAutoFit/>
          </a:bodyPr>
          <a:lstStyle/>
          <a:p>
            <a:pPr algn="l">
              <a:lnSpc>
                <a:spcPts val="3995"/>
              </a:lnSpc>
              <a:spcBef>
                <a:spcPct val="0"/>
              </a:spcBef>
            </a:pPr>
            <a:r>
              <a:rPr lang="en-US" sz="2853" spc="-57">
                <a:solidFill>
                  <a:srgbClr val="051D40"/>
                </a:solidFill>
                <a:latin typeface="Poppins"/>
                <a:ea typeface="Poppins"/>
                <a:cs typeface="Poppins"/>
                <a:sym typeface="Poppins"/>
              </a:rPr>
              <a:t>4. Hiện thực hệ thống</a:t>
            </a:r>
          </a:p>
        </p:txBody>
      </p:sp>
      <p:sp>
        <p:nvSpPr>
          <p:cNvPr id="21" name="TextBox 21"/>
          <p:cNvSpPr txBox="1"/>
          <p:nvPr/>
        </p:nvSpPr>
        <p:spPr>
          <a:xfrm>
            <a:off x="8483149" y="5273478"/>
            <a:ext cx="660851" cy="518013"/>
          </a:xfrm>
          <a:prstGeom prst="rect">
            <a:avLst/>
          </a:prstGeom>
        </p:spPr>
        <p:txBody>
          <a:bodyPr lIns="0" tIns="0" rIns="0" bIns="0" rtlCol="0" anchor="t">
            <a:spAutoFit/>
          </a:bodyPr>
          <a:lstStyle/>
          <a:p>
            <a:pPr algn="r">
              <a:lnSpc>
                <a:spcPts val="3995"/>
              </a:lnSpc>
              <a:spcBef>
                <a:spcPct val="0"/>
              </a:spcBef>
            </a:pPr>
            <a:r>
              <a:rPr lang="en-US" sz="2853" spc="-57">
                <a:solidFill>
                  <a:srgbClr val="051D40"/>
                </a:solidFill>
                <a:latin typeface="Poppins"/>
                <a:ea typeface="Poppins"/>
                <a:cs typeface="Poppins"/>
                <a:sym typeface="Poppins"/>
              </a:rPr>
              <a:t>21</a:t>
            </a:r>
          </a:p>
        </p:txBody>
      </p:sp>
      <p:sp>
        <p:nvSpPr>
          <p:cNvPr id="22" name="Freeform 22"/>
          <p:cNvSpPr/>
          <p:nvPr/>
        </p:nvSpPr>
        <p:spPr>
          <a:xfrm rot="5400000">
            <a:off x="2912435" y="5973940"/>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3" name="TextBox 23"/>
          <p:cNvSpPr txBox="1"/>
          <p:nvPr/>
        </p:nvSpPr>
        <p:spPr>
          <a:xfrm>
            <a:off x="3663160" y="5898715"/>
            <a:ext cx="4579735" cy="517955"/>
          </a:xfrm>
          <a:prstGeom prst="rect">
            <a:avLst/>
          </a:prstGeom>
        </p:spPr>
        <p:txBody>
          <a:bodyPr lIns="0" tIns="0" rIns="0" bIns="0" rtlCol="0" anchor="t">
            <a:spAutoFit/>
          </a:bodyPr>
          <a:lstStyle/>
          <a:p>
            <a:pPr algn="l">
              <a:lnSpc>
                <a:spcPts val="3995"/>
              </a:lnSpc>
              <a:spcBef>
                <a:spcPct val="0"/>
              </a:spcBef>
            </a:pPr>
            <a:r>
              <a:rPr lang="en-US" sz="2853" spc="-57">
                <a:solidFill>
                  <a:srgbClr val="051D40"/>
                </a:solidFill>
                <a:latin typeface="Poppins"/>
                <a:ea typeface="Poppins"/>
                <a:cs typeface="Poppins"/>
                <a:sym typeface="Poppins"/>
              </a:rPr>
              <a:t>5. Kết luận</a:t>
            </a:r>
          </a:p>
        </p:txBody>
      </p:sp>
      <p:sp>
        <p:nvSpPr>
          <p:cNvPr id="24" name="TextBox 24"/>
          <p:cNvSpPr txBox="1"/>
          <p:nvPr/>
        </p:nvSpPr>
        <p:spPr>
          <a:xfrm>
            <a:off x="8483149" y="5898715"/>
            <a:ext cx="660851" cy="518013"/>
          </a:xfrm>
          <a:prstGeom prst="rect">
            <a:avLst/>
          </a:prstGeom>
        </p:spPr>
        <p:txBody>
          <a:bodyPr lIns="0" tIns="0" rIns="0" bIns="0" rtlCol="0" anchor="t">
            <a:spAutoFit/>
          </a:bodyPr>
          <a:lstStyle/>
          <a:p>
            <a:pPr algn="r">
              <a:lnSpc>
                <a:spcPts val="3995"/>
              </a:lnSpc>
              <a:spcBef>
                <a:spcPct val="0"/>
              </a:spcBef>
            </a:pPr>
            <a:r>
              <a:rPr lang="en-US" sz="2853" spc="-57">
                <a:solidFill>
                  <a:srgbClr val="051D40"/>
                </a:solidFill>
                <a:latin typeface="Poppins"/>
                <a:ea typeface="Poppins"/>
                <a:cs typeface="Poppins"/>
                <a:sym typeface="Poppins"/>
              </a:rPr>
              <a:t>28</a:t>
            </a:r>
          </a:p>
        </p:txBody>
      </p:sp>
      <p:sp>
        <p:nvSpPr>
          <p:cNvPr id="25" name="Freeform 25"/>
          <p:cNvSpPr/>
          <p:nvPr/>
        </p:nvSpPr>
        <p:spPr>
          <a:xfrm rot="5400000">
            <a:off x="2912435" y="6599447"/>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6" name="TextBox 26"/>
          <p:cNvSpPr txBox="1"/>
          <p:nvPr/>
        </p:nvSpPr>
        <p:spPr>
          <a:xfrm>
            <a:off x="3663160" y="6524221"/>
            <a:ext cx="4397771" cy="517955"/>
          </a:xfrm>
          <a:prstGeom prst="rect">
            <a:avLst/>
          </a:prstGeom>
        </p:spPr>
        <p:txBody>
          <a:bodyPr lIns="0" tIns="0" rIns="0" bIns="0" rtlCol="0" anchor="t">
            <a:spAutoFit/>
          </a:bodyPr>
          <a:lstStyle/>
          <a:p>
            <a:pPr algn="l">
              <a:lnSpc>
                <a:spcPts val="3995"/>
              </a:lnSpc>
              <a:spcBef>
                <a:spcPct val="0"/>
              </a:spcBef>
            </a:pPr>
            <a:r>
              <a:rPr lang="en-US" sz="2853" spc="-57">
                <a:solidFill>
                  <a:srgbClr val="051D40"/>
                </a:solidFill>
                <a:latin typeface="Poppins"/>
                <a:ea typeface="Poppins"/>
                <a:cs typeface="Poppins"/>
                <a:sym typeface="Poppins"/>
              </a:rPr>
              <a:t>6. Hướng phát triển</a:t>
            </a:r>
          </a:p>
        </p:txBody>
      </p:sp>
      <p:sp>
        <p:nvSpPr>
          <p:cNvPr id="27" name="TextBox 27"/>
          <p:cNvSpPr txBox="1"/>
          <p:nvPr/>
        </p:nvSpPr>
        <p:spPr>
          <a:xfrm>
            <a:off x="8483149" y="6524221"/>
            <a:ext cx="660851" cy="518013"/>
          </a:xfrm>
          <a:prstGeom prst="rect">
            <a:avLst/>
          </a:prstGeom>
        </p:spPr>
        <p:txBody>
          <a:bodyPr lIns="0" tIns="0" rIns="0" bIns="0" rtlCol="0" anchor="t">
            <a:spAutoFit/>
          </a:bodyPr>
          <a:lstStyle/>
          <a:p>
            <a:pPr algn="r">
              <a:lnSpc>
                <a:spcPts val="3995"/>
              </a:lnSpc>
              <a:spcBef>
                <a:spcPct val="0"/>
              </a:spcBef>
            </a:pPr>
            <a:r>
              <a:rPr lang="en-US" sz="2853" spc="-57">
                <a:solidFill>
                  <a:srgbClr val="051D40"/>
                </a:solidFill>
                <a:latin typeface="Poppins"/>
                <a:ea typeface="Poppins"/>
                <a:cs typeface="Poppins"/>
                <a:sym typeface="Poppins"/>
              </a:rPr>
              <a:t>29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51435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a:blip r:embed="rId2"/>
            <a:stretch>
              <a:fillRect t="-72406" b="-64482"/>
            </a:stretch>
          </a:blipFill>
        </p:spPr>
        <p:txBody>
          <a:bodyPr/>
          <a:lstStyle/>
          <a:p>
            <a:endParaRPr lang="en-US"/>
          </a:p>
        </p:txBody>
      </p:sp>
      <p:grpSp>
        <p:nvGrpSpPr>
          <p:cNvPr id="3" name="Group 3"/>
          <p:cNvGrpSpPr/>
          <p:nvPr/>
        </p:nvGrpSpPr>
        <p:grpSpPr>
          <a:xfrm>
            <a:off x="-188217" y="9258300"/>
            <a:ext cx="18476217" cy="1028700"/>
            <a:chOff x="0" y="0"/>
            <a:chExt cx="4866164" cy="270933"/>
          </a:xfrm>
        </p:grpSpPr>
        <p:sp>
          <p:nvSpPr>
            <p:cNvPr id="4" name="Freeform 4"/>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txBody>
            <a:bodyPr/>
            <a:lstStyle/>
            <a:p>
              <a:endParaRPr lang="en-US"/>
            </a:p>
          </p:txBody>
        </p:sp>
        <p:sp>
          <p:nvSpPr>
            <p:cNvPr id="5" name="TextBox 5"/>
            <p:cNvSpPr txBox="1"/>
            <p:nvPr/>
          </p:nvSpPr>
          <p:spPr>
            <a:xfrm>
              <a:off x="0" y="-38100"/>
              <a:ext cx="4866164" cy="3090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3367558" y="2590556"/>
            <a:ext cx="11552885" cy="5105887"/>
            <a:chOff x="0" y="0"/>
            <a:chExt cx="3042735" cy="1344760"/>
          </a:xfrm>
        </p:grpSpPr>
        <p:sp>
          <p:nvSpPr>
            <p:cNvPr id="7" name="Freeform 7"/>
            <p:cNvSpPr/>
            <p:nvPr/>
          </p:nvSpPr>
          <p:spPr>
            <a:xfrm>
              <a:off x="0" y="0"/>
              <a:ext cx="3042735" cy="1344760"/>
            </a:xfrm>
            <a:custGeom>
              <a:avLst/>
              <a:gdLst/>
              <a:ahLst/>
              <a:cxnLst/>
              <a:rect l="l" t="t" r="r" b="b"/>
              <a:pathLst>
                <a:path w="3042735" h="1344760">
                  <a:moveTo>
                    <a:pt x="0" y="0"/>
                  </a:moveTo>
                  <a:lnTo>
                    <a:pt x="3042735" y="0"/>
                  </a:lnTo>
                  <a:lnTo>
                    <a:pt x="3042735" y="1344760"/>
                  </a:lnTo>
                  <a:lnTo>
                    <a:pt x="0" y="1344760"/>
                  </a:lnTo>
                  <a:close/>
                </a:path>
              </a:pathLst>
            </a:custGeom>
            <a:solidFill>
              <a:srgbClr val="145DA0"/>
            </a:solidFill>
            <a:ln cap="sq">
              <a:noFill/>
              <a:prstDash val="solid"/>
              <a:miter/>
            </a:ln>
          </p:spPr>
          <p:txBody>
            <a:bodyPr/>
            <a:lstStyle/>
            <a:p>
              <a:endParaRPr lang="en-US"/>
            </a:p>
          </p:txBody>
        </p:sp>
        <p:sp>
          <p:nvSpPr>
            <p:cNvPr id="8" name="TextBox 8"/>
            <p:cNvSpPr txBox="1"/>
            <p:nvPr/>
          </p:nvSpPr>
          <p:spPr>
            <a:xfrm>
              <a:off x="0" y="-57150"/>
              <a:ext cx="3042735" cy="1401910"/>
            </a:xfrm>
            <a:prstGeom prst="rect">
              <a:avLst/>
            </a:prstGeom>
          </p:spPr>
          <p:txBody>
            <a:bodyPr lIns="50800" tIns="50800" rIns="50800" bIns="50800" rtlCol="0" anchor="ctr"/>
            <a:lstStyle/>
            <a:p>
              <a:pPr algn="ctr">
                <a:lnSpc>
                  <a:spcPts val="4339"/>
                </a:lnSpc>
              </a:pPr>
              <a:endParaRPr/>
            </a:p>
            <a:p>
              <a:pPr algn="ctr">
                <a:lnSpc>
                  <a:spcPts val="4339"/>
                </a:lnSpc>
              </a:pPr>
              <a:endParaRPr/>
            </a:p>
            <a:p>
              <a:pPr algn="ctr">
                <a:lnSpc>
                  <a:spcPts val="4339"/>
                </a:lnSpc>
              </a:pPr>
              <a:endParaRPr/>
            </a:p>
            <a:p>
              <a:pPr marL="0" lvl="0" indent="0" algn="ctr">
                <a:lnSpc>
                  <a:spcPts val="4339"/>
                </a:lnSpc>
                <a:spcBef>
                  <a:spcPct val="0"/>
                </a:spcBef>
              </a:pPr>
              <a:endParaRPr/>
            </a:p>
          </p:txBody>
        </p:sp>
      </p:grpSp>
      <p:sp>
        <p:nvSpPr>
          <p:cNvPr id="9" name="TextBox 9"/>
          <p:cNvSpPr txBox="1"/>
          <p:nvPr/>
        </p:nvSpPr>
        <p:spPr>
          <a:xfrm>
            <a:off x="7009078" y="4576043"/>
            <a:ext cx="4269845" cy="1069799"/>
          </a:xfrm>
          <a:prstGeom prst="rect">
            <a:avLst/>
          </a:prstGeom>
        </p:spPr>
        <p:txBody>
          <a:bodyPr lIns="0" tIns="0" rIns="0" bIns="0" rtlCol="0" anchor="t">
            <a:spAutoFit/>
          </a:bodyPr>
          <a:lstStyle/>
          <a:p>
            <a:pPr marL="0" lvl="0" indent="0" algn="ctr">
              <a:lnSpc>
                <a:spcPts val="8755"/>
              </a:lnSpc>
              <a:spcBef>
                <a:spcPct val="0"/>
              </a:spcBef>
            </a:pPr>
            <a:r>
              <a:rPr lang="en-US" sz="6254">
                <a:solidFill>
                  <a:srgbClr val="FDFDFD"/>
                </a:solidFill>
                <a:latin typeface="Open Sans Extra Bold"/>
                <a:ea typeface="Open Sans Extra Bold"/>
                <a:cs typeface="Open Sans Extra Bold"/>
                <a:sym typeface="Open Sans Extra Bold"/>
              </a:rPr>
              <a:t>Giới thiệu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5" name="Group 5"/>
          <p:cNvGrpSpPr/>
          <p:nvPr/>
        </p:nvGrpSpPr>
        <p:grpSpPr>
          <a:xfrm>
            <a:off x="3061529" y="2937389"/>
            <a:ext cx="12164941" cy="4412223"/>
            <a:chOff x="0" y="0"/>
            <a:chExt cx="3203935" cy="1162067"/>
          </a:xfrm>
        </p:grpSpPr>
        <p:sp>
          <p:nvSpPr>
            <p:cNvPr id="6" name="Freeform 6"/>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txBody>
            <a:bodyPr/>
            <a:lstStyle/>
            <a:p>
              <a:endParaRPr lang="en-US"/>
            </a:p>
          </p:txBody>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332775" y="3878361"/>
            <a:ext cx="11622449" cy="2273103"/>
          </a:xfrm>
          <a:prstGeom prst="rect">
            <a:avLst/>
          </a:prstGeom>
        </p:spPr>
        <p:txBody>
          <a:bodyPr lIns="0" tIns="0" rIns="0" bIns="0" rtlCol="0" anchor="t">
            <a:spAutoFit/>
          </a:bodyPr>
          <a:lstStyle/>
          <a:p>
            <a:pPr marL="0" lvl="0" indent="0" algn="ctr">
              <a:lnSpc>
                <a:spcPts val="18560"/>
              </a:lnSpc>
              <a:spcBef>
                <a:spcPct val="0"/>
              </a:spcBef>
            </a:pPr>
            <a:r>
              <a:rPr lang="en-US" sz="13257">
                <a:solidFill>
                  <a:srgbClr val="FFFFFF"/>
                </a:solidFill>
                <a:latin typeface="Open Sans Extra Bold"/>
                <a:ea typeface="Open Sans Extra Bold"/>
                <a:cs typeface="Open Sans Extra Bold"/>
                <a:sym typeface="Open Sans Extra Bold"/>
              </a:rPr>
              <a:t>ĐẶT VẤN ĐỀ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266319" y="300130"/>
            <a:ext cx="7922504" cy="1562864"/>
          </a:xfrm>
          <a:prstGeom prst="rect">
            <a:avLst/>
          </a:prstGeom>
        </p:spPr>
        <p:txBody>
          <a:bodyPr lIns="0" tIns="0" rIns="0" bIns="0" rtlCol="0" anchor="t">
            <a:spAutoFit/>
          </a:bodyPr>
          <a:lstStyle/>
          <a:p>
            <a:pPr marL="0" lvl="0" indent="0" algn="l">
              <a:lnSpc>
                <a:spcPts val="6300"/>
              </a:lnSpc>
              <a:spcBef>
                <a:spcPct val="0"/>
              </a:spcBef>
            </a:pPr>
            <a:r>
              <a:rPr lang="en-US" sz="4500" dirty="0" err="1">
                <a:solidFill>
                  <a:srgbClr val="051D40"/>
                </a:solidFill>
                <a:latin typeface="Open Sans Extra Bold"/>
                <a:ea typeface="Open Sans Extra Bold"/>
                <a:cs typeface="Open Sans Extra Bold"/>
                <a:sym typeface="Open Sans Extra Bold"/>
              </a:rPr>
              <a:t>Hệ</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thống</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tuyển</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dụng</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và</a:t>
            </a:r>
            <a:r>
              <a:rPr lang="en-US" sz="4500" dirty="0">
                <a:solidFill>
                  <a:srgbClr val="051D40"/>
                </a:solidFill>
                <a:latin typeface="Open Sans Extra Bold"/>
                <a:ea typeface="Open Sans Extra Bold"/>
                <a:cs typeface="Open Sans Extra Bold"/>
                <a:sym typeface="Open Sans Extra Bold"/>
              </a:rPr>
              <a:t> AI </a:t>
            </a:r>
            <a:r>
              <a:rPr lang="en-US" sz="4500" dirty="0" err="1">
                <a:solidFill>
                  <a:srgbClr val="051D40"/>
                </a:solidFill>
                <a:latin typeface="Open Sans Extra Bold"/>
                <a:ea typeface="Open Sans Extra Bold"/>
                <a:cs typeface="Open Sans Extra Bold"/>
                <a:sym typeface="Open Sans Extra Bold"/>
              </a:rPr>
              <a:t>hỗ</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trợ</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tìm</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kiếm</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việc</a:t>
            </a:r>
            <a:r>
              <a:rPr lang="en-US" sz="4500" dirty="0">
                <a:solidFill>
                  <a:srgbClr val="051D40"/>
                </a:solidFill>
                <a:latin typeface="Open Sans Extra Bold"/>
                <a:ea typeface="Open Sans Extra Bold"/>
                <a:cs typeface="Open Sans Extra Bold"/>
                <a:sym typeface="Open Sans Extra Bold"/>
              </a:rPr>
              <a:t> </a:t>
            </a:r>
            <a:r>
              <a:rPr lang="en-US" sz="4500" dirty="0" err="1">
                <a:solidFill>
                  <a:srgbClr val="051D40"/>
                </a:solidFill>
                <a:latin typeface="Open Sans Extra Bold"/>
                <a:ea typeface="Open Sans Extra Bold"/>
                <a:cs typeface="Open Sans Extra Bold"/>
                <a:sym typeface="Open Sans Extra Bold"/>
              </a:rPr>
              <a:t>làm</a:t>
            </a:r>
            <a:endParaRPr lang="en-US" sz="4500" dirty="0">
              <a:solidFill>
                <a:srgbClr val="051D40"/>
              </a:solidFill>
              <a:latin typeface="Open Sans Extra Bold"/>
              <a:ea typeface="Open Sans Extra Bold"/>
              <a:cs typeface="Open Sans Extra Bold"/>
              <a:sym typeface="Open Sans Extra Bold"/>
            </a:endParaRP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9">
            <a:extLst>
              <a:ext uri="{FF2B5EF4-FFF2-40B4-BE49-F238E27FC236}">
                <a16:creationId xmlns:a16="http://schemas.microsoft.com/office/drawing/2014/main" id="{626A317C-4AB5-D3FF-F13D-61B39EEB0CC1}"/>
              </a:ext>
            </a:extLst>
          </p:cNvPr>
          <p:cNvSpPr txBox="1"/>
          <p:nvPr/>
        </p:nvSpPr>
        <p:spPr>
          <a:xfrm>
            <a:off x="293758" y="2187777"/>
            <a:ext cx="10061734" cy="7078861"/>
          </a:xfrm>
          <a:prstGeom prst="rect">
            <a:avLst/>
          </a:prstGeom>
        </p:spPr>
        <p:txBody>
          <a:bodyPr wrap="square" lIns="0" tIns="0" rIns="0" bIns="0" rtlCol="0" anchor="t">
            <a:spAutoFit/>
          </a:bodyPr>
          <a:lstStyle/>
          <a:p>
            <a:pPr marL="742950" lvl="1" indent="-285750">
              <a:buFont typeface="Arial" panose="020B0604020202020204" pitchFamily="34" charset="0"/>
              <a:buChar char="•"/>
            </a:pPr>
            <a:r>
              <a:rPr lang="en-US" sz="2400" dirty="0">
                <a:latin typeface="Montserrat" panose="00000500000000000000" pitchFamily="2" charset="0"/>
              </a:rPr>
              <a:t>Nhu </a:t>
            </a:r>
            <a:r>
              <a:rPr lang="en-US" sz="2400" dirty="0" err="1">
                <a:latin typeface="Montserrat" panose="00000500000000000000" pitchFamily="2" charset="0"/>
              </a:rPr>
              <a:t>cầu</a:t>
            </a:r>
            <a:r>
              <a:rPr lang="en-US" sz="2400" dirty="0">
                <a:latin typeface="Montserrat" panose="00000500000000000000" pitchFamily="2" charset="0"/>
              </a:rPr>
              <a:t> </a:t>
            </a:r>
            <a:r>
              <a:rPr lang="en-US" sz="2400" dirty="0" err="1">
                <a:latin typeface="Montserrat" panose="00000500000000000000" pitchFamily="2" charset="0"/>
              </a:rPr>
              <a:t>tuyển</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t>
            </a:r>
            <a:r>
              <a:rPr lang="en-US" sz="2400" dirty="0" err="1">
                <a:latin typeface="Montserrat" panose="00000500000000000000" pitchFamily="2" charset="0"/>
              </a:rPr>
              <a:t>và</a:t>
            </a:r>
            <a:r>
              <a:rPr lang="en-US" sz="2400" dirty="0">
                <a:latin typeface="Montserrat" panose="00000500000000000000" pitchFamily="2" charset="0"/>
              </a:rPr>
              <a:t> </a:t>
            </a:r>
            <a:r>
              <a:rPr lang="en-US" sz="2400" dirty="0" err="1">
                <a:latin typeface="Montserrat" panose="00000500000000000000" pitchFamily="2" charset="0"/>
              </a:rPr>
              <a:t>tìm</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hiện</a:t>
            </a:r>
            <a:r>
              <a:rPr lang="en-US" sz="2400" dirty="0">
                <a:latin typeface="Montserrat" panose="00000500000000000000" pitchFamily="2" charset="0"/>
              </a:rPr>
              <a:t> nay: Các </a:t>
            </a:r>
            <a:r>
              <a:rPr lang="en-US" sz="2400" dirty="0" err="1">
                <a:latin typeface="Montserrat" panose="00000500000000000000" pitchFamily="2" charset="0"/>
              </a:rPr>
              <a:t>nền</a:t>
            </a:r>
            <a:r>
              <a:rPr lang="en-US" sz="2400" dirty="0">
                <a:latin typeface="Montserrat" panose="00000500000000000000" pitchFamily="2" charset="0"/>
              </a:rPr>
              <a:t> </a:t>
            </a:r>
            <a:r>
              <a:rPr lang="en-US" sz="2400" dirty="0" err="1">
                <a:latin typeface="Montserrat" panose="00000500000000000000" pitchFamily="2" charset="0"/>
              </a:rPr>
              <a:t>tảng</a:t>
            </a:r>
            <a:r>
              <a:rPr lang="en-US" sz="2400" dirty="0">
                <a:latin typeface="Montserrat" panose="00000500000000000000" pitchFamily="2" charset="0"/>
              </a:rPr>
              <a:t> </a:t>
            </a:r>
            <a:r>
              <a:rPr lang="en-US" sz="2400" dirty="0" err="1">
                <a:latin typeface="Montserrat" panose="00000500000000000000" pitchFamily="2" charset="0"/>
              </a:rPr>
              <a:t>tuyển</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t>
            </a:r>
            <a:r>
              <a:rPr lang="en-US" sz="2400" dirty="0" err="1">
                <a:latin typeface="Montserrat" panose="00000500000000000000" pitchFamily="2" charset="0"/>
              </a:rPr>
              <a:t>trực</a:t>
            </a:r>
            <a:r>
              <a:rPr lang="en-US" sz="2400" dirty="0">
                <a:latin typeface="Montserrat" panose="00000500000000000000" pitchFamily="2" charset="0"/>
              </a:rPr>
              <a:t> </a:t>
            </a:r>
            <a:r>
              <a:rPr lang="en-US" sz="2400" dirty="0" err="1">
                <a:latin typeface="Montserrat" panose="00000500000000000000" pitchFamily="2" charset="0"/>
              </a:rPr>
              <a:t>tuyến</a:t>
            </a:r>
            <a:r>
              <a:rPr lang="en-US" sz="2400" dirty="0">
                <a:latin typeface="Montserrat" panose="00000500000000000000" pitchFamily="2" charset="0"/>
              </a:rPr>
              <a:t> </a:t>
            </a:r>
            <a:r>
              <a:rPr lang="en-US" sz="2400" dirty="0" err="1">
                <a:latin typeface="Montserrat" panose="00000500000000000000" pitchFamily="2" charset="0"/>
              </a:rPr>
              <a:t>đang</a:t>
            </a:r>
            <a:r>
              <a:rPr lang="en-US" sz="2400" dirty="0">
                <a:latin typeface="Montserrat" panose="00000500000000000000" pitchFamily="2" charset="0"/>
              </a:rPr>
              <a:t> </a:t>
            </a:r>
            <a:r>
              <a:rPr lang="en-US" sz="2400" dirty="0" err="1">
                <a:latin typeface="Montserrat" panose="00000500000000000000" pitchFamily="2" charset="0"/>
              </a:rPr>
              <a:t>phát</a:t>
            </a:r>
            <a:r>
              <a:rPr lang="en-US" sz="2400" dirty="0">
                <a:latin typeface="Montserrat" panose="00000500000000000000" pitchFamily="2" charset="0"/>
              </a:rPr>
              <a:t> </a:t>
            </a:r>
            <a:r>
              <a:rPr lang="en-US" sz="2400" dirty="0" err="1">
                <a:latin typeface="Montserrat" panose="00000500000000000000" pitchFamily="2" charset="0"/>
              </a:rPr>
              <a:t>triển</a:t>
            </a:r>
            <a:r>
              <a:rPr lang="en-US" sz="2400" dirty="0">
                <a:latin typeface="Montserrat" panose="00000500000000000000" pitchFamily="2" charset="0"/>
              </a:rPr>
              <a:t> </a:t>
            </a:r>
            <a:r>
              <a:rPr lang="en-US" sz="2400" dirty="0" err="1">
                <a:latin typeface="Montserrat" panose="00000500000000000000" pitchFamily="2" charset="0"/>
              </a:rPr>
              <a:t>mạnh</a:t>
            </a:r>
            <a:r>
              <a:rPr lang="en-US" sz="2400" dirty="0">
                <a:latin typeface="Montserrat" panose="00000500000000000000" pitchFamily="2" charset="0"/>
              </a:rPr>
              <a:t> </a:t>
            </a:r>
            <a:r>
              <a:rPr lang="en-US" sz="2400" dirty="0" err="1">
                <a:latin typeface="Montserrat" panose="00000500000000000000" pitchFamily="2" charset="0"/>
              </a:rPr>
              <a:t>mẽ</a:t>
            </a:r>
            <a:r>
              <a:rPr lang="en-US" sz="2400" dirty="0">
                <a:latin typeface="Montserrat" panose="00000500000000000000" pitchFamily="2" charset="0"/>
              </a:rPr>
              <a:t>, </a:t>
            </a:r>
            <a:r>
              <a:rPr lang="en-US" sz="2400" dirty="0" err="1">
                <a:latin typeface="Montserrat" panose="00000500000000000000" pitchFamily="2" charset="0"/>
              </a:rPr>
              <a:t>đóng</a:t>
            </a:r>
            <a:r>
              <a:rPr lang="en-US" sz="2400" dirty="0">
                <a:latin typeface="Montserrat" panose="00000500000000000000" pitchFamily="2" charset="0"/>
              </a:rPr>
              <a:t> </a:t>
            </a:r>
            <a:r>
              <a:rPr lang="en-US" sz="2400" dirty="0" err="1">
                <a:latin typeface="Montserrat" panose="00000500000000000000" pitchFamily="2" charset="0"/>
              </a:rPr>
              <a:t>vai</a:t>
            </a:r>
            <a:r>
              <a:rPr lang="en-US" sz="2400" dirty="0">
                <a:latin typeface="Montserrat" panose="00000500000000000000" pitchFamily="2" charset="0"/>
              </a:rPr>
              <a:t> </a:t>
            </a:r>
            <a:r>
              <a:rPr lang="en-US" sz="2400" dirty="0" err="1">
                <a:latin typeface="Montserrat" panose="00000500000000000000" pitchFamily="2" charset="0"/>
              </a:rPr>
              <a:t>trò</a:t>
            </a:r>
            <a:r>
              <a:rPr lang="en-US" sz="2400" dirty="0">
                <a:latin typeface="Montserrat" panose="00000500000000000000" pitchFamily="2" charset="0"/>
              </a:rPr>
              <a:t> </a:t>
            </a:r>
            <a:r>
              <a:rPr lang="en-US" sz="2400" dirty="0" err="1">
                <a:latin typeface="Montserrat" panose="00000500000000000000" pitchFamily="2" charset="0"/>
              </a:rPr>
              <a:t>quan</a:t>
            </a:r>
            <a:r>
              <a:rPr lang="en-US" sz="2400" dirty="0">
                <a:latin typeface="Montserrat" panose="00000500000000000000" pitchFamily="2" charset="0"/>
              </a:rPr>
              <a:t> </a:t>
            </a:r>
            <a:r>
              <a:rPr lang="en-US" sz="2400" dirty="0" err="1">
                <a:latin typeface="Montserrat" panose="00000500000000000000" pitchFamily="2" charset="0"/>
              </a:rPr>
              <a:t>trọng</a:t>
            </a:r>
            <a:r>
              <a:rPr lang="en-US" sz="2400" dirty="0">
                <a:latin typeface="Montserrat" panose="00000500000000000000" pitchFamily="2" charset="0"/>
              </a:rPr>
              <a:t> </a:t>
            </a:r>
            <a:r>
              <a:rPr lang="en-US" sz="2400" dirty="0" err="1">
                <a:latin typeface="Montserrat" panose="00000500000000000000" pitchFamily="2" charset="0"/>
              </a:rPr>
              <a:t>trong</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kết</a:t>
            </a:r>
            <a:r>
              <a:rPr lang="en-US" sz="2400" dirty="0">
                <a:latin typeface="Montserrat" panose="00000500000000000000" pitchFamily="2" charset="0"/>
              </a:rPr>
              <a:t> </a:t>
            </a:r>
            <a:r>
              <a:rPr lang="en-US" sz="2400" dirty="0" err="1">
                <a:latin typeface="Montserrat" panose="00000500000000000000" pitchFamily="2" charset="0"/>
              </a:rPr>
              <a:t>nối</a:t>
            </a:r>
            <a:r>
              <a:rPr lang="en-US" sz="2400" dirty="0">
                <a:latin typeface="Montserrat" panose="00000500000000000000" pitchFamily="2" charset="0"/>
              </a:rPr>
              <a:t> </a:t>
            </a:r>
            <a:r>
              <a:rPr lang="en-US" sz="2400" dirty="0" err="1">
                <a:latin typeface="Montserrat" panose="00000500000000000000" pitchFamily="2" charset="0"/>
              </a:rPr>
              <a:t>nhà</a:t>
            </a:r>
            <a:r>
              <a:rPr lang="en-US" sz="2400" dirty="0">
                <a:latin typeface="Montserrat" panose="00000500000000000000" pitchFamily="2" charset="0"/>
              </a:rPr>
              <a:t> </a:t>
            </a:r>
            <a:r>
              <a:rPr lang="en-US" sz="2400" dirty="0" err="1">
                <a:latin typeface="Montserrat" panose="00000500000000000000" pitchFamily="2" charset="0"/>
              </a:rPr>
              <a:t>tuyển</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t>
            </a:r>
            <a:r>
              <a:rPr lang="en-US" sz="2400" dirty="0" err="1">
                <a:latin typeface="Montserrat" panose="00000500000000000000" pitchFamily="2" charset="0"/>
              </a:rPr>
              <a:t>và</a:t>
            </a:r>
            <a:r>
              <a:rPr lang="en-US" sz="2400" dirty="0">
                <a:latin typeface="Montserrat" panose="00000500000000000000" pitchFamily="2" charset="0"/>
              </a:rPr>
              <a:t> </a:t>
            </a:r>
            <a:r>
              <a:rPr lang="en-US" sz="2400" dirty="0" err="1">
                <a:latin typeface="Montserrat" panose="00000500000000000000" pitchFamily="2" charset="0"/>
              </a:rPr>
              <a:t>người</a:t>
            </a:r>
            <a:r>
              <a:rPr lang="en-US" sz="2400" dirty="0">
                <a:latin typeface="Montserrat" panose="00000500000000000000" pitchFamily="2" charset="0"/>
              </a:rPr>
              <a:t> </a:t>
            </a:r>
            <a:r>
              <a:rPr lang="en-US" sz="2400" dirty="0" err="1">
                <a:latin typeface="Montserrat" panose="00000500000000000000" pitchFamily="2" charset="0"/>
              </a:rPr>
              <a:t>tìm</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Tuy </a:t>
            </a:r>
            <a:r>
              <a:rPr lang="en-US" sz="2400" dirty="0" err="1">
                <a:latin typeface="Montserrat" panose="00000500000000000000" pitchFamily="2" charset="0"/>
              </a:rPr>
              <a:t>nhiên</a:t>
            </a:r>
            <a:r>
              <a:rPr lang="en-US" sz="2400" dirty="0">
                <a:latin typeface="Montserrat" panose="00000500000000000000" pitchFamily="2" charset="0"/>
              </a:rPr>
              <a:t>, </a:t>
            </a:r>
            <a:r>
              <a:rPr lang="en-US" sz="2400" dirty="0" err="1">
                <a:latin typeface="Montserrat" panose="00000500000000000000" pitchFamily="2" charset="0"/>
              </a:rPr>
              <a:t>nhiều</a:t>
            </a:r>
            <a:r>
              <a:rPr lang="en-US" sz="2400" dirty="0">
                <a:latin typeface="Montserrat" panose="00000500000000000000" pitchFamily="2" charset="0"/>
              </a:rPr>
              <a:t> </a:t>
            </a:r>
            <a:r>
              <a:rPr lang="en-US" sz="2400" dirty="0" err="1">
                <a:latin typeface="Montserrat" panose="00000500000000000000" pitchFamily="2" charset="0"/>
              </a:rPr>
              <a:t>nền</a:t>
            </a:r>
            <a:r>
              <a:rPr lang="en-US" sz="2400" dirty="0">
                <a:latin typeface="Montserrat" panose="00000500000000000000" pitchFamily="2" charset="0"/>
              </a:rPr>
              <a:t> </a:t>
            </a:r>
            <a:r>
              <a:rPr lang="en-US" sz="2400" dirty="0" err="1">
                <a:latin typeface="Montserrat" panose="00000500000000000000" pitchFamily="2" charset="0"/>
              </a:rPr>
              <a:t>tảng</a:t>
            </a:r>
            <a:r>
              <a:rPr lang="en-US" sz="2400" dirty="0">
                <a:latin typeface="Montserrat" panose="00000500000000000000" pitchFamily="2" charset="0"/>
              </a:rPr>
              <a:t> </a:t>
            </a:r>
            <a:r>
              <a:rPr lang="en-US" sz="2400" dirty="0" err="1">
                <a:latin typeface="Montserrat" panose="00000500000000000000" pitchFamily="2" charset="0"/>
              </a:rPr>
              <a:t>chưa</a:t>
            </a:r>
            <a:r>
              <a:rPr lang="en-US" sz="2400" dirty="0">
                <a:latin typeface="Montserrat" panose="00000500000000000000" pitchFamily="2" charset="0"/>
              </a:rPr>
              <a:t> </a:t>
            </a:r>
            <a:r>
              <a:rPr lang="en-US" sz="2400" dirty="0" err="1">
                <a:latin typeface="Montserrat" panose="00000500000000000000" pitchFamily="2" charset="0"/>
              </a:rPr>
              <a:t>tối</a:t>
            </a:r>
            <a:r>
              <a:rPr lang="en-US" sz="2400" dirty="0">
                <a:latin typeface="Montserrat" panose="00000500000000000000" pitchFamily="2" charset="0"/>
              </a:rPr>
              <a:t> </a:t>
            </a:r>
            <a:r>
              <a:rPr lang="en-US" sz="2400" dirty="0" err="1">
                <a:latin typeface="Montserrat" panose="00000500000000000000" pitchFamily="2" charset="0"/>
              </a:rPr>
              <a:t>ưu</a:t>
            </a:r>
            <a:r>
              <a:rPr lang="en-US" sz="2400" dirty="0">
                <a:latin typeface="Montserrat" panose="00000500000000000000" pitchFamily="2" charset="0"/>
              </a:rPr>
              <a:t> </a:t>
            </a:r>
            <a:r>
              <a:rPr lang="en-US" sz="2400" dirty="0" err="1">
                <a:latin typeface="Montserrat" panose="00000500000000000000" pitchFamily="2" charset="0"/>
              </a:rPr>
              <a:t>hóa</a:t>
            </a:r>
            <a:r>
              <a:rPr lang="en-US" sz="2400" dirty="0">
                <a:latin typeface="Montserrat" panose="00000500000000000000" pitchFamily="2" charset="0"/>
              </a:rPr>
              <a:t> </a:t>
            </a:r>
            <a:r>
              <a:rPr lang="en-US" sz="2400" dirty="0" err="1">
                <a:latin typeface="Montserrat" panose="00000500000000000000" pitchFamily="2" charset="0"/>
              </a:rPr>
              <a:t>được</a:t>
            </a:r>
            <a:r>
              <a:rPr lang="en-US" sz="2400" dirty="0">
                <a:latin typeface="Montserrat" panose="00000500000000000000" pitchFamily="2" charset="0"/>
              </a:rPr>
              <a:t> </a:t>
            </a:r>
            <a:r>
              <a:rPr lang="en-US" sz="2400" dirty="0" err="1">
                <a:latin typeface="Montserrat" panose="00000500000000000000" pitchFamily="2" charset="0"/>
              </a:rPr>
              <a:t>khả</a:t>
            </a:r>
            <a:r>
              <a:rPr lang="en-US" sz="2400" dirty="0">
                <a:latin typeface="Montserrat" panose="00000500000000000000" pitchFamily="2" charset="0"/>
              </a:rPr>
              <a:t> </a:t>
            </a:r>
            <a:r>
              <a:rPr lang="en-US" sz="2400" dirty="0" err="1">
                <a:latin typeface="Montserrat" panose="00000500000000000000" pitchFamily="2" charset="0"/>
              </a:rPr>
              <a:t>năng</a:t>
            </a:r>
            <a:r>
              <a:rPr lang="en-US" sz="2400" dirty="0">
                <a:latin typeface="Montserrat" panose="00000500000000000000" pitchFamily="2" charset="0"/>
              </a:rPr>
              <a:t> </a:t>
            </a:r>
            <a:r>
              <a:rPr lang="en-US" sz="2400" dirty="0" err="1">
                <a:latin typeface="Montserrat" panose="00000500000000000000" pitchFamily="2" charset="0"/>
              </a:rPr>
              <a:t>gợi</a:t>
            </a:r>
            <a:r>
              <a:rPr lang="en-US" sz="2400" dirty="0">
                <a:latin typeface="Montserrat" panose="00000500000000000000" pitchFamily="2" charset="0"/>
              </a:rPr>
              <a:t> ý </a:t>
            </a:r>
            <a:r>
              <a:rPr lang="en-US" sz="2400" dirty="0" err="1">
                <a:latin typeface="Montserrat" panose="00000500000000000000" pitchFamily="2" charset="0"/>
              </a:rPr>
              <a:t>công</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và</a:t>
            </a:r>
            <a:r>
              <a:rPr lang="en-US" sz="2400" dirty="0">
                <a:latin typeface="Montserrat" panose="00000500000000000000" pitchFamily="2" charset="0"/>
              </a:rPr>
              <a:t> </a:t>
            </a:r>
            <a:r>
              <a:rPr lang="en-US" sz="2400" dirty="0" err="1">
                <a:latin typeface="Montserrat" panose="00000500000000000000" pitchFamily="2" charset="0"/>
              </a:rPr>
              <a:t>ứng</a:t>
            </a:r>
            <a:r>
              <a:rPr lang="en-US" sz="2400" dirty="0">
                <a:latin typeface="Montserrat" panose="00000500000000000000" pitchFamily="2" charset="0"/>
              </a:rPr>
              <a:t> </a:t>
            </a:r>
            <a:r>
              <a:rPr lang="en-US" sz="2400" dirty="0" err="1">
                <a:latin typeface="Montserrat" panose="00000500000000000000" pitchFamily="2" charset="0"/>
              </a:rPr>
              <a:t>viên</a:t>
            </a:r>
            <a:r>
              <a:rPr lang="en-US" sz="2400" dirty="0">
                <a:latin typeface="Montserrat" panose="00000500000000000000" pitchFamily="2" charset="0"/>
              </a:rPr>
              <a:t>. </a:t>
            </a:r>
            <a:r>
              <a:rPr lang="en-US" sz="2400" dirty="0" err="1">
                <a:latin typeface="Montserrat" panose="00000500000000000000" pitchFamily="2" charset="0"/>
              </a:rPr>
              <a:t>Đề</a:t>
            </a:r>
            <a:r>
              <a:rPr lang="en-US" sz="2400" dirty="0">
                <a:latin typeface="Montserrat" panose="00000500000000000000" pitchFamily="2" charset="0"/>
              </a:rPr>
              <a:t> </a:t>
            </a:r>
            <a:r>
              <a:rPr lang="en-US" sz="2400" dirty="0" err="1">
                <a:latin typeface="Montserrat" panose="00000500000000000000" pitchFamily="2" charset="0"/>
              </a:rPr>
              <a:t>tài</a:t>
            </a:r>
            <a:r>
              <a:rPr lang="en-US" sz="2400" dirty="0">
                <a:latin typeface="Montserrat" panose="00000500000000000000" pitchFamily="2" charset="0"/>
              </a:rPr>
              <a:t> </a:t>
            </a:r>
            <a:r>
              <a:rPr lang="en-US" sz="2400" dirty="0" err="1">
                <a:latin typeface="Montserrat" panose="00000500000000000000" pitchFamily="2" charset="0"/>
              </a:rPr>
              <a:t>hướng</a:t>
            </a:r>
            <a:r>
              <a:rPr lang="en-US" sz="2400" dirty="0">
                <a:latin typeface="Montserrat" panose="00000500000000000000" pitchFamily="2" charset="0"/>
              </a:rPr>
              <a:t> </a:t>
            </a:r>
            <a:r>
              <a:rPr lang="en-US" sz="2400" dirty="0" err="1">
                <a:latin typeface="Montserrat" panose="00000500000000000000" pitchFamily="2" charset="0"/>
              </a:rPr>
              <a:t>đến</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cải</a:t>
            </a:r>
            <a:r>
              <a:rPr lang="en-US" sz="2400" dirty="0">
                <a:latin typeface="Montserrat" panose="00000500000000000000" pitchFamily="2" charset="0"/>
              </a:rPr>
              <a:t> </a:t>
            </a:r>
            <a:r>
              <a:rPr lang="en-US" sz="2400" dirty="0" err="1">
                <a:latin typeface="Montserrat" panose="00000500000000000000" pitchFamily="2" charset="0"/>
              </a:rPr>
              <a:t>thiện</a:t>
            </a:r>
            <a:r>
              <a:rPr lang="en-US" sz="2400" dirty="0">
                <a:latin typeface="Montserrat" panose="00000500000000000000" pitchFamily="2" charset="0"/>
              </a:rPr>
              <a:t> </a:t>
            </a:r>
            <a:r>
              <a:rPr lang="en-US" sz="2400" dirty="0" err="1">
                <a:latin typeface="Montserrat" panose="00000500000000000000" pitchFamily="2" charset="0"/>
              </a:rPr>
              <a:t>hiệu</a:t>
            </a:r>
            <a:r>
              <a:rPr lang="en-US" sz="2400" dirty="0">
                <a:latin typeface="Montserrat" panose="00000500000000000000" pitchFamily="2" charset="0"/>
              </a:rPr>
              <a:t> </a:t>
            </a:r>
            <a:r>
              <a:rPr lang="en-US" sz="2400" dirty="0" err="1">
                <a:latin typeface="Montserrat" panose="00000500000000000000" pitchFamily="2" charset="0"/>
              </a:rPr>
              <a:t>quả</a:t>
            </a:r>
            <a:r>
              <a:rPr lang="en-US" sz="2400" dirty="0">
                <a:latin typeface="Montserrat" panose="00000500000000000000" pitchFamily="2" charset="0"/>
              </a:rPr>
              <a:t> </a:t>
            </a:r>
            <a:r>
              <a:rPr lang="en-US" sz="2400" dirty="0" err="1">
                <a:latin typeface="Montserrat" panose="00000500000000000000" pitchFamily="2" charset="0"/>
              </a:rPr>
              <a:t>tuyển</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t>
            </a:r>
            <a:r>
              <a:rPr lang="en-US" sz="2400" dirty="0" err="1">
                <a:latin typeface="Montserrat" panose="00000500000000000000" pitchFamily="2" charset="0"/>
              </a:rPr>
              <a:t>nhờ</a:t>
            </a:r>
            <a:r>
              <a:rPr lang="en-US" sz="2400" dirty="0">
                <a:latin typeface="Montserrat" panose="00000500000000000000" pitchFamily="2" charset="0"/>
              </a:rPr>
              <a:t> </a:t>
            </a:r>
            <a:r>
              <a:rPr lang="en-US" sz="2400" dirty="0" err="1">
                <a:latin typeface="Montserrat" panose="00000500000000000000" pitchFamily="2" charset="0"/>
              </a:rPr>
              <a:t>vào</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ứng</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AI, </a:t>
            </a:r>
            <a:r>
              <a:rPr lang="en-US" sz="2400" dirty="0" err="1">
                <a:latin typeface="Montserrat" panose="00000500000000000000" pitchFamily="2" charset="0"/>
              </a:rPr>
              <a:t>giúp</a:t>
            </a:r>
            <a:r>
              <a:rPr lang="en-US" sz="2400" dirty="0">
                <a:latin typeface="Montserrat" panose="00000500000000000000" pitchFamily="2" charset="0"/>
              </a:rPr>
              <a:t> </a:t>
            </a:r>
            <a:r>
              <a:rPr lang="en-US" sz="2400" dirty="0" err="1">
                <a:latin typeface="Montserrat" panose="00000500000000000000" pitchFamily="2" charset="0"/>
              </a:rPr>
              <a:t>tự</a:t>
            </a:r>
            <a:r>
              <a:rPr lang="en-US" sz="2400" dirty="0">
                <a:latin typeface="Montserrat" panose="00000500000000000000" pitchFamily="2" charset="0"/>
              </a:rPr>
              <a:t> </a:t>
            </a:r>
            <a:r>
              <a:rPr lang="en-US" sz="2400" dirty="0" err="1">
                <a:latin typeface="Montserrat" panose="00000500000000000000" pitchFamily="2" charset="0"/>
              </a:rPr>
              <a:t>động</a:t>
            </a:r>
            <a:r>
              <a:rPr lang="en-US" sz="2400" dirty="0">
                <a:latin typeface="Montserrat" panose="00000500000000000000" pitchFamily="2" charset="0"/>
              </a:rPr>
              <a:t> </a:t>
            </a:r>
            <a:r>
              <a:rPr lang="en-US" sz="2400" dirty="0" err="1">
                <a:latin typeface="Montserrat" panose="00000500000000000000" pitchFamily="2" charset="0"/>
              </a:rPr>
              <a:t>hóa</a:t>
            </a:r>
            <a:r>
              <a:rPr lang="en-US" sz="2400" dirty="0">
                <a:latin typeface="Montserrat" panose="00000500000000000000" pitchFamily="2" charset="0"/>
              </a:rPr>
              <a:t> </a:t>
            </a:r>
            <a:r>
              <a:rPr lang="en-US" sz="2400" dirty="0" err="1">
                <a:latin typeface="Montserrat" panose="00000500000000000000" pitchFamily="2" charset="0"/>
              </a:rPr>
              <a:t>quy</a:t>
            </a:r>
            <a:r>
              <a:rPr lang="en-US" sz="2400" dirty="0">
                <a:latin typeface="Montserrat" panose="00000500000000000000" pitchFamily="2" charset="0"/>
              </a:rPr>
              <a:t> </a:t>
            </a:r>
            <a:r>
              <a:rPr lang="en-US" sz="2400" dirty="0" err="1">
                <a:latin typeface="Montserrat" panose="00000500000000000000" pitchFamily="2" charset="0"/>
              </a:rPr>
              <a:t>trình</a:t>
            </a:r>
            <a:r>
              <a:rPr lang="en-US" sz="2400" dirty="0">
                <a:latin typeface="Montserrat" panose="00000500000000000000" pitchFamily="2" charset="0"/>
              </a:rPr>
              <a:t> </a:t>
            </a:r>
            <a:r>
              <a:rPr lang="en-US" sz="2400" dirty="0" err="1">
                <a:latin typeface="Montserrat" panose="00000500000000000000" pitchFamily="2" charset="0"/>
              </a:rPr>
              <a:t>gợi</a:t>
            </a:r>
            <a:r>
              <a:rPr lang="en-US" sz="2400" dirty="0">
                <a:latin typeface="Montserrat" panose="00000500000000000000" pitchFamily="2" charset="0"/>
              </a:rPr>
              <a:t> ý </a:t>
            </a:r>
            <a:r>
              <a:rPr lang="en-US" sz="2400" dirty="0" err="1">
                <a:latin typeface="Montserrat" panose="00000500000000000000" pitchFamily="2" charset="0"/>
              </a:rPr>
              <a:t>và</a:t>
            </a:r>
            <a:r>
              <a:rPr lang="en-US" sz="2400" dirty="0">
                <a:latin typeface="Montserrat" panose="00000500000000000000" pitchFamily="2" charset="0"/>
              </a:rPr>
              <a:t> </a:t>
            </a:r>
            <a:r>
              <a:rPr lang="en-US" sz="2400" dirty="0" err="1">
                <a:latin typeface="Montserrat" panose="00000500000000000000" pitchFamily="2" charset="0"/>
              </a:rPr>
              <a:t>lựa</a:t>
            </a:r>
            <a:r>
              <a:rPr lang="en-US" sz="2400" dirty="0">
                <a:latin typeface="Montserrat" panose="00000500000000000000" pitchFamily="2" charset="0"/>
              </a:rPr>
              <a:t> </a:t>
            </a:r>
            <a:r>
              <a:rPr lang="en-US" sz="2400" dirty="0" err="1">
                <a:latin typeface="Montserrat" panose="00000500000000000000" pitchFamily="2" charset="0"/>
              </a:rPr>
              <a:t>chọn</a:t>
            </a:r>
            <a:r>
              <a:rPr lang="en-US" sz="2400" dirty="0">
                <a:latin typeface="Montserrat" panose="00000500000000000000" pitchFamily="2" charset="0"/>
              </a:rPr>
              <a:t>.</a:t>
            </a:r>
          </a:p>
          <a:p>
            <a:pPr marL="742950" lvl="1" indent="-285750">
              <a:buFont typeface="Arial" panose="020B0604020202020204" pitchFamily="34" charset="0"/>
              <a:buChar char="•"/>
            </a:pPr>
            <a:endParaRPr lang="en-US" sz="1400" dirty="0">
              <a:latin typeface="Montserrat" panose="00000500000000000000" pitchFamily="2" charset="0"/>
            </a:endParaRPr>
          </a:p>
          <a:p>
            <a:pPr marL="742950" lvl="1" indent="-285750">
              <a:buFont typeface="Arial" panose="020B0604020202020204" pitchFamily="34" charset="0"/>
              <a:buChar char="•"/>
            </a:pPr>
            <a:r>
              <a:rPr lang="en-US" sz="2400" dirty="0" err="1">
                <a:latin typeface="Montserrat" panose="00000500000000000000" pitchFamily="2" charset="0"/>
              </a:rPr>
              <a:t>Sự</a:t>
            </a:r>
            <a:r>
              <a:rPr lang="en-US" sz="2400" dirty="0">
                <a:latin typeface="Montserrat" panose="00000500000000000000" pitchFamily="2" charset="0"/>
              </a:rPr>
              <a:t> </a:t>
            </a:r>
            <a:r>
              <a:rPr lang="en-US" sz="2400" dirty="0" err="1">
                <a:latin typeface="Montserrat" panose="00000500000000000000" pitchFamily="2" charset="0"/>
              </a:rPr>
              <a:t>phát</a:t>
            </a:r>
            <a:r>
              <a:rPr lang="en-US" sz="2400" dirty="0">
                <a:latin typeface="Montserrat" panose="00000500000000000000" pitchFamily="2" charset="0"/>
              </a:rPr>
              <a:t> </a:t>
            </a:r>
            <a:r>
              <a:rPr lang="en-US" sz="2400" dirty="0" err="1">
                <a:latin typeface="Montserrat" panose="00000500000000000000" pitchFamily="2" charset="0"/>
              </a:rPr>
              <a:t>triển</a:t>
            </a:r>
            <a:r>
              <a:rPr lang="en-US" sz="2400" dirty="0">
                <a:latin typeface="Montserrat" panose="00000500000000000000" pitchFamily="2" charset="0"/>
              </a:rPr>
              <a:t> </a:t>
            </a:r>
            <a:r>
              <a:rPr lang="en-US" sz="2400" dirty="0" err="1">
                <a:latin typeface="Montserrat" panose="00000500000000000000" pitchFamily="2" charset="0"/>
              </a:rPr>
              <a:t>của</a:t>
            </a:r>
            <a:r>
              <a:rPr lang="en-US" sz="2400" dirty="0">
                <a:latin typeface="Montserrat" panose="00000500000000000000" pitchFamily="2" charset="0"/>
              </a:rPr>
              <a:t> </a:t>
            </a:r>
            <a:r>
              <a:rPr lang="en-US" sz="2400" dirty="0" err="1">
                <a:latin typeface="Montserrat" panose="00000500000000000000" pitchFamily="2" charset="0"/>
              </a:rPr>
              <a:t>công</a:t>
            </a:r>
            <a:r>
              <a:rPr lang="en-US" sz="2400" dirty="0">
                <a:latin typeface="Montserrat" panose="00000500000000000000" pitchFamily="2" charset="0"/>
              </a:rPr>
              <a:t> </a:t>
            </a:r>
            <a:r>
              <a:rPr lang="en-US" sz="2400" dirty="0" err="1">
                <a:latin typeface="Montserrat" panose="00000500000000000000" pitchFamily="2" charset="0"/>
              </a:rPr>
              <a:t>nghệ</a:t>
            </a:r>
            <a:r>
              <a:rPr lang="en-US" sz="2400" dirty="0">
                <a:latin typeface="Montserrat" panose="00000500000000000000" pitchFamily="2" charset="0"/>
              </a:rPr>
              <a:t> AI </a:t>
            </a:r>
            <a:r>
              <a:rPr lang="en-US" sz="2400" dirty="0" err="1">
                <a:latin typeface="Montserrat" panose="00000500000000000000" pitchFamily="2" charset="0"/>
              </a:rPr>
              <a:t>trong</a:t>
            </a:r>
            <a:r>
              <a:rPr lang="en-US" sz="2400" dirty="0">
                <a:latin typeface="Montserrat" panose="00000500000000000000" pitchFamily="2" charset="0"/>
              </a:rPr>
              <a:t> </a:t>
            </a:r>
            <a:r>
              <a:rPr lang="en-US" sz="2400" dirty="0" err="1">
                <a:latin typeface="Montserrat" panose="00000500000000000000" pitchFamily="2" charset="0"/>
              </a:rPr>
              <a:t>tuyển</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AI </a:t>
            </a:r>
            <a:r>
              <a:rPr lang="en-US" sz="2400" dirty="0" err="1">
                <a:latin typeface="Montserrat" panose="00000500000000000000" pitchFamily="2" charset="0"/>
              </a:rPr>
              <a:t>ngày</a:t>
            </a:r>
            <a:r>
              <a:rPr lang="en-US" sz="2400" dirty="0">
                <a:latin typeface="Montserrat" panose="00000500000000000000" pitchFamily="2" charset="0"/>
              </a:rPr>
              <a:t> </a:t>
            </a:r>
            <a:r>
              <a:rPr lang="en-US" sz="2400" dirty="0" err="1">
                <a:latin typeface="Montserrat" panose="00000500000000000000" pitchFamily="2" charset="0"/>
              </a:rPr>
              <a:t>càng</a:t>
            </a:r>
            <a:r>
              <a:rPr lang="en-US" sz="2400" dirty="0">
                <a:latin typeface="Montserrat" panose="00000500000000000000" pitchFamily="2" charset="0"/>
              </a:rPr>
              <a:t> </a:t>
            </a:r>
            <a:r>
              <a:rPr lang="en-US" sz="2400" dirty="0" err="1">
                <a:latin typeface="Montserrat" panose="00000500000000000000" pitchFamily="2" charset="0"/>
              </a:rPr>
              <a:t>được</a:t>
            </a:r>
            <a:r>
              <a:rPr lang="en-US" sz="2400" dirty="0">
                <a:latin typeface="Montserrat" panose="00000500000000000000" pitchFamily="2" charset="0"/>
              </a:rPr>
              <a:t> </a:t>
            </a:r>
            <a:r>
              <a:rPr lang="en-US" sz="2400" dirty="0" err="1">
                <a:latin typeface="Montserrat" panose="00000500000000000000" pitchFamily="2" charset="0"/>
              </a:rPr>
              <a:t>áp</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t>
            </a:r>
            <a:r>
              <a:rPr lang="en-US" sz="2400" dirty="0" err="1">
                <a:latin typeface="Montserrat" panose="00000500000000000000" pitchFamily="2" charset="0"/>
              </a:rPr>
              <a:t>rộng</a:t>
            </a:r>
            <a:r>
              <a:rPr lang="en-US" sz="2400" dirty="0">
                <a:latin typeface="Montserrat" panose="00000500000000000000" pitchFamily="2" charset="0"/>
              </a:rPr>
              <a:t> </a:t>
            </a:r>
            <a:r>
              <a:rPr lang="en-US" sz="2400" dirty="0" err="1">
                <a:latin typeface="Montserrat" panose="00000500000000000000" pitchFamily="2" charset="0"/>
              </a:rPr>
              <a:t>rãi</a:t>
            </a:r>
            <a:r>
              <a:rPr lang="en-US" sz="2400" dirty="0">
                <a:latin typeface="Montserrat" panose="00000500000000000000" pitchFamily="2" charset="0"/>
              </a:rPr>
              <a:t> </a:t>
            </a:r>
            <a:r>
              <a:rPr lang="en-US" sz="2400" dirty="0" err="1">
                <a:latin typeface="Montserrat" panose="00000500000000000000" pitchFamily="2" charset="0"/>
              </a:rPr>
              <a:t>trong</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quản</a:t>
            </a:r>
            <a:r>
              <a:rPr lang="en-US" sz="2400" dirty="0">
                <a:latin typeface="Montserrat" panose="00000500000000000000" pitchFamily="2" charset="0"/>
              </a:rPr>
              <a:t> </a:t>
            </a:r>
            <a:r>
              <a:rPr lang="en-US" sz="2400" dirty="0" err="1">
                <a:latin typeface="Montserrat" panose="00000500000000000000" pitchFamily="2" charset="0"/>
              </a:rPr>
              <a:t>lý</a:t>
            </a:r>
            <a:r>
              <a:rPr lang="en-US" sz="2400" dirty="0">
                <a:latin typeface="Montserrat" panose="00000500000000000000" pitchFamily="2" charset="0"/>
              </a:rPr>
              <a:t> </a:t>
            </a:r>
            <a:r>
              <a:rPr lang="en-US" sz="2400" dirty="0" err="1">
                <a:latin typeface="Montserrat" panose="00000500000000000000" pitchFamily="2" charset="0"/>
              </a:rPr>
              <a:t>nhân</a:t>
            </a:r>
            <a:r>
              <a:rPr lang="en-US" sz="2400" dirty="0">
                <a:latin typeface="Montserrat" panose="00000500000000000000" pitchFamily="2" charset="0"/>
              </a:rPr>
              <a:t> </a:t>
            </a:r>
            <a:r>
              <a:rPr lang="en-US" sz="2400" dirty="0" err="1">
                <a:latin typeface="Montserrat" panose="00000500000000000000" pitchFamily="2" charset="0"/>
              </a:rPr>
              <a:t>sự</a:t>
            </a:r>
            <a:r>
              <a:rPr lang="en-US" sz="2400" dirty="0">
                <a:latin typeface="Montserrat" panose="00000500000000000000" pitchFamily="2" charset="0"/>
              </a:rPr>
              <a:t> </a:t>
            </a:r>
            <a:r>
              <a:rPr lang="en-US" sz="2400" dirty="0" err="1">
                <a:latin typeface="Montserrat" panose="00000500000000000000" pitchFamily="2" charset="0"/>
              </a:rPr>
              <a:t>và</a:t>
            </a:r>
            <a:r>
              <a:rPr lang="en-US" sz="2400" dirty="0">
                <a:latin typeface="Montserrat" panose="00000500000000000000" pitchFamily="2" charset="0"/>
              </a:rPr>
              <a:t> </a:t>
            </a:r>
            <a:r>
              <a:rPr lang="en-US" sz="2400" dirty="0" err="1">
                <a:latin typeface="Montserrat" panose="00000500000000000000" pitchFamily="2" charset="0"/>
              </a:rPr>
              <a:t>tuyển</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t>
            </a:r>
            <a:r>
              <a:rPr lang="en-US" sz="2400" dirty="0" err="1">
                <a:latin typeface="Montserrat" panose="00000500000000000000" pitchFamily="2" charset="0"/>
              </a:rPr>
              <a:t>từ</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phân</a:t>
            </a:r>
            <a:r>
              <a:rPr lang="en-US" sz="2400" dirty="0">
                <a:latin typeface="Montserrat" panose="00000500000000000000" pitchFamily="2" charset="0"/>
              </a:rPr>
              <a:t> </a:t>
            </a:r>
            <a:r>
              <a:rPr lang="en-US" sz="2400" dirty="0" err="1">
                <a:latin typeface="Montserrat" panose="00000500000000000000" pitchFamily="2" charset="0"/>
              </a:rPr>
              <a:t>tích</a:t>
            </a:r>
            <a:r>
              <a:rPr lang="en-US" sz="2400" dirty="0">
                <a:latin typeface="Montserrat" panose="00000500000000000000" pitchFamily="2" charset="0"/>
              </a:rPr>
              <a:t> </a:t>
            </a:r>
            <a:r>
              <a:rPr lang="en-US" sz="2400" dirty="0" err="1">
                <a:latin typeface="Montserrat" panose="00000500000000000000" pitchFamily="2" charset="0"/>
              </a:rPr>
              <a:t>hồ</a:t>
            </a:r>
            <a:r>
              <a:rPr lang="en-US" sz="2400" dirty="0">
                <a:latin typeface="Montserrat" panose="00000500000000000000" pitchFamily="2" charset="0"/>
              </a:rPr>
              <a:t> </a:t>
            </a:r>
            <a:r>
              <a:rPr lang="en-US" sz="2400" dirty="0" err="1">
                <a:latin typeface="Montserrat" panose="00000500000000000000" pitchFamily="2" charset="0"/>
              </a:rPr>
              <a:t>sơ</a:t>
            </a:r>
            <a:r>
              <a:rPr lang="en-US" sz="2400" dirty="0">
                <a:latin typeface="Montserrat" panose="00000500000000000000" pitchFamily="2" charset="0"/>
              </a:rPr>
              <a:t> </a:t>
            </a:r>
            <a:r>
              <a:rPr lang="en-US" sz="2400" dirty="0" err="1">
                <a:latin typeface="Montserrat" panose="00000500000000000000" pitchFamily="2" charset="0"/>
              </a:rPr>
              <a:t>ứng</a:t>
            </a:r>
            <a:r>
              <a:rPr lang="en-US" sz="2400" dirty="0">
                <a:latin typeface="Montserrat" panose="00000500000000000000" pitchFamily="2" charset="0"/>
              </a:rPr>
              <a:t> </a:t>
            </a:r>
            <a:r>
              <a:rPr lang="en-US" sz="2400" dirty="0" err="1">
                <a:latin typeface="Montserrat" panose="00000500000000000000" pitchFamily="2" charset="0"/>
              </a:rPr>
              <a:t>viên</a:t>
            </a:r>
            <a:r>
              <a:rPr lang="en-US" sz="2400" dirty="0">
                <a:latin typeface="Montserrat" panose="00000500000000000000" pitchFamily="2" charset="0"/>
              </a:rPr>
              <a:t> </a:t>
            </a:r>
            <a:r>
              <a:rPr lang="en-US" sz="2400" dirty="0" err="1">
                <a:latin typeface="Montserrat" panose="00000500000000000000" pitchFamily="2" charset="0"/>
              </a:rPr>
              <a:t>đến</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đánh</a:t>
            </a:r>
            <a:r>
              <a:rPr lang="en-US" sz="2400" dirty="0">
                <a:latin typeface="Montserrat" panose="00000500000000000000" pitchFamily="2" charset="0"/>
              </a:rPr>
              <a:t> </a:t>
            </a:r>
            <a:r>
              <a:rPr lang="en-US" sz="2400" dirty="0" err="1">
                <a:latin typeface="Montserrat" panose="00000500000000000000" pitchFamily="2" charset="0"/>
              </a:rPr>
              <a:t>giá</a:t>
            </a:r>
            <a:r>
              <a:rPr lang="en-US" sz="2400" dirty="0">
                <a:latin typeface="Montserrat" panose="00000500000000000000" pitchFamily="2" charset="0"/>
              </a:rPr>
              <a:t> </a:t>
            </a:r>
            <a:r>
              <a:rPr lang="en-US" sz="2400" dirty="0" err="1">
                <a:latin typeface="Montserrat" panose="00000500000000000000" pitchFamily="2" charset="0"/>
              </a:rPr>
              <a:t>mức</a:t>
            </a:r>
            <a:r>
              <a:rPr lang="en-US" sz="2400" dirty="0">
                <a:latin typeface="Montserrat" panose="00000500000000000000" pitchFamily="2" charset="0"/>
              </a:rPr>
              <a:t> </a:t>
            </a:r>
            <a:r>
              <a:rPr lang="en-US" sz="2400" dirty="0" err="1">
                <a:latin typeface="Montserrat" panose="00000500000000000000" pitchFamily="2" charset="0"/>
              </a:rPr>
              <a:t>độ</a:t>
            </a:r>
            <a:r>
              <a:rPr lang="en-US" sz="2400" dirty="0">
                <a:latin typeface="Montserrat" panose="00000500000000000000" pitchFamily="2" charset="0"/>
              </a:rPr>
              <a:t> </a:t>
            </a:r>
            <a:r>
              <a:rPr lang="en-US" sz="2400" dirty="0" err="1">
                <a:latin typeface="Montserrat" panose="00000500000000000000" pitchFamily="2" charset="0"/>
              </a:rPr>
              <a:t>phù</a:t>
            </a:r>
            <a:r>
              <a:rPr lang="en-US" sz="2400" dirty="0">
                <a:latin typeface="Montserrat" panose="00000500000000000000" pitchFamily="2" charset="0"/>
              </a:rPr>
              <a:t> </a:t>
            </a:r>
            <a:r>
              <a:rPr lang="en-US" sz="2400" dirty="0" err="1">
                <a:latin typeface="Montserrat" panose="00000500000000000000" pitchFamily="2" charset="0"/>
              </a:rPr>
              <a:t>hợp</a:t>
            </a:r>
            <a:r>
              <a:rPr lang="en-US" sz="2400" dirty="0">
                <a:latin typeface="Montserrat" panose="00000500000000000000" pitchFamily="2" charset="0"/>
              </a:rPr>
              <a:t> </a:t>
            </a:r>
            <a:r>
              <a:rPr lang="en-US" sz="2400" dirty="0" err="1">
                <a:latin typeface="Montserrat" panose="00000500000000000000" pitchFamily="2" charset="0"/>
              </a:rPr>
              <a:t>với</a:t>
            </a:r>
            <a:r>
              <a:rPr lang="en-US" sz="2400" dirty="0">
                <a:latin typeface="Montserrat" panose="00000500000000000000" pitchFamily="2" charset="0"/>
              </a:rPr>
              <a:t> </a:t>
            </a:r>
            <a:r>
              <a:rPr lang="en-US" sz="2400" dirty="0" err="1">
                <a:latin typeface="Montserrat" panose="00000500000000000000" pitchFamily="2" charset="0"/>
              </a:rPr>
              <a:t>các</a:t>
            </a:r>
            <a:r>
              <a:rPr lang="en-US" sz="2400" dirty="0">
                <a:latin typeface="Montserrat" panose="00000500000000000000" pitchFamily="2" charset="0"/>
              </a:rPr>
              <a:t> </a:t>
            </a:r>
            <a:r>
              <a:rPr lang="en-US" sz="2400" dirty="0" err="1">
                <a:latin typeface="Montserrat" panose="00000500000000000000" pitchFamily="2" charset="0"/>
              </a:rPr>
              <a:t>công</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cụ</a:t>
            </a:r>
            <a:r>
              <a:rPr lang="en-US" sz="2400" dirty="0">
                <a:latin typeface="Montserrat" panose="00000500000000000000" pitchFamily="2" charset="0"/>
              </a:rPr>
              <a:t> </a:t>
            </a:r>
            <a:r>
              <a:rPr lang="en-US" sz="2400" dirty="0" err="1">
                <a:latin typeface="Montserrat" panose="00000500000000000000" pitchFamily="2" charset="0"/>
              </a:rPr>
              <a:t>thể</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ứng</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AI </a:t>
            </a:r>
            <a:r>
              <a:rPr lang="en-US" sz="2400" dirty="0" err="1">
                <a:latin typeface="Montserrat" panose="00000500000000000000" pitchFamily="2" charset="0"/>
              </a:rPr>
              <a:t>không</a:t>
            </a:r>
            <a:r>
              <a:rPr lang="en-US" sz="2400" dirty="0">
                <a:latin typeface="Montserrat" panose="00000500000000000000" pitchFamily="2" charset="0"/>
              </a:rPr>
              <a:t> </a:t>
            </a:r>
            <a:r>
              <a:rPr lang="en-US" sz="2400" dirty="0" err="1">
                <a:latin typeface="Montserrat" panose="00000500000000000000" pitchFamily="2" charset="0"/>
              </a:rPr>
              <a:t>chỉ</a:t>
            </a:r>
            <a:r>
              <a:rPr lang="en-US" sz="2400" dirty="0">
                <a:latin typeface="Montserrat" panose="00000500000000000000" pitchFamily="2" charset="0"/>
              </a:rPr>
              <a:t> </a:t>
            </a:r>
            <a:r>
              <a:rPr lang="en-US" sz="2400" dirty="0" err="1">
                <a:latin typeface="Montserrat" panose="00000500000000000000" pitchFamily="2" charset="0"/>
              </a:rPr>
              <a:t>giúp</a:t>
            </a:r>
            <a:r>
              <a:rPr lang="en-US" sz="2400" dirty="0">
                <a:latin typeface="Montserrat" panose="00000500000000000000" pitchFamily="2" charset="0"/>
              </a:rPr>
              <a:t> </a:t>
            </a:r>
            <a:r>
              <a:rPr lang="en-US" sz="2400" dirty="0" err="1">
                <a:latin typeface="Montserrat" panose="00000500000000000000" pitchFamily="2" charset="0"/>
              </a:rPr>
              <a:t>giảm</a:t>
            </a:r>
            <a:r>
              <a:rPr lang="en-US" sz="2400" dirty="0">
                <a:latin typeface="Montserrat" panose="00000500000000000000" pitchFamily="2" charset="0"/>
              </a:rPr>
              <a:t> </a:t>
            </a:r>
            <a:r>
              <a:rPr lang="en-US" sz="2400" dirty="0" err="1">
                <a:latin typeface="Montserrat" panose="00000500000000000000" pitchFamily="2" charset="0"/>
              </a:rPr>
              <a:t>thời</a:t>
            </a:r>
            <a:r>
              <a:rPr lang="en-US" sz="2400" dirty="0">
                <a:latin typeface="Montserrat" panose="00000500000000000000" pitchFamily="2" charset="0"/>
              </a:rPr>
              <a:t> </a:t>
            </a:r>
            <a:r>
              <a:rPr lang="en-US" sz="2400" dirty="0" err="1">
                <a:latin typeface="Montserrat" panose="00000500000000000000" pitchFamily="2" charset="0"/>
              </a:rPr>
              <a:t>gian</a:t>
            </a:r>
            <a:r>
              <a:rPr lang="en-US" sz="2400" dirty="0">
                <a:latin typeface="Montserrat" panose="00000500000000000000" pitchFamily="2" charset="0"/>
              </a:rPr>
              <a:t> </a:t>
            </a:r>
            <a:r>
              <a:rPr lang="en-US" sz="2400" dirty="0" err="1">
                <a:latin typeface="Montserrat" panose="00000500000000000000" pitchFamily="2" charset="0"/>
              </a:rPr>
              <a:t>và</a:t>
            </a:r>
            <a:r>
              <a:rPr lang="en-US" sz="2400" dirty="0">
                <a:latin typeface="Montserrat" panose="00000500000000000000" pitchFamily="2" charset="0"/>
              </a:rPr>
              <a:t> chi </a:t>
            </a:r>
            <a:r>
              <a:rPr lang="en-US" sz="2400" dirty="0" err="1">
                <a:latin typeface="Montserrat" panose="00000500000000000000" pitchFamily="2" charset="0"/>
              </a:rPr>
              <a:t>phí</a:t>
            </a:r>
            <a:r>
              <a:rPr lang="en-US" sz="2400" dirty="0">
                <a:latin typeface="Montserrat" panose="00000500000000000000" pitchFamily="2" charset="0"/>
              </a:rPr>
              <a:t> </a:t>
            </a:r>
            <a:r>
              <a:rPr lang="en-US" sz="2400" dirty="0" err="1">
                <a:latin typeface="Montserrat" panose="00000500000000000000" pitchFamily="2" charset="0"/>
              </a:rPr>
              <a:t>tuyển</a:t>
            </a:r>
            <a:r>
              <a:rPr lang="en-US" sz="2400" dirty="0">
                <a:latin typeface="Montserrat" panose="00000500000000000000" pitchFamily="2" charset="0"/>
              </a:rPr>
              <a:t> </a:t>
            </a:r>
            <a:r>
              <a:rPr lang="en-US" sz="2400" dirty="0" err="1">
                <a:latin typeface="Montserrat" panose="00000500000000000000" pitchFamily="2" charset="0"/>
              </a:rPr>
              <a:t>dụng</a:t>
            </a:r>
            <a:r>
              <a:rPr lang="en-US" sz="2400" dirty="0">
                <a:latin typeface="Montserrat" panose="00000500000000000000" pitchFamily="2" charset="0"/>
              </a:rPr>
              <a:t> </a:t>
            </a:r>
            <a:r>
              <a:rPr lang="en-US" sz="2400" dirty="0" err="1">
                <a:latin typeface="Montserrat" panose="00000500000000000000" pitchFamily="2" charset="0"/>
              </a:rPr>
              <a:t>mà</a:t>
            </a:r>
            <a:r>
              <a:rPr lang="en-US" sz="2400" dirty="0">
                <a:latin typeface="Montserrat" panose="00000500000000000000" pitchFamily="2" charset="0"/>
              </a:rPr>
              <a:t> </a:t>
            </a:r>
            <a:r>
              <a:rPr lang="en-US" sz="2400" dirty="0" err="1">
                <a:latin typeface="Montserrat" panose="00000500000000000000" pitchFamily="2" charset="0"/>
              </a:rPr>
              <a:t>còn</a:t>
            </a:r>
            <a:r>
              <a:rPr lang="en-US" sz="2400" dirty="0">
                <a:latin typeface="Montserrat" panose="00000500000000000000" pitchFamily="2" charset="0"/>
              </a:rPr>
              <a:t> </a:t>
            </a:r>
            <a:r>
              <a:rPr lang="en-US" sz="2400" dirty="0" err="1">
                <a:latin typeface="Montserrat" panose="00000500000000000000" pitchFamily="2" charset="0"/>
              </a:rPr>
              <a:t>cải</a:t>
            </a:r>
            <a:r>
              <a:rPr lang="en-US" sz="2400" dirty="0">
                <a:latin typeface="Montserrat" panose="00000500000000000000" pitchFamily="2" charset="0"/>
              </a:rPr>
              <a:t> </a:t>
            </a:r>
            <a:r>
              <a:rPr lang="en-US" sz="2400" dirty="0" err="1">
                <a:latin typeface="Montserrat" panose="00000500000000000000" pitchFamily="2" charset="0"/>
              </a:rPr>
              <a:t>thiện</a:t>
            </a:r>
            <a:r>
              <a:rPr lang="en-US" sz="2400" dirty="0">
                <a:latin typeface="Montserrat" panose="00000500000000000000" pitchFamily="2" charset="0"/>
              </a:rPr>
              <a:t> </a:t>
            </a:r>
            <a:r>
              <a:rPr lang="en-US" sz="2400" dirty="0" err="1">
                <a:latin typeface="Montserrat" panose="00000500000000000000" pitchFamily="2" charset="0"/>
              </a:rPr>
              <a:t>chất</a:t>
            </a:r>
            <a:r>
              <a:rPr lang="en-US" sz="2400" dirty="0">
                <a:latin typeface="Montserrat" panose="00000500000000000000" pitchFamily="2" charset="0"/>
              </a:rPr>
              <a:t> </a:t>
            </a:r>
            <a:r>
              <a:rPr lang="en-US" sz="2400" dirty="0" err="1">
                <a:latin typeface="Montserrat" panose="00000500000000000000" pitchFamily="2" charset="0"/>
              </a:rPr>
              <a:t>lượng</a:t>
            </a:r>
            <a:r>
              <a:rPr lang="en-US" sz="2400" dirty="0">
                <a:latin typeface="Montserrat" panose="00000500000000000000" pitchFamily="2" charset="0"/>
              </a:rPr>
              <a:t> </a:t>
            </a:r>
            <a:r>
              <a:rPr lang="en-US" sz="2400" dirty="0" err="1">
                <a:latin typeface="Montserrat" panose="00000500000000000000" pitchFamily="2" charset="0"/>
              </a:rPr>
              <a:t>quá</a:t>
            </a:r>
            <a:r>
              <a:rPr lang="en-US" sz="2400" dirty="0">
                <a:latin typeface="Montserrat" panose="00000500000000000000" pitchFamily="2" charset="0"/>
              </a:rPr>
              <a:t> </a:t>
            </a:r>
            <a:r>
              <a:rPr lang="en-US" sz="2400" dirty="0" err="1">
                <a:latin typeface="Montserrat" panose="00000500000000000000" pitchFamily="2" charset="0"/>
              </a:rPr>
              <a:t>trình</a:t>
            </a:r>
            <a:r>
              <a:rPr lang="en-US" sz="2400" dirty="0">
                <a:latin typeface="Montserrat" panose="00000500000000000000" pitchFamily="2" charset="0"/>
              </a:rPr>
              <a:t> </a:t>
            </a:r>
            <a:r>
              <a:rPr lang="en-US" sz="2400" dirty="0" err="1">
                <a:latin typeface="Montserrat" panose="00000500000000000000" pitchFamily="2" charset="0"/>
              </a:rPr>
              <a:t>này</a:t>
            </a:r>
            <a:r>
              <a:rPr lang="en-US" sz="2400" dirty="0">
                <a:latin typeface="Montserrat" panose="00000500000000000000" pitchFamily="2" charset="0"/>
              </a:rPr>
              <a:t>.</a:t>
            </a:r>
          </a:p>
          <a:p>
            <a:pPr marL="742950" lvl="1" indent="-285750">
              <a:buFont typeface="Arial" panose="020B0604020202020204" pitchFamily="34" charset="0"/>
              <a:buChar char="•"/>
            </a:pPr>
            <a:endParaRPr lang="en-US" sz="1400" dirty="0">
              <a:latin typeface="Montserrat" panose="00000500000000000000" pitchFamily="2" charset="0"/>
            </a:endParaRPr>
          </a:p>
          <a:p>
            <a:pPr marL="742950" lvl="1" indent="-285750">
              <a:buFont typeface="Arial" panose="020B0604020202020204" pitchFamily="34" charset="0"/>
              <a:buChar char="•"/>
            </a:pPr>
            <a:r>
              <a:rPr lang="en-US" sz="2400" dirty="0">
                <a:latin typeface="Montserrat" panose="00000500000000000000" pitchFamily="2" charset="0"/>
              </a:rPr>
              <a:t>Bảo </a:t>
            </a:r>
            <a:r>
              <a:rPr lang="en-US" sz="2400" dirty="0" err="1">
                <a:latin typeface="Montserrat" panose="00000500000000000000" pitchFamily="2" charset="0"/>
              </a:rPr>
              <a:t>mật</a:t>
            </a:r>
            <a:r>
              <a:rPr lang="en-US" sz="2400" dirty="0">
                <a:latin typeface="Montserrat" panose="00000500000000000000" pitchFamily="2" charset="0"/>
              </a:rPr>
              <a:t> </a:t>
            </a:r>
            <a:r>
              <a:rPr lang="en-US" sz="2400" dirty="0" err="1">
                <a:latin typeface="Montserrat" panose="00000500000000000000" pitchFamily="2" charset="0"/>
              </a:rPr>
              <a:t>thông</a:t>
            </a:r>
            <a:r>
              <a:rPr lang="en-US" sz="2400" dirty="0">
                <a:latin typeface="Montserrat" panose="00000500000000000000" pitchFamily="2" charset="0"/>
              </a:rPr>
              <a:t> tin </a:t>
            </a:r>
            <a:r>
              <a:rPr lang="en-US" sz="2400" dirty="0" err="1">
                <a:latin typeface="Montserrat" panose="00000500000000000000" pitchFamily="2" charset="0"/>
              </a:rPr>
              <a:t>người</a:t>
            </a:r>
            <a:r>
              <a:rPr lang="en-US" sz="2400" dirty="0">
                <a:latin typeface="Montserrat" panose="00000500000000000000" pitchFamily="2" charset="0"/>
              </a:rPr>
              <a:t> </a:t>
            </a:r>
            <a:r>
              <a:rPr lang="en-US" sz="2400" dirty="0" err="1">
                <a:latin typeface="Montserrat" panose="00000500000000000000" pitchFamily="2" charset="0"/>
              </a:rPr>
              <a:t>dùng</a:t>
            </a:r>
            <a:r>
              <a:rPr lang="en-US" sz="2400" dirty="0">
                <a:latin typeface="Montserrat" panose="00000500000000000000" pitchFamily="2" charset="0"/>
              </a:rPr>
              <a:t>: </a:t>
            </a:r>
            <a:r>
              <a:rPr lang="en-US" sz="2400" dirty="0" err="1">
                <a:latin typeface="Montserrat" panose="00000500000000000000" pitchFamily="2" charset="0"/>
              </a:rPr>
              <a:t>Với</a:t>
            </a:r>
            <a:r>
              <a:rPr lang="en-US" sz="2400" dirty="0">
                <a:latin typeface="Montserrat" panose="00000500000000000000" pitchFamily="2" charset="0"/>
              </a:rPr>
              <a:t> </a:t>
            </a:r>
            <a:r>
              <a:rPr lang="en-US" sz="2400" dirty="0" err="1">
                <a:latin typeface="Montserrat" panose="00000500000000000000" pitchFamily="2" charset="0"/>
              </a:rPr>
              <a:t>việc</a:t>
            </a:r>
            <a:r>
              <a:rPr lang="en-US" sz="2400" dirty="0">
                <a:latin typeface="Montserrat" panose="00000500000000000000" pitchFamily="2" charset="0"/>
              </a:rPr>
              <a:t> </a:t>
            </a:r>
            <a:r>
              <a:rPr lang="en-US" sz="2400" dirty="0" err="1">
                <a:latin typeface="Montserrat" panose="00000500000000000000" pitchFamily="2" charset="0"/>
              </a:rPr>
              <a:t>thông</a:t>
            </a:r>
            <a:r>
              <a:rPr lang="en-US" sz="2400" dirty="0">
                <a:latin typeface="Montserrat" panose="00000500000000000000" pitchFamily="2" charset="0"/>
              </a:rPr>
              <a:t> tin </a:t>
            </a:r>
            <a:r>
              <a:rPr lang="en-US" sz="2400" dirty="0" err="1">
                <a:latin typeface="Montserrat" panose="00000500000000000000" pitchFamily="2" charset="0"/>
              </a:rPr>
              <a:t>cá</a:t>
            </a:r>
            <a:r>
              <a:rPr lang="en-US" sz="2400" dirty="0">
                <a:latin typeface="Montserrat" panose="00000500000000000000" pitchFamily="2" charset="0"/>
              </a:rPr>
              <a:t> </a:t>
            </a:r>
            <a:r>
              <a:rPr lang="en-US" sz="2400" dirty="0" err="1">
                <a:latin typeface="Montserrat" panose="00000500000000000000" pitchFamily="2" charset="0"/>
              </a:rPr>
              <a:t>nhân</a:t>
            </a:r>
            <a:r>
              <a:rPr lang="en-US" sz="2400" dirty="0">
                <a:latin typeface="Montserrat" panose="00000500000000000000" pitchFamily="2" charset="0"/>
              </a:rPr>
              <a:t> </a:t>
            </a:r>
            <a:r>
              <a:rPr lang="en-US" sz="2400" dirty="0" err="1">
                <a:latin typeface="Montserrat" panose="00000500000000000000" pitchFamily="2" charset="0"/>
              </a:rPr>
              <a:t>trở</a:t>
            </a:r>
            <a:r>
              <a:rPr lang="en-US" sz="2400" dirty="0">
                <a:latin typeface="Montserrat" panose="00000500000000000000" pitchFamily="2" charset="0"/>
              </a:rPr>
              <a:t> </a:t>
            </a:r>
            <a:r>
              <a:rPr lang="en-US" sz="2400" dirty="0" err="1">
                <a:latin typeface="Montserrat" panose="00000500000000000000" pitchFamily="2" charset="0"/>
              </a:rPr>
              <a:t>thành</a:t>
            </a:r>
            <a:r>
              <a:rPr lang="en-US" sz="2400" dirty="0">
                <a:latin typeface="Montserrat" panose="00000500000000000000" pitchFamily="2" charset="0"/>
              </a:rPr>
              <a:t> </a:t>
            </a:r>
            <a:r>
              <a:rPr lang="en-US" sz="2400" dirty="0" err="1">
                <a:latin typeface="Montserrat" panose="00000500000000000000" pitchFamily="2" charset="0"/>
              </a:rPr>
              <a:t>một</a:t>
            </a:r>
            <a:r>
              <a:rPr lang="en-US" sz="2400" dirty="0">
                <a:latin typeface="Montserrat" panose="00000500000000000000" pitchFamily="2" charset="0"/>
              </a:rPr>
              <a:t> </a:t>
            </a:r>
            <a:r>
              <a:rPr lang="en-US" sz="2400" dirty="0" err="1">
                <a:latin typeface="Montserrat" panose="00000500000000000000" pitchFamily="2" charset="0"/>
              </a:rPr>
              <a:t>tài</a:t>
            </a:r>
            <a:r>
              <a:rPr lang="en-US" sz="2400" dirty="0">
                <a:latin typeface="Montserrat" panose="00000500000000000000" pitchFamily="2" charset="0"/>
              </a:rPr>
              <a:t> </a:t>
            </a:r>
            <a:r>
              <a:rPr lang="en-US" sz="2400" dirty="0" err="1">
                <a:latin typeface="Montserrat" panose="00000500000000000000" pitchFamily="2" charset="0"/>
              </a:rPr>
              <a:t>sản</a:t>
            </a:r>
            <a:r>
              <a:rPr lang="en-US" sz="2400" dirty="0">
                <a:latin typeface="Montserrat" panose="00000500000000000000" pitchFamily="2" charset="0"/>
              </a:rPr>
              <a:t> </a:t>
            </a:r>
            <a:r>
              <a:rPr lang="en-US" sz="2400" dirty="0" err="1">
                <a:latin typeface="Montserrat" panose="00000500000000000000" pitchFamily="2" charset="0"/>
              </a:rPr>
              <a:t>quan</a:t>
            </a:r>
            <a:r>
              <a:rPr lang="en-US" sz="2400" dirty="0">
                <a:latin typeface="Montserrat" panose="00000500000000000000" pitchFamily="2" charset="0"/>
              </a:rPr>
              <a:t> </a:t>
            </a:r>
            <a:r>
              <a:rPr lang="en-US" sz="2400" dirty="0" err="1">
                <a:latin typeface="Montserrat" panose="00000500000000000000" pitchFamily="2" charset="0"/>
              </a:rPr>
              <a:t>trọng</a:t>
            </a:r>
            <a:r>
              <a:rPr lang="en-US" sz="2400" dirty="0">
                <a:latin typeface="Montserrat" panose="00000500000000000000" pitchFamily="2" charset="0"/>
              </a:rPr>
              <a:t>, </a:t>
            </a:r>
            <a:r>
              <a:rPr lang="en-US" sz="2400" dirty="0" err="1">
                <a:latin typeface="Montserrat" panose="00000500000000000000" pitchFamily="2" charset="0"/>
              </a:rPr>
              <a:t>các</a:t>
            </a:r>
            <a:r>
              <a:rPr lang="en-US" sz="2400" dirty="0">
                <a:latin typeface="Montserrat" panose="00000500000000000000" pitchFamily="2" charset="0"/>
              </a:rPr>
              <a:t> </a:t>
            </a:r>
            <a:r>
              <a:rPr lang="en-US" sz="2400" dirty="0" err="1">
                <a:latin typeface="Montserrat" panose="00000500000000000000" pitchFamily="2" charset="0"/>
              </a:rPr>
              <a:t>nền</a:t>
            </a:r>
            <a:r>
              <a:rPr lang="en-US" sz="2400" dirty="0">
                <a:latin typeface="Montserrat" panose="00000500000000000000" pitchFamily="2" charset="0"/>
              </a:rPr>
              <a:t> </a:t>
            </a:r>
            <a:r>
              <a:rPr lang="en-US" sz="2400" dirty="0" err="1">
                <a:latin typeface="Montserrat" panose="00000500000000000000" pitchFamily="2" charset="0"/>
              </a:rPr>
              <a:t>tảng</a:t>
            </a:r>
            <a:r>
              <a:rPr lang="en-US" sz="2400" dirty="0">
                <a:latin typeface="Montserrat" panose="00000500000000000000" pitchFamily="2" charset="0"/>
              </a:rPr>
              <a:t> </a:t>
            </a:r>
            <a:r>
              <a:rPr lang="en-US" sz="2400" dirty="0" err="1">
                <a:latin typeface="Montserrat" panose="00000500000000000000" pitchFamily="2" charset="0"/>
              </a:rPr>
              <a:t>trực</a:t>
            </a:r>
            <a:r>
              <a:rPr lang="en-US" sz="2400" dirty="0">
                <a:latin typeface="Montserrat" panose="00000500000000000000" pitchFamily="2" charset="0"/>
              </a:rPr>
              <a:t> </a:t>
            </a:r>
            <a:r>
              <a:rPr lang="en-US" sz="2400" dirty="0" err="1">
                <a:latin typeface="Montserrat" panose="00000500000000000000" pitchFamily="2" charset="0"/>
              </a:rPr>
              <a:t>tuyến</a:t>
            </a:r>
            <a:r>
              <a:rPr lang="en-US" sz="2400" dirty="0">
                <a:latin typeface="Montserrat" panose="00000500000000000000" pitchFamily="2" charset="0"/>
              </a:rPr>
              <a:t> </a:t>
            </a:r>
            <a:r>
              <a:rPr lang="en-US" sz="2400" dirty="0" err="1">
                <a:latin typeface="Montserrat" panose="00000500000000000000" pitchFamily="2" charset="0"/>
              </a:rPr>
              <a:t>cần</a:t>
            </a:r>
            <a:r>
              <a:rPr lang="en-US" sz="2400" dirty="0">
                <a:latin typeface="Montserrat" panose="00000500000000000000" pitchFamily="2" charset="0"/>
              </a:rPr>
              <a:t> </a:t>
            </a:r>
            <a:r>
              <a:rPr lang="en-US" sz="2400" dirty="0" err="1">
                <a:latin typeface="Montserrat" panose="00000500000000000000" pitchFamily="2" charset="0"/>
              </a:rPr>
              <a:t>đảm</a:t>
            </a:r>
            <a:r>
              <a:rPr lang="en-US" sz="2400" dirty="0">
                <a:latin typeface="Montserrat" panose="00000500000000000000" pitchFamily="2" charset="0"/>
              </a:rPr>
              <a:t> </a:t>
            </a:r>
            <a:r>
              <a:rPr lang="en-US" sz="2400" dirty="0" err="1">
                <a:latin typeface="Montserrat" panose="00000500000000000000" pitchFamily="2" charset="0"/>
              </a:rPr>
              <a:t>bảo</a:t>
            </a:r>
            <a:r>
              <a:rPr lang="en-US" sz="2400" dirty="0">
                <a:latin typeface="Montserrat" panose="00000500000000000000" pitchFamily="2" charset="0"/>
              </a:rPr>
              <a:t> </a:t>
            </a:r>
            <a:r>
              <a:rPr lang="en-US" sz="2400" dirty="0" err="1">
                <a:latin typeface="Montserrat" panose="00000500000000000000" pitchFamily="2" charset="0"/>
              </a:rPr>
              <a:t>tính</a:t>
            </a:r>
            <a:r>
              <a:rPr lang="en-US" sz="2400" dirty="0">
                <a:latin typeface="Montserrat" panose="00000500000000000000" pitchFamily="2" charset="0"/>
              </a:rPr>
              <a:t> </a:t>
            </a:r>
            <a:r>
              <a:rPr lang="en-US" sz="2400" dirty="0" err="1">
                <a:latin typeface="Montserrat" panose="00000500000000000000" pitchFamily="2" charset="0"/>
              </a:rPr>
              <a:t>bảo</a:t>
            </a:r>
            <a:r>
              <a:rPr lang="en-US" sz="2400" dirty="0">
                <a:latin typeface="Montserrat" panose="00000500000000000000" pitchFamily="2" charset="0"/>
              </a:rPr>
              <a:t> </a:t>
            </a:r>
            <a:r>
              <a:rPr lang="en-US" sz="2400" dirty="0" err="1">
                <a:latin typeface="Montserrat" panose="00000500000000000000" pitchFamily="2" charset="0"/>
              </a:rPr>
              <a:t>mật</a:t>
            </a:r>
            <a:r>
              <a:rPr lang="en-US" sz="2400" dirty="0">
                <a:latin typeface="Montserrat" panose="00000500000000000000" pitchFamily="2" charset="0"/>
              </a:rPr>
              <a:t> </a:t>
            </a:r>
            <a:r>
              <a:rPr lang="en-US" sz="2400" dirty="0" err="1">
                <a:latin typeface="Montserrat" panose="00000500000000000000" pitchFamily="2" charset="0"/>
              </a:rPr>
              <a:t>và</a:t>
            </a:r>
            <a:r>
              <a:rPr lang="en-US" sz="2400" dirty="0">
                <a:latin typeface="Montserrat" panose="00000500000000000000" pitchFamily="2" charset="0"/>
              </a:rPr>
              <a:t> </a:t>
            </a:r>
            <a:r>
              <a:rPr lang="en-US" sz="2400" dirty="0" err="1">
                <a:latin typeface="Montserrat" panose="00000500000000000000" pitchFamily="2" charset="0"/>
              </a:rPr>
              <a:t>tuân</a:t>
            </a:r>
            <a:r>
              <a:rPr lang="en-US" sz="2400" dirty="0">
                <a:latin typeface="Montserrat" panose="00000500000000000000" pitchFamily="2" charset="0"/>
              </a:rPr>
              <a:t> </a:t>
            </a:r>
            <a:r>
              <a:rPr lang="en-US" sz="2400" dirty="0" err="1">
                <a:latin typeface="Montserrat" panose="00000500000000000000" pitchFamily="2" charset="0"/>
              </a:rPr>
              <a:t>thủ</a:t>
            </a:r>
            <a:r>
              <a:rPr lang="en-US" sz="2400" dirty="0">
                <a:latin typeface="Montserrat" panose="00000500000000000000" pitchFamily="2" charset="0"/>
              </a:rPr>
              <a:t> </a:t>
            </a:r>
            <a:r>
              <a:rPr lang="en-US" sz="2400" dirty="0" err="1">
                <a:latin typeface="Montserrat" panose="00000500000000000000" pitchFamily="2" charset="0"/>
              </a:rPr>
              <a:t>các</a:t>
            </a:r>
            <a:r>
              <a:rPr lang="en-US" sz="2400" dirty="0">
                <a:latin typeface="Montserrat" panose="00000500000000000000" pitchFamily="2" charset="0"/>
              </a:rPr>
              <a:t> </a:t>
            </a:r>
            <a:r>
              <a:rPr lang="en-US" sz="2400" dirty="0" err="1">
                <a:latin typeface="Montserrat" panose="00000500000000000000" pitchFamily="2" charset="0"/>
              </a:rPr>
              <a:t>quy</a:t>
            </a:r>
            <a:r>
              <a:rPr lang="en-US" sz="2400" dirty="0">
                <a:latin typeface="Montserrat" panose="00000500000000000000" pitchFamily="2" charset="0"/>
              </a:rPr>
              <a:t> </a:t>
            </a:r>
            <a:r>
              <a:rPr lang="en-US" sz="2400" dirty="0" err="1">
                <a:latin typeface="Montserrat" panose="00000500000000000000" pitchFamily="2" charset="0"/>
              </a:rPr>
              <a:t>định</a:t>
            </a:r>
            <a:r>
              <a:rPr lang="en-US" sz="2400" dirty="0">
                <a:latin typeface="Montserrat" panose="00000500000000000000" pitchFamily="2" charset="0"/>
              </a:rPr>
              <a:t> </a:t>
            </a:r>
            <a:r>
              <a:rPr lang="en-US" sz="2400" dirty="0" err="1">
                <a:latin typeface="Montserrat" panose="00000500000000000000" pitchFamily="2" charset="0"/>
              </a:rPr>
              <a:t>về</a:t>
            </a:r>
            <a:r>
              <a:rPr lang="en-US" sz="2400" dirty="0">
                <a:latin typeface="Montserrat" panose="00000500000000000000" pitchFamily="2" charset="0"/>
              </a:rPr>
              <a:t> </a:t>
            </a:r>
            <a:r>
              <a:rPr lang="en-US" sz="2400" dirty="0" err="1">
                <a:latin typeface="Montserrat" panose="00000500000000000000" pitchFamily="2" charset="0"/>
              </a:rPr>
              <a:t>bảo</a:t>
            </a:r>
            <a:r>
              <a:rPr lang="en-US" sz="2400" dirty="0">
                <a:latin typeface="Montserrat" panose="00000500000000000000" pitchFamily="2" charset="0"/>
              </a:rPr>
              <a:t> </a:t>
            </a:r>
            <a:r>
              <a:rPr lang="en-US" sz="2400" dirty="0" err="1">
                <a:latin typeface="Montserrat" panose="00000500000000000000" pitchFamily="2" charset="0"/>
              </a:rPr>
              <a:t>vệ</a:t>
            </a:r>
            <a:r>
              <a:rPr lang="en-US" sz="2400" dirty="0">
                <a:latin typeface="Montserrat" panose="00000500000000000000" pitchFamily="2" charset="0"/>
              </a:rPr>
              <a:t> </a:t>
            </a:r>
            <a:r>
              <a:rPr lang="en-US" sz="2400" dirty="0" err="1">
                <a:latin typeface="Montserrat" panose="00000500000000000000" pitchFamily="2" charset="0"/>
              </a:rPr>
              <a:t>dữ</a:t>
            </a:r>
            <a:r>
              <a:rPr lang="en-US" sz="2400" dirty="0">
                <a:latin typeface="Montserrat" panose="00000500000000000000" pitchFamily="2" charset="0"/>
              </a:rPr>
              <a:t> </a:t>
            </a:r>
            <a:r>
              <a:rPr lang="en-US" sz="2400" dirty="0" err="1">
                <a:latin typeface="Montserrat" panose="00000500000000000000" pitchFamily="2" charset="0"/>
              </a:rPr>
              <a:t>liệu</a:t>
            </a:r>
            <a:r>
              <a:rPr lang="en-US" sz="2400" dirty="0">
                <a:latin typeface="Montserrat" panose="00000500000000000000" pitchFamily="2" charset="0"/>
              </a:rPr>
              <a:t>. </a:t>
            </a:r>
            <a:r>
              <a:rPr lang="en-US" sz="2400" dirty="0" err="1">
                <a:latin typeface="Montserrat" panose="00000500000000000000" pitchFamily="2" charset="0"/>
              </a:rPr>
              <a:t>Điều</a:t>
            </a:r>
            <a:r>
              <a:rPr lang="en-US" sz="2400" dirty="0">
                <a:latin typeface="Montserrat" panose="00000500000000000000" pitchFamily="2" charset="0"/>
              </a:rPr>
              <a:t> </a:t>
            </a:r>
            <a:r>
              <a:rPr lang="en-US" sz="2400" dirty="0" err="1">
                <a:latin typeface="Montserrat" panose="00000500000000000000" pitchFamily="2" charset="0"/>
              </a:rPr>
              <a:t>này</a:t>
            </a:r>
            <a:r>
              <a:rPr lang="en-US" sz="2400" dirty="0">
                <a:latin typeface="Montserrat" panose="00000500000000000000" pitchFamily="2" charset="0"/>
              </a:rPr>
              <a:t> </a:t>
            </a:r>
            <a:r>
              <a:rPr lang="en-US" sz="2400" dirty="0" err="1">
                <a:latin typeface="Montserrat" panose="00000500000000000000" pitchFamily="2" charset="0"/>
              </a:rPr>
              <a:t>đảm</a:t>
            </a:r>
            <a:r>
              <a:rPr lang="en-US" sz="2400" dirty="0">
                <a:latin typeface="Montserrat" panose="00000500000000000000" pitchFamily="2" charset="0"/>
              </a:rPr>
              <a:t> </a:t>
            </a:r>
            <a:r>
              <a:rPr lang="en-US" sz="2400" dirty="0" err="1">
                <a:latin typeface="Montserrat" panose="00000500000000000000" pitchFamily="2" charset="0"/>
              </a:rPr>
              <a:t>bảo</a:t>
            </a:r>
            <a:r>
              <a:rPr lang="en-US" sz="2400" dirty="0">
                <a:latin typeface="Montserrat" panose="00000500000000000000" pitchFamily="2" charset="0"/>
              </a:rPr>
              <a:t> </a:t>
            </a:r>
            <a:r>
              <a:rPr lang="en-US" sz="2400" dirty="0" err="1">
                <a:latin typeface="Montserrat" panose="00000500000000000000" pitchFamily="2" charset="0"/>
              </a:rPr>
              <a:t>quyền</a:t>
            </a:r>
            <a:r>
              <a:rPr lang="en-US" sz="2400" dirty="0">
                <a:latin typeface="Montserrat" panose="00000500000000000000" pitchFamily="2" charset="0"/>
              </a:rPr>
              <a:t> </a:t>
            </a:r>
            <a:r>
              <a:rPr lang="en-US" sz="2400" dirty="0" err="1">
                <a:latin typeface="Montserrat" panose="00000500000000000000" pitchFamily="2" charset="0"/>
              </a:rPr>
              <a:t>lợi</a:t>
            </a:r>
            <a:r>
              <a:rPr lang="en-US" sz="2400" dirty="0">
                <a:latin typeface="Montserrat" panose="00000500000000000000" pitchFamily="2" charset="0"/>
              </a:rPr>
              <a:t> </a:t>
            </a:r>
            <a:r>
              <a:rPr lang="en-US" sz="2400" dirty="0" err="1">
                <a:latin typeface="Montserrat" panose="00000500000000000000" pitchFamily="2" charset="0"/>
              </a:rPr>
              <a:t>của</a:t>
            </a:r>
            <a:r>
              <a:rPr lang="en-US" sz="2400" dirty="0">
                <a:latin typeface="Montserrat" panose="00000500000000000000" pitchFamily="2" charset="0"/>
              </a:rPr>
              <a:t> </a:t>
            </a:r>
            <a:r>
              <a:rPr lang="en-US" sz="2400" dirty="0" err="1">
                <a:latin typeface="Montserrat" panose="00000500000000000000" pitchFamily="2" charset="0"/>
              </a:rPr>
              <a:t>người</a:t>
            </a:r>
            <a:r>
              <a:rPr lang="en-US" sz="2400" dirty="0">
                <a:latin typeface="Montserrat" panose="00000500000000000000" pitchFamily="2" charset="0"/>
              </a:rPr>
              <a:t> </a:t>
            </a:r>
            <a:r>
              <a:rPr lang="en-US" sz="2400" dirty="0" err="1">
                <a:latin typeface="Montserrat" panose="00000500000000000000" pitchFamily="2" charset="0"/>
              </a:rPr>
              <a:t>dùng</a:t>
            </a:r>
            <a:r>
              <a:rPr lang="en-US" sz="2400" dirty="0">
                <a:latin typeface="Montserrat" panose="00000500000000000000" pitchFamily="2" charset="0"/>
              </a:rPr>
              <a:t> </a:t>
            </a:r>
            <a:r>
              <a:rPr lang="en-US" sz="2400" dirty="0" err="1">
                <a:latin typeface="Montserrat" panose="00000500000000000000" pitchFamily="2" charset="0"/>
              </a:rPr>
              <a:t>và</a:t>
            </a:r>
            <a:r>
              <a:rPr lang="en-US" sz="2400" dirty="0">
                <a:latin typeface="Montserrat" panose="00000500000000000000" pitchFamily="2" charset="0"/>
              </a:rPr>
              <a:t> </a:t>
            </a:r>
            <a:r>
              <a:rPr lang="en-US" sz="2400" dirty="0" err="1">
                <a:latin typeface="Montserrat" panose="00000500000000000000" pitchFamily="2" charset="0"/>
              </a:rPr>
              <a:t>tăng</a:t>
            </a:r>
            <a:r>
              <a:rPr lang="en-US" sz="2400" dirty="0">
                <a:latin typeface="Montserrat" panose="00000500000000000000" pitchFamily="2" charset="0"/>
              </a:rPr>
              <a:t> </a:t>
            </a:r>
            <a:r>
              <a:rPr lang="en-US" sz="2400" dirty="0" err="1">
                <a:latin typeface="Montserrat" panose="00000500000000000000" pitchFamily="2" charset="0"/>
              </a:rPr>
              <a:t>cường</a:t>
            </a:r>
            <a:r>
              <a:rPr lang="en-US" sz="2400" dirty="0">
                <a:latin typeface="Montserrat" panose="00000500000000000000" pitchFamily="2" charset="0"/>
              </a:rPr>
              <a:t> </a:t>
            </a:r>
            <a:r>
              <a:rPr lang="en-US" sz="2400" dirty="0" err="1">
                <a:latin typeface="Montserrat" panose="00000500000000000000" pitchFamily="2" charset="0"/>
              </a:rPr>
              <a:t>uy</a:t>
            </a:r>
            <a:r>
              <a:rPr lang="en-US" sz="2400" dirty="0">
                <a:latin typeface="Montserrat" panose="00000500000000000000" pitchFamily="2" charset="0"/>
              </a:rPr>
              <a:t> </a:t>
            </a:r>
            <a:r>
              <a:rPr lang="en-US" sz="2400" dirty="0" err="1">
                <a:latin typeface="Montserrat" panose="00000500000000000000" pitchFamily="2" charset="0"/>
              </a:rPr>
              <a:t>tín</a:t>
            </a:r>
            <a:r>
              <a:rPr lang="en-US" sz="2400" dirty="0">
                <a:latin typeface="Montserrat" panose="00000500000000000000" pitchFamily="2" charset="0"/>
              </a:rPr>
              <a:t> </a:t>
            </a:r>
            <a:r>
              <a:rPr lang="en-US" sz="2400" dirty="0" err="1">
                <a:latin typeface="Montserrat" panose="00000500000000000000" pitchFamily="2" charset="0"/>
              </a:rPr>
              <a:t>của</a:t>
            </a:r>
            <a:r>
              <a:rPr lang="en-US" sz="2400" dirty="0">
                <a:latin typeface="Montserrat" panose="00000500000000000000" pitchFamily="2" charset="0"/>
              </a:rPr>
              <a:t> </a:t>
            </a:r>
            <a:r>
              <a:rPr lang="en-US" sz="2400" dirty="0" err="1">
                <a:latin typeface="Montserrat" panose="00000500000000000000" pitchFamily="2" charset="0"/>
              </a:rPr>
              <a:t>nền</a:t>
            </a:r>
            <a:r>
              <a:rPr lang="en-US" sz="2400" dirty="0">
                <a:latin typeface="Montserrat" panose="00000500000000000000" pitchFamily="2" charset="0"/>
              </a:rPr>
              <a:t> </a:t>
            </a:r>
            <a:r>
              <a:rPr lang="en-US" sz="2400" dirty="0" err="1">
                <a:latin typeface="Montserrat" panose="00000500000000000000" pitchFamily="2" charset="0"/>
              </a:rPr>
              <a:t>tảng</a:t>
            </a:r>
            <a:r>
              <a:rPr lang="en-US" sz="2400" dirty="0">
                <a:latin typeface="Montserrat" panose="00000500000000000000" pitchFamily="2" charset="0"/>
              </a:rPr>
              <a:t>.</a:t>
            </a:r>
            <a:endParaRPr lang="en-US" sz="1400" dirty="0">
              <a:latin typeface="Montserrat" panose="00000500000000000000" pitchFamily="2" charset="0"/>
            </a:endParaRPr>
          </a:p>
        </p:txBody>
      </p:sp>
      <p:pic>
        <p:nvPicPr>
          <p:cNvPr id="17" name="Picture 16">
            <a:extLst>
              <a:ext uri="{FF2B5EF4-FFF2-40B4-BE49-F238E27FC236}">
                <a16:creationId xmlns:a16="http://schemas.microsoft.com/office/drawing/2014/main" id="{F276D9BB-11C6-124F-0845-F2665918EB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55492" y="1081562"/>
            <a:ext cx="7638750" cy="7638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573718" y="7940477"/>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2845091" y="2768606"/>
            <a:ext cx="12361322" cy="6489694"/>
          </a:xfrm>
          <a:custGeom>
            <a:avLst/>
            <a:gdLst/>
            <a:ahLst/>
            <a:cxnLst/>
            <a:rect l="l" t="t" r="r" b="b"/>
            <a:pathLst>
              <a:path w="12361322" h="6489694">
                <a:moveTo>
                  <a:pt x="0" y="0"/>
                </a:moveTo>
                <a:lnTo>
                  <a:pt x="12361322" y="0"/>
                </a:lnTo>
                <a:lnTo>
                  <a:pt x="12361322" y="6489694"/>
                </a:lnTo>
                <a:lnTo>
                  <a:pt x="0" y="6489694"/>
                </a:lnTo>
                <a:lnTo>
                  <a:pt x="0" y="0"/>
                </a:lnTo>
                <a:close/>
              </a:path>
            </a:pathLst>
          </a:custGeom>
          <a:blipFill>
            <a:blip r:embed="rId2"/>
            <a:stretch>
              <a:fillRect/>
            </a:stretch>
          </a:blipFill>
        </p:spPr>
        <p:txBody>
          <a:bodyPr/>
          <a:lstStyle/>
          <a:p>
            <a:endParaRPr lang="en-US"/>
          </a:p>
        </p:txBody>
      </p:sp>
      <p:sp>
        <p:nvSpPr>
          <p:cNvPr id="9" name="TextBox 9"/>
          <p:cNvSpPr txBox="1"/>
          <p:nvPr/>
        </p:nvSpPr>
        <p:spPr>
          <a:xfrm>
            <a:off x="3995644" y="705670"/>
            <a:ext cx="10060217" cy="1784776"/>
          </a:xfrm>
          <a:prstGeom prst="rect">
            <a:avLst/>
          </a:prstGeom>
        </p:spPr>
        <p:txBody>
          <a:bodyPr lIns="0" tIns="0" rIns="0" bIns="0" rtlCol="0" anchor="t">
            <a:spAutoFit/>
          </a:bodyPr>
          <a:lstStyle/>
          <a:p>
            <a:pPr algn="ctr">
              <a:lnSpc>
                <a:spcPts val="7151"/>
              </a:lnSpc>
            </a:pPr>
            <a:r>
              <a:rPr lang="en-US" sz="5108">
                <a:solidFill>
                  <a:srgbClr val="FDFDFD"/>
                </a:solidFill>
                <a:latin typeface="Open Sans Extra Bold"/>
                <a:ea typeface="Open Sans Extra Bold"/>
                <a:cs typeface="Open Sans Extra Bold"/>
                <a:sym typeface="Open Sans Extra Bold"/>
              </a:rPr>
              <a:t>So sánh kiến trúc </a:t>
            </a:r>
          </a:p>
          <a:p>
            <a:pPr marL="0" lvl="0" indent="0" algn="ctr">
              <a:lnSpc>
                <a:spcPts val="7151"/>
              </a:lnSpc>
              <a:spcBef>
                <a:spcPct val="0"/>
              </a:spcBef>
            </a:pPr>
            <a:r>
              <a:rPr lang="en-US" sz="5108">
                <a:solidFill>
                  <a:srgbClr val="FDFDFD"/>
                </a:solidFill>
                <a:latin typeface="Open Sans Extra Bold"/>
                <a:ea typeface="Open Sans Extra Bold"/>
                <a:cs typeface="Open Sans Extra Bold"/>
                <a:sym typeface="Open Sans Extra Bold"/>
              </a:rPr>
              <a:t>Monolithic và Microservice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7716827" y="1283153"/>
            <a:ext cx="10740587" cy="7325686"/>
          </a:xfrm>
          <a:custGeom>
            <a:avLst/>
            <a:gdLst/>
            <a:ahLst/>
            <a:cxnLst/>
            <a:rect l="l" t="t" r="r" b="b"/>
            <a:pathLst>
              <a:path w="10740587" h="7325686">
                <a:moveTo>
                  <a:pt x="0" y="0"/>
                </a:moveTo>
                <a:lnTo>
                  <a:pt x="10740587" y="0"/>
                </a:lnTo>
                <a:lnTo>
                  <a:pt x="10740587" y="7325686"/>
                </a:lnTo>
                <a:lnTo>
                  <a:pt x="0" y="7325686"/>
                </a:lnTo>
                <a:lnTo>
                  <a:pt x="0" y="0"/>
                </a:lnTo>
                <a:close/>
              </a:path>
            </a:pathLst>
          </a:custGeom>
          <a:blipFill>
            <a:blip r:embed="rId3"/>
            <a:stretch>
              <a:fillRect r="-2308"/>
            </a:stretch>
          </a:blipFill>
        </p:spPr>
        <p:txBody>
          <a:bodyPr/>
          <a:lstStyle/>
          <a:p>
            <a:endParaRPr lang="en-US"/>
          </a:p>
        </p:txBody>
      </p:sp>
      <p:grpSp>
        <p:nvGrpSpPr>
          <p:cNvPr id="3" name="Group 3"/>
          <p:cNvGrpSpPr/>
          <p:nvPr/>
        </p:nvGrpSpPr>
        <p:grpSpPr>
          <a:xfrm>
            <a:off x="708592" y="1283153"/>
            <a:ext cx="7523780" cy="7546156"/>
            <a:chOff x="0" y="0"/>
            <a:chExt cx="2106826" cy="2113092"/>
          </a:xfrm>
        </p:grpSpPr>
        <p:sp>
          <p:nvSpPr>
            <p:cNvPr id="4" name="Freeform 4"/>
            <p:cNvSpPr/>
            <p:nvPr/>
          </p:nvSpPr>
          <p:spPr>
            <a:xfrm>
              <a:off x="0" y="0"/>
              <a:ext cx="2106826" cy="2113092"/>
            </a:xfrm>
            <a:custGeom>
              <a:avLst/>
              <a:gdLst/>
              <a:ahLst/>
              <a:cxnLst/>
              <a:rect l="l" t="t" r="r" b="b"/>
              <a:pathLst>
                <a:path w="2106826" h="2113092">
                  <a:moveTo>
                    <a:pt x="0" y="0"/>
                  </a:moveTo>
                  <a:lnTo>
                    <a:pt x="2106826" y="0"/>
                  </a:lnTo>
                  <a:lnTo>
                    <a:pt x="2106826" y="2113092"/>
                  </a:lnTo>
                  <a:lnTo>
                    <a:pt x="0" y="2113092"/>
                  </a:lnTo>
                  <a:close/>
                </a:path>
              </a:pathLst>
            </a:custGeom>
            <a:solidFill>
              <a:srgbClr val="145DA0">
                <a:alpha val="95686"/>
              </a:srgbClr>
            </a:solidFill>
            <a:ln cap="sq">
              <a:noFill/>
              <a:prstDash val="solid"/>
              <a:miter/>
            </a:ln>
          </p:spPr>
          <p:txBody>
            <a:bodyPr/>
            <a:lstStyle/>
            <a:p>
              <a:endParaRPr lang="en-US"/>
            </a:p>
          </p:txBody>
        </p:sp>
        <p:sp>
          <p:nvSpPr>
            <p:cNvPr id="5" name="TextBox 5"/>
            <p:cNvSpPr txBox="1"/>
            <p:nvPr/>
          </p:nvSpPr>
          <p:spPr>
            <a:xfrm>
              <a:off x="0" y="-38100"/>
              <a:ext cx="2106826" cy="21511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708592" y="8829309"/>
            <a:ext cx="7523780" cy="428991"/>
            <a:chOff x="0" y="0"/>
            <a:chExt cx="2106826" cy="120127"/>
          </a:xfrm>
        </p:grpSpPr>
        <p:sp>
          <p:nvSpPr>
            <p:cNvPr id="7" name="Freeform 7"/>
            <p:cNvSpPr/>
            <p:nvPr/>
          </p:nvSpPr>
          <p:spPr>
            <a:xfrm>
              <a:off x="0" y="0"/>
              <a:ext cx="2106826" cy="120127"/>
            </a:xfrm>
            <a:custGeom>
              <a:avLst/>
              <a:gdLst/>
              <a:ahLst/>
              <a:cxnLst/>
              <a:rect l="l" t="t" r="r" b="b"/>
              <a:pathLst>
                <a:path w="2106826" h="120127">
                  <a:moveTo>
                    <a:pt x="0" y="0"/>
                  </a:moveTo>
                  <a:lnTo>
                    <a:pt x="2106826" y="0"/>
                  </a:lnTo>
                  <a:lnTo>
                    <a:pt x="2106826" y="120127"/>
                  </a:lnTo>
                  <a:lnTo>
                    <a:pt x="0" y="120127"/>
                  </a:lnTo>
                  <a:close/>
                </a:path>
              </a:pathLst>
            </a:custGeom>
            <a:solidFill>
              <a:srgbClr val="145DA0">
                <a:alpha val="48627"/>
              </a:srgbClr>
            </a:solidFill>
            <a:ln cap="sq">
              <a:noFill/>
              <a:prstDash val="solid"/>
              <a:miter/>
            </a:ln>
          </p:spPr>
          <p:txBody>
            <a:bodyPr/>
            <a:lstStyle/>
            <a:p>
              <a:endParaRPr lang="en-US"/>
            </a:p>
          </p:txBody>
        </p:sp>
        <p:sp>
          <p:nvSpPr>
            <p:cNvPr id="8" name="TextBox 8"/>
            <p:cNvSpPr txBox="1"/>
            <p:nvPr/>
          </p:nvSpPr>
          <p:spPr>
            <a:xfrm>
              <a:off x="0" y="-38100"/>
              <a:ext cx="2106826" cy="15822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5238003" y="8290589"/>
            <a:ext cx="7523780" cy="752378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3724222" y="-4507687"/>
            <a:ext cx="5924489" cy="592448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TextBox 15"/>
          <p:cNvSpPr txBox="1"/>
          <p:nvPr/>
        </p:nvSpPr>
        <p:spPr>
          <a:xfrm>
            <a:off x="1784909" y="1656932"/>
            <a:ext cx="3889492" cy="971059"/>
          </a:xfrm>
          <a:prstGeom prst="rect">
            <a:avLst/>
          </a:prstGeom>
        </p:spPr>
        <p:txBody>
          <a:bodyPr lIns="0" tIns="0" rIns="0" bIns="0" rtlCol="0" anchor="t">
            <a:spAutoFit/>
          </a:bodyPr>
          <a:lstStyle/>
          <a:p>
            <a:pPr marL="0" lvl="0" indent="0" algn="l">
              <a:lnSpc>
                <a:spcPts val="7902"/>
              </a:lnSpc>
              <a:spcBef>
                <a:spcPct val="0"/>
              </a:spcBef>
            </a:pPr>
            <a:r>
              <a:rPr lang="en-US" sz="5644" b="1">
                <a:solidFill>
                  <a:srgbClr val="FDFDFD"/>
                </a:solidFill>
                <a:latin typeface="Montserrat Bold"/>
                <a:ea typeface="Montserrat Bold"/>
                <a:cs typeface="Montserrat Bold"/>
                <a:sym typeface="Montserrat Bold"/>
              </a:rPr>
              <a:t>Phân tích</a:t>
            </a:r>
          </a:p>
        </p:txBody>
      </p:sp>
      <p:sp>
        <p:nvSpPr>
          <p:cNvPr id="16" name="TextBox 16"/>
          <p:cNvSpPr txBox="1"/>
          <p:nvPr/>
        </p:nvSpPr>
        <p:spPr>
          <a:xfrm>
            <a:off x="1880159" y="5830678"/>
            <a:ext cx="2370352" cy="440538"/>
          </a:xfrm>
          <a:prstGeom prst="rect">
            <a:avLst/>
          </a:prstGeom>
        </p:spPr>
        <p:txBody>
          <a:bodyPr lIns="0" tIns="0" rIns="0" bIns="0" rtlCol="0" anchor="t">
            <a:spAutoFit/>
          </a:bodyPr>
          <a:lstStyle/>
          <a:p>
            <a:pPr marL="0" lvl="0" indent="0" algn="ctr">
              <a:lnSpc>
                <a:spcPts val="3543"/>
              </a:lnSpc>
              <a:spcBef>
                <a:spcPct val="0"/>
              </a:spcBef>
            </a:pPr>
            <a:r>
              <a:rPr lang="en-US" sz="2530" b="1" spc="-50">
                <a:solidFill>
                  <a:srgbClr val="FDFDFD"/>
                </a:solidFill>
                <a:latin typeface="Source Sans Pro Bold"/>
                <a:ea typeface="Source Sans Pro Bold"/>
                <a:cs typeface="Source Sans Pro Bold"/>
                <a:sym typeface="Source Sans Pro Bold"/>
              </a:rPr>
              <a:t>Tổng doanh thu</a:t>
            </a:r>
          </a:p>
        </p:txBody>
      </p:sp>
      <p:sp>
        <p:nvSpPr>
          <p:cNvPr id="17" name="TextBox 17"/>
          <p:cNvSpPr txBox="1"/>
          <p:nvPr/>
        </p:nvSpPr>
        <p:spPr>
          <a:xfrm>
            <a:off x="1453581" y="4776684"/>
            <a:ext cx="3420390" cy="971059"/>
          </a:xfrm>
          <a:prstGeom prst="rect">
            <a:avLst/>
          </a:prstGeom>
        </p:spPr>
        <p:txBody>
          <a:bodyPr lIns="0" tIns="0" rIns="0" bIns="0" rtlCol="0" anchor="t">
            <a:spAutoFit/>
          </a:bodyPr>
          <a:lstStyle/>
          <a:p>
            <a:pPr marL="0" lvl="0" indent="0" algn="ctr">
              <a:lnSpc>
                <a:spcPts val="7902"/>
              </a:lnSpc>
              <a:spcBef>
                <a:spcPct val="0"/>
              </a:spcBef>
            </a:pPr>
            <a:r>
              <a:rPr lang="en-US" sz="5644">
                <a:solidFill>
                  <a:srgbClr val="FDFDFD"/>
                </a:solidFill>
                <a:latin typeface="Open Sans Extra Bold"/>
                <a:ea typeface="Open Sans Extra Bold"/>
                <a:cs typeface="Open Sans Extra Bold"/>
                <a:sym typeface="Open Sans Extra Bold"/>
              </a:rPr>
              <a:t>63N+ tỷ</a:t>
            </a:r>
          </a:p>
        </p:txBody>
      </p:sp>
      <p:sp>
        <p:nvSpPr>
          <p:cNvPr id="18" name="TextBox 18"/>
          <p:cNvSpPr txBox="1"/>
          <p:nvPr/>
        </p:nvSpPr>
        <p:spPr>
          <a:xfrm>
            <a:off x="1784909" y="2723241"/>
            <a:ext cx="5471347" cy="1688995"/>
          </a:xfrm>
          <a:prstGeom prst="rect">
            <a:avLst/>
          </a:prstGeom>
        </p:spPr>
        <p:txBody>
          <a:bodyPr lIns="0" tIns="0" rIns="0" bIns="0" rtlCol="0" anchor="t">
            <a:spAutoFit/>
          </a:bodyPr>
          <a:lstStyle/>
          <a:p>
            <a:pPr marL="0" lvl="0" indent="0" algn="l">
              <a:lnSpc>
                <a:spcPts val="3368"/>
              </a:lnSpc>
              <a:spcBef>
                <a:spcPct val="0"/>
              </a:spcBef>
            </a:pPr>
            <a:r>
              <a:rPr lang="en-US" sz="2406" spc="-48">
                <a:solidFill>
                  <a:srgbClr val="FDFDFD"/>
                </a:solidFill>
                <a:latin typeface="Source Sans Pro"/>
                <a:ea typeface="Source Sans Pro"/>
                <a:cs typeface="Source Sans Pro"/>
                <a:sym typeface="Source Sans Pro"/>
              </a:rPr>
              <a:t>Shopee, Lazada hay Tiktok shop tại Việt Nam chính là ví dụ điển hình cho sự phát triển của ngành thương mại điện tử tại Việt Nam.  Số liệu quý III/2023 cho thấy</a:t>
            </a:r>
          </a:p>
        </p:txBody>
      </p:sp>
      <p:sp>
        <p:nvSpPr>
          <p:cNvPr id="19" name="TextBox 19"/>
          <p:cNvSpPr txBox="1"/>
          <p:nvPr/>
        </p:nvSpPr>
        <p:spPr>
          <a:xfrm>
            <a:off x="4981154" y="4776684"/>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a:solidFill>
                  <a:srgbClr val="FDFDFD"/>
                </a:solidFill>
                <a:latin typeface="Open Sans Extra Bold"/>
                <a:ea typeface="Open Sans Extra Bold"/>
                <a:cs typeface="Open Sans Extra Bold"/>
                <a:sym typeface="Open Sans Extra Bold"/>
              </a:rPr>
              <a:t>54,4</a:t>
            </a:r>
            <a:r>
              <a:rPr lang="en-US" sz="5644" b="1" u="none" strike="noStrike">
                <a:solidFill>
                  <a:srgbClr val="FDFDFD"/>
                </a:solidFill>
                <a:latin typeface="Open Sans Extra Bold"/>
                <a:ea typeface="Open Sans Extra Bold"/>
                <a:cs typeface="Open Sans Extra Bold"/>
                <a:sym typeface="Open Sans Extra Bold"/>
              </a:rPr>
              <a:t>%</a:t>
            </a:r>
          </a:p>
        </p:txBody>
      </p:sp>
      <p:sp>
        <p:nvSpPr>
          <p:cNvPr id="20" name="TextBox 20"/>
          <p:cNvSpPr txBox="1"/>
          <p:nvPr/>
        </p:nvSpPr>
        <p:spPr>
          <a:xfrm>
            <a:off x="1880159" y="6694445"/>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a:solidFill>
                  <a:srgbClr val="FDFDFD"/>
                </a:solidFill>
                <a:latin typeface="Open Sans Extra Bold"/>
                <a:ea typeface="Open Sans Extra Bold"/>
                <a:cs typeface="Open Sans Extra Bold"/>
                <a:sym typeface="Open Sans Extra Bold"/>
              </a:rPr>
              <a:t>622N</a:t>
            </a:r>
          </a:p>
        </p:txBody>
      </p:sp>
      <p:sp>
        <p:nvSpPr>
          <p:cNvPr id="21" name="TextBox 21"/>
          <p:cNvSpPr txBox="1"/>
          <p:nvPr/>
        </p:nvSpPr>
        <p:spPr>
          <a:xfrm>
            <a:off x="4981154" y="6694445"/>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a:solidFill>
                  <a:srgbClr val="FDFDFD"/>
                </a:solidFill>
                <a:latin typeface="Open Sans Extra Bold"/>
                <a:ea typeface="Open Sans Extra Bold"/>
                <a:cs typeface="Open Sans Extra Bold"/>
                <a:sym typeface="Open Sans Extra Bold"/>
              </a:rPr>
              <a:t>434N</a:t>
            </a:r>
          </a:p>
        </p:txBody>
      </p:sp>
      <p:sp>
        <p:nvSpPr>
          <p:cNvPr id="22" name="TextBox 22"/>
          <p:cNvSpPr txBox="1"/>
          <p:nvPr/>
        </p:nvSpPr>
        <p:spPr>
          <a:xfrm>
            <a:off x="4615832" y="5830678"/>
            <a:ext cx="3100995" cy="440538"/>
          </a:xfrm>
          <a:prstGeom prst="rect">
            <a:avLst/>
          </a:prstGeom>
        </p:spPr>
        <p:txBody>
          <a:bodyPr lIns="0" tIns="0" rIns="0" bIns="0" rtlCol="0" anchor="t">
            <a:spAutoFit/>
          </a:bodyPr>
          <a:lstStyle/>
          <a:p>
            <a:pPr marL="0" lvl="0" indent="0" algn="ctr">
              <a:lnSpc>
                <a:spcPts val="3543"/>
              </a:lnSpc>
              <a:spcBef>
                <a:spcPct val="0"/>
              </a:spcBef>
            </a:pPr>
            <a:r>
              <a:rPr lang="en-US" sz="2530" b="1" spc="-50">
                <a:solidFill>
                  <a:srgbClr val="FDFDFD"/>
                </a:solidFill>
                <a:latin typeface="Source Sans Pro Bold"/>
                <a:ea typeface="Source Sans Pro Bold"/>
                <a:cs typeface="Source Sans Pro Bold"/>
                <a:sym typeface="Source Sans Pro Bold"/>
              </a:rPr>
              <a:t>Tăng trưởng cùng kỳ</a:t>
            </a:r>
          </a:p>
        </p:txBody>
      </p:sp>
      <p:sp>
        <p:nvSpPr>
          <p:cNvPr id="23" name="TextBox 23"/>
          <p:cNvSpPr txBox="1"/>
          <p:nvPr/>
        </p:nvSpPr>
        <p:spPr>
          <a:xfrm>
            <a:off x="4981154" y="7850050"/>
            <a:ext cx="2370352" cy="440538"/>
          </a:xfrm>
          <a:prstGeom prst="rect">
            <a:avLst/>
          </a:prstGeom>
        </p:spPr>
        <p:txBody>
          <a:bodyPr lIns="0" tIns="0" rIns="0" bIns="0" rtlCol="0" anchor="t">
            <a:spAutoFit/>
          </a:bodyPr>
          <a:lstStyle/>
          <a:p>
            <a:pPr marL="0" lvl="0" indent="0" algn="ctr">
              <a:lnSpc>
                <a:spcPts val="3543"/>
              </a:lnSpc>
              <a:spcBef>
                <a:spcPct val="0"/>
              </a:spcBef>
            </a:pPr>
            <a:r>
              <a:rPr lang="en-US" sz="2530" b="1" spc="-50">
                <a:solidFill>
                  <a:srgbClr val="FDFDFD"/>
                </a:solidFill>
                <a:latin typeface="Source Sans Pro Bold"/>
                <a:ea typeface="Source Sans Pro Bold"/>
                <a:cs typeface="Source Sans Pro Bold"/>
                <a:sym typeface="Source Sans Pro Bold"/>
              </a:rPr>
              <a:t>Shop bán hàng</a:t>
            </a:r>
          </a:p>
        </p:txBody>
      </p:sp>
      <p:sp>
        <p:nvSpPr>
          <p:cNvPr id="24" name="TextBox 24"/>
          <p:cNvSpPr txBox="1"/>
          <p:nvPr/>
        </p:nvSpPr>
        <p:spPr>
          <a:xfrm>
            <a:off x="1880159" y="7850050"/>
            <a:ext cx="2370352" cy="888213"/>
          </a:xfrm>
          <a:prstGeom prst="rect">
            <a:avLst/>
          </a:prstGeom>
        </p:spPr>
        <p:txBody>
          <a:bodyPr lIns="0" tIns="0" rIns="0" bIns="0" rtlCol="0" anchor="t">
            <a:spAutoFit/>
          </a:bodyPr>
          <a:lstStyle/>
          <a:p>
            <a:pPr marL="0" lvl="0" indent="0" algn="ctr">
              <a:lnSpc>
                <a:spcPts val="3543"/>
              </a:lnSpc>
              <a:spcBef>
                <a:spcPct val="0"/>
              </a:spcBef>
            </a:pPr>
            <a:r>
              <a:rPr lang="en-US" sz="2530" b="1" spc="-50">
                <a:solidFill>
                  <a:srgbClr val="FDFDFD"/>
                </a:solidFill>
                <a:latin typeface="Source Sans Pro Bold"/>
                <a:ea typeface="Source Sans Pro Bold"/>
                <a:cs typeface="Source Sans Pro Bold"/>
                <a:sym typeface="Source Sans Pro Bold"/>
              </a:rPr>
              <a:t>Sản phẩm được bán ra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528133" y="933450"/>
            <a:ext cx="9632536" cy="929074"/>
          </a:xfrm>
          <a:prstGeom prst="rect">
            <a:avLst/>
          </a:prstGeom>
        </p:spPr>
        <p:txBody>
          <a:bodyPr lIns="0" tIns="0" rIns="0" bIns="0" rtlCol="0" anchor="t">
            <a:spAutoFit/>
          </a:bodyPr>
          <a:lstStyle/>
          <a:p>
            <a:pPr marL="0" lvl="0" indent="0" algn="l">
              <a:lnSpc>
                <a:spcPts val="7659"/>
              </a:lnSpc>
              <a:spcBef>
                <a:spcPct val="0"/>
              </a:spcBef>
            </a:pPr>
            <a:r>
              <a:rPr lang="en-US" sz="5471">
                <a:solidFill>
                  <a:srgbClr val="051D40"/>
                </a:solidFill>
                <a:latin typeface="Open Sans Extra Bold"/>
                <a:ea typeface="Open Sans Extra Bold"/>
                <a:cs typeface="Open Sans Extra Bold"/>
                <a:sym typeface="Open Sans Extra Bold"/>
              </a:rPr>
              <a:t>Vấn đề</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132" y="2128374"/>
            <a:ext cx="9006427" cy="940022"/>
          </a:xfrm>
          <a:prstGeom prst="rect">
            <a:avLst/>
          </a:prstGeom>
        </p:spPr>
        <p:txBody>
          <a:bodyPr lIns="0" tIns="0" rIns="0" bIns="0" rtlCol="0" anchor="t">
            <a:spAutoFit/>
          </a:bodyPr>
          <a:lstStyle/>
          <a:p>
            <a:pPr marL="0" lvl="0" indent="0" algn="l">
              <a:lnSpc>
                <a:spcPts val="3823"/>
              </a:lnSpc>
              <a:spcBef>
                <a:spcPct val="0"/>
              </a:spcBef>
            </a:pPr>
            <a:r>
              <a:rPr lang="en-US" sz="2730" spc="-54">
                <a:solidFill>
                  <a:srgbClr val="051D40"/>
                </a:solidFill>
                <a:latin typeface="Montserrat"/>
                <a:ea typeface="Montserrat"/>
                <a:cs typeface="Montserrat"/>
                <a:sym typeface="Montserrat"/>
              </a:rPr>
              <a:t>Các bussiness nhỏ mong muốn xây dựng hệ thống đáp ứng các tiêu chí</a:t>
            </a:r>
          </a:p>
        </p:txBody>
      </p:sp>
      <p:grpSp>
        <p:nvGrpSpPr>
          <p:cNvPr id="10" name="Group 10"/>
          <p:cNvGrpSpPr/>
          <p:nvPr/>
        </p:nvGrpSpPr>
        <p:grpSpPr>
          <a:xfrm>
            <a:off x="9966307" y="300249"/>
            <a:ext cx="8027935" cy="9598729"/>
            <a:chOff x="0" y="0"/>
            <a:chExt cx="8603361" cy="10286746"/>
          </a:xfrm>
        </p:grpSpPr>
        <p:sp>
          <p:nvSpPr>
            <p:cNvPr id="11" name="Freeform 11"/>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3"/>
              <a:stretch>
                <a:fillRect r="-19912"/>
              </a:stretch>
            </a:blipFill>
          </p:spPr>
          <p:txBody>
            <a:bodyPr/>
            <a:lstStyle/>
            <a:p>
              <a:endParaRPr lang="en-US"/>
            </a:p>
          </p:txBody>
        </p:sp>
      </p:gr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043657" y="6280858"/>
            <a:ext cx="11402164" cy="711357"/>
          </a:xfrm>
          <a:custGeom>
            <a:avLst/>
            <a:gdLst/>
            <a:ahLst/>
            <a:cxnLst/>
            <a:rect l="l" t="t" r="r" b="b"/>
            <a:pathLst>
              <a:path w="11402164" h="711357">
                <a:moveTo>
                  <a:pt x="0" y="0"/>
                </a:moveTo>
                <a:lnTo>
                  <a:pt x="11402164" y="0"/>
                </a:lnTo>
                <a:lnTo>
                  <a:pt x="11402164" y="711358"/>
                </a:lnTo>
                <a:lnTo>
                  <a:pt x="0" y="711358"/>
                </a:lnTo>
                <a:lnTo>
                  <a:pt x="0" y="0"/>
                </a:lnTo>
                <a:close/>
              </a:path>
            </a:pathLst>
          </a:custGeom>
          <a:blipFill>
            <a:blip r:embed="rId4"/>
            <a:stretch>
              <a:fillRect t="-216567"/>
            </a:stretch>
          </a:blipFill>
        </p:spPr>
        <p:txBody>
          <a:bodyPr/>
          <a:lstStyle/>
          <a:p>
            <a:endParaRPr lang="en-US"/>
          </a:p>
        </p:txBody>
      </p:sp>
      <p:grpSp>
        <p:nvGrpSpPr>
          <p:cNvPr id="16" name="Group 16"/>
          <p:cNvGrpSpPr/>
          <p:nvPr/>
        </p:nvGrpSpPr>
        <p:grpSpPr>
          <a:xfrm>
            <a:off x="1043657" y="3796954"/>
            <a:ext cx="11387207" cy="2483904"/>
            <a:chOff x="0" y="0"/>
            <a:chExt cx="2999100" cy="654197"/>
          </a:xfrm>
        </p:grpSpPr>
        <p:sp>
          <p:nvSpPr>
            <p:cNvPr id="17" name="Freeform 17"/>
            <p:cNvSpPr/>
            <p:nvPr/>
          </p:nvSpPr>
          <p:spPr>
            <a:xfrm>
              <a:off x="0" y="0"/>
              <a:ext cx="2999100" cy="654197"/>
            </a:xfrm>
            <a:custGeom>
              <a:avLst/>
              <a:gdLst/>
              <a:ahLst/>
              <a:cxnLst/>
              <a:rect l="l" t="t" r="r" b="b"/>
              <a:pathLst>
                <a:path w="2999100" h="654197">
                  <a:moveTo>
                    <a:pt x="9518" y="0"/>
                  </a:moveTo>
                  <a:lnTo>
                    <a:pt x="2989581" y="0"/>
                  </a:lnTo>
                  <a:cubicBezTo>
                    <a:pt x="2992106" y="0"/>
                    <a:pt x="2994527" y="1003"/>
                    <a:pt x="2996312" y="2788"/>
                  </a:cubicBezTo>
                  <a:cubicBezTo>
                    <a:pt x="2998097" y="4573"/>
                    <a:pt x="2999100" y="6994"/>
                    <a:pt x="2999100" y="9518"/>
                  </a:cubicBezTo>
                  <a:lnTo>
                    <a:pt x="2999100" y="644679"/>
                  </a:lnTo>
                  <a:cubicBezTo>
                    <a:pt x="2999100" y="647203"/>
                    <a:pt x="2998097" y="649624"/>
                    <a:pt x="2996312" y="651409"/>
                  </a:cubicBezTo>
                  <a:cubicBezTo>
                    <a:pt x="2994527" y="653194"/>
                    <a:pt x="2992106" y="654197"/>
                    <a:pt x="2989581" y="654197"/>
                  </a:cubicBezTo>
                  <a:lnTo>
                    <a:pt x="9518" y="654197"/>
                  </a:lnTo>
                  <a:cubicBezTo>
                    <a:pt x="4261" y="654197"/>
                    <a:pt x="0" y="649935"/>
                    <a:pt x="0" y="644679"/>
                  </a:cubicBezTo>
                  <a:lnTo>
                    <a:pt x="0" y="9518"/>
                  </a:lnTo>
                  <a:cubicBezTo>
                    <a:pt x="0" y="6994"/>
                    <a:pt x="1003" y="4573"/>
                    <a:pt x="2788" y="2788"/>
                  </a:cubicBezTo>
                  <a:cubicBezTo>
                    <a:pt x="4573" y="1003"/>
                    <a:pt x="6994" y="0"/>
                    <a:pt x="9518" y="0"/>
                  </a:cubicBezTo>
                  <a:close/>
                </a:path>
              </a:pathLst>
            </a:custGeom>
            <a:solidFill>
              <a:srgbClr val="00569E"/>
            </a:solidFill>
          </p:spPr>
          <p:txBody>
            <a:bodyPr/>
            <a:lstStyle/>
            <a:p>
              <a:endParaRPr lang="en-US"/>
            </a:p>
          </p:txBody>
        </p:sp>
        <p:sp>
          <p:nvSpPr>
            <p:cNvPr id="18" name="TextBox 18"/>
            <p:cNvSpPr txBox="1"/>
            <p:nvPr/>
          </p:nvSpPr>
          <p:spPr>
            <a:xfrm>
              <a:off x="0" y="-38100"/>
              <a:ext cx="2999100" cy="692297"/>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159115" y="3468446"/>
            <a:ext cx="2772169" cy="685553"/>
            <a:chOff x="0" y="0"/>
            <a:chExt cx="1013291" cy="250585"/>
          </a:xfrm>
        </p:grpSpPr>
        <p:sp>
          <p:nvSpPr>
            <p:cNvPr id="20" name="Freeform 20"/>
            <p:cNvSpPr/>
            <p:nvPr/>
          </p:nvSpPr>
          <p:spPr>
            <a:xfrm>
              <a:off x="0" y="0"/>
              <a:ext cx="1013291" cy="250585"/>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1" name="TextBox 21"/>
            <p:cNvSpPr txBox="1"/>
            <p:nvPr/>
          </p:nvSpPr>
          <p:spPr>
            <a:xfrm>
              <a:off x="0" y="-38100"/>
              <a:ext cx="1013291" cy="288685"/>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Montserrat Bold"/>
                  <a:ea typeface="Montserrat Bold"/>
                  <a:cs typeface="Montserrat Bold"/>
                  <a:sym typeface="Montserrat Bold"/>
                </a:rPr>
                <a:t>Chịu tải</a:t>
              </a:r>
            </a:p>
          </p:txBody>
        </p:sp>
      </p:grpSp>
      <p:grpSp>
        <p:nvGrpSpPr>
          <p:cNvPr id="22" name="Group 22"/>
          <p:cNvGrpSpPr/>
          <p:nvPr/>
        </p:nvGrpSpPr>
        <p:grpSpPr>
          <a:xfrm>
            <a:off x="1609132" y="3468446"/>
            <a:ext cx="2772169" cy="685553"/>
            <a:chOff x="0" y="0"/>
            <a:chExt cx="1013291" cy="250585"/>
          </a:xfrm>
        </p:grpSpPr>
        <p:sp>
          <p:nvSpPr>
            <p:cNvPr id="23" name="Freeform 23"/>
            <p:cNvSpPr/>
            <p:nvPr/>
          </p:nvSpPr>
          <p:spPr>
            <a:xfrm>
              <a:off x="0" y="0"/>
              <a:ext cx="1013291" cy="250585"/>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4" name="TextBox 24"/>
            <p:cNvSpPr txBox="1"/>
            <p:nvPr/>
          </p:nvSpPr>
          <p:spPr>
            <a:xfrm>
              <a:off x="0" y="-38100"/>
              <a:ext cx="1013291" cy="288685"/>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Montserrat Bold"/>
                  <a:ea typeface="Montserrat Bold"/>
                  <a:cs typeface="Montserrat Bold"/>
                  <a:sym typeface="Montserrat Bold"/>
                </a:rPr>
                <a:t>Chi phí</a:t>
              </a:r>
            </a:p>
          </p:txBody>
        </p:sp>
      </p:grpSp>
      <p:grpSp>
        <p:nvGrpSpPr>
          <p:cNvPr id="25" name="Group 25"/>
          <p:cNvGrpSpPr/>
          <p:nvPr/>
        </p:nvGrpSpPr>
        <p:grpSpPr>
          <a:xfrm>
            <a:off x="9003746" y="3468446"/>
            <a:ext cx="2670160" cy="685553"/>
            <a:chOff x="0" y="0"/>
            <a:chExt cx="976004" cy="250585"/>
          </a:xfrm>
        </p:grpSpPr>
        <p:sp>
          <p:nvSpPr>
            <p:cNvPr id="26" name="Freeform 26"/>
            <p:cNvSpPr/>
            <p:nvPr/>
          </p:nvSpPr>
          <p:spPr>
            <a:xfrm>
              <a:off x="0" y="0"/>
              <a:ext cx="976004" cy="250585"/>
            </a:xfrm>
            <a:custGeom>
              <a:avLst/>
              <a:gdLst/>
              <a:ahLst/>
              <a:cxnLst/>
              <a:rect l="l" t="t" r="r" b="b"/>
              <a:pathLst>
                <a:path w="976004" h="250585">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7" name="TextBox 27"/>
            <p:cNvSpPr txBox="1"/>
            <p:nvPr/>
          </p:nvSpPr>
          <p:spPr>
            <a:xfrm>
              <a:off x="0" y="-38100"/>
              <a:ext cx="976004" cy="288685"/>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Montserrat Bold"/>
                  <a:ea typeface="Montserrat Bold"/>
                  <a:cs typeface="Montserrat Bold"/>
                  <a:sym typeface="Montserrat Bold"/>
                </a:rPr>
                <a:t>Mở rộng</a:t>
              </a:r>
            </a:p>
          </p:txBody>
        </p:sp>
      </p:grpSp>
      <p:sp>
        <p:nvSpPr>
          <p:cNvPr id="28" name="TextBox 28"/>
          <p:cNvSpPr txBox="1"/>
          <p:nvPr/>
        </p:nvSpPr>
        <p:spPr>
          <a:xfrm>
            <a:off x="5383213" y="4182686"/>
            <a:ext cx="2323974" cy="1740653"/>
          </a:xfrm>
          <a:prstGeom prst="rect">
            <a:avLst/>
          </a:prstGeom>
        </p:spPr>
        <p:txBody>
          <a:bodyPr lIns="0" tIns="0" rIns="0" bIns="0" rtlCol="0" anchor="t">
            <a:spAutoFit/>
          </a:bodyPr>
          <a:lstStyle/>
          <a:p>
            <a:pPr algn="l">
              <a:lnSpc>
                <a:spcPts val="4734"/>
              </a:lnSpc>
            </a:pPr>
            <a:r>
              <a:rPr lang="en-US" sz="2367">
                <a:solidFill>
                  <a:srgbClr val="FDFDFD"/>
                </a:solidFill>
                <a:latin typeface="Source Sans Pro"/>
                <a:ea typeface="Source Sans Pro"/>
                <a:cs typeface="Source Sans Pro"/>
                <a:sym typeface="Source Sans Pro"/>
              </a:rPr>
              <a:t>Chịu tải cao với số lượng lớn request đồng thời</a:t>
            </a:r>
          </a:p>
        </p:txBody>
      </p:sp>
      <p:sp>
        <p:nvSpPr>
          <p:cNvPr id="29" name="TextBox 29"/>
          <p:cNvSpPr txBox="1"/>
          <p:nvPr/>
        </p:nvSpPr>
        <p:spPr>
          <a:xfrm>
            <a:off x="1609132" y="4163524"/>
            <a:ext cx="2962669" cy="1140592"/>
          </a:xfrm>
          <a:prstGeom prst="rect">
            <a:avLst/>
          </a:prstGeom>
        </p:spPr>
        <p:txBody>
          <a:bodyPr lIns="0" tIns="0" rIns="0" bIns="0" rtlCol="0" anchor="t">
            <a:spAutoFit/>
          </a:bodyPr>
          <a:lstStyle/>
          <a:p>
            <a:pPr algn="l">
              <a:lnSpc>
                <a:spcPts val="4734"/>
              </a:lnSpc>
            </a:pPr>
            <a:r>
              <a:rPr lang="en-US" sz="2367">
                <a:solidFill>
                  <a:srgbClr val="FDFDFD"/>
                </a:solidFill>
                <a:latin typeface="Source Sans Pro"/>
                <a:ea typeface="Source Sans Pro"/>
                <a:cs typeface="Source Sans Pro"/>
                <a:sym typeface="Source Sans Pro"/>
              </a:rPr>
              <a:t>Chi phí xây dựng, triển khai và duy trì thấp</a:t>
            </a:r>
          </a:p>
        </p:txBody>
      </p:sp>
      <p:sp>
        <p:nvSpPr>
          <p:cNvPr id="30" name="TextBox 30"/>
          <p:cNvSpPr txBox="1"/>
          <p:nvPr/>
        </p:nvSpPr>
        <p:spPr>
          <a:xfrm>
            <a:off x="9175114" y="4144474"/>
            <a:ext cx="2623789" cy="1214659"/>
          </a:xfrm>
          <a:prstGeom prst="rect">
            <a:avLst/>
          </a:prstGeom>
        </p:spPr>
        <p:txBody>
          <a:bodyPr lIns="0" tIns="0" rIns="0" bIns="0" rtlCol="0" anchor="t">
            <a:spAutoFit/>
          </a:bodyPr>
          <a:lstStyle/>
          <a:p>
            <a:pPr algn="l">
              <a:lnSpc>
                <a:spcPts val="5005"/>
              </a:lnSpc>
            </a:pPr>
            <a:r>
              <a:rPr lang="en-US" sz="2502">
                <a:solidFill>
                  <a:srgbClr val="FDFDFD"/>
                </a:solidFill>
                <a:latin typeface="Source Sans Pro"/>
                <a:ea typeface="Source Sans Pro"/>
                <a:cs typeface="Source Sans Pro"/>
                <a:sym typeface="Source Sans Pro"/>
              </a:rPr>
              <a:t>Dễ mở rộng trong tương lai</a:t>
            </a:r>
          </a:p>
        </p:txBody>
      </p:sp>
      <p:sp>
        <p:nvSpPr>
          <p:cNvPr id="31" name="TextBox 31"/>
          <p:cNvSpPr txBox="1"/>
          <p:nvPr/>
        </p:nvSpPr>
        <p:spPr>
          <a:xfrm>
            <a:off x="1043657" y="6758890"/>
            <a:ext cx="8220707" cy="940283"/>
          </a:xfrm>
          <a:prstGeom prst="rect">
            <a:avLst/>
          </a:prstGeom>
        </p:spPr>
        <p:txBody>
          <a:bodyPr lIns="0" tIns="0" rIns="0" bIns="0" rtlCol="0" anchor="t">
            <a:spAutoFit/>
          </a:bodyPr>
          <a:lstStyle/>
          <a:p>
            <a:pPr marL="0" lvl="0" indent="0" algn="l">
              <a:lnSpc>
                <a:spcPts val="3823"/>
              </a:lnSpc>
              <a:spcBef>
                <a:spcPct val="0"/>
              </a:spcBef>
            </a:pPr>
            <a:r>
              <a:rPr lang="en-US" sz="2730" spc="-54">
                <a:solidFill>
                  <a:srgbClr val="051D40"/>
                </a:solidFill>
                <a:latin typeface="Montserrat"/>
                <a:ea typeface="Montserrat"/>
                <a:cs typeface="Montserrat"/>
                <a:sym typeface="Montserrat"/>
              </a:rPr>
              <a:t> </a:t>
            </a:r>
            <a:r>
              <a:rPr lang="en-US" sz="2730" spc="-54">
                <a:solidFill>
                  <a:srgbClr val="00569E"/>
                </a:solidFill>
                <a:latin typeface="Montserrat"/>
                <a:ea typeface="Montserrat"/>
                <a:cs typeface="Montserrat"/>
                <a:sym typeface="Montserrat"/>
              </a:rPr>
              <a:t>➡️ </a:t>
            </a:r>
            <a:r>
              <a:rPr lang="en-US" sz="2730" spc="-54">
                <a:solidFill>
                  <a:srgbClr val="051D40"/>
                </a:solidFill>
                <a:latin typeface="Montserrat"/>
                <a:ea typeface="Montserrat"/>
                <a:cs typeface="Montserrat"/>
                <a:sym typeface="Montserrat"/>
              </a:rPr>
              <a:t>Ứng dụng xây dựng thương mại điện tử với kiến trúc microservice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3061529" y="2937389"/>
            <a:ext cx="12164941" cy="4412223"/>
            <a:chOff x="0" y="0"/>
            <a:chExt cx="3203935" cy="1162067"/>
          </a:xfrm>
        </p:grpSpPr>
        <p:sp>
          <p:nvSpPr>
            <p:cNvPr id="6" name="Freeform 6"/>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txBody>
            <a:bodyPr/>
            <a:lstStyle/>
            <a:p>
              <a:endParaRPr lang="en-US"/>
            </a:p>
          </p:txBody>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332775" y="3267746"/>
            <a:ext cx="11622449" cy="2273103"/>
          </a:xfrm>
          <a:prstGeom prst="rect">
            <a:avLst/>
          </a:prstGeom>
        </p:spPr>
        <p:txBody>
          <a:bodyPr lIns="0" tIns="0" rIns="0" bIns="0" rtlCol="0" anchor="t">
            <a:spAutoFit/>
          </a:bodyPr>
          <a:lstStyle/>
          <a:p>
            <a:pPr marL="0" lvl="0" indent="0" algn="ctr">
              <a:lnSpc>
                <a:spcPts val="18560"/>
              </a:lnSpc>
              <a:spcBef>
                <a:spcPct val="0"/>
              </a:spcBef>
            </a:pPr>
            <a:r>
              <a:rPr lang="en-US" sz="13257" dirty="0">
                <a:solidFill>
                  <a:srgbClr val="FFFFFF"/>
                </a:solidFill>
                <a:latin typeface="Open Sans Extra Bold"/>
                <a:ea typeface="Open Sans Extra Bold"/>
                <a:cs typeface="Open Sans Extra Bold"/>
                <a:sym typeface="Open Sans Extra Bold"/>
              </a:rPr>
              <a:t>GIẢI PHÁP</a:t>
            </a:r>
          </a:p>
        </p:txBody>
      </p:sp>
      <p:sp>
        <p:nvSpPr>
          <p:cNvPr id="9" name="TextBox 9"/>
          <p:cNvSpPr txBox="1"/>
          <p:nvPr/>
        </p:nvSpPr>
        <p:spPr>
          <a:xfrm>
            <a:off x="4536264" y="5756824"/>
            <a:ext cx="9215471" cy="869700"/>
          </a:xfrm>
          <a:prstGeom prst="rect">
            <a:avLst/>
          </a:prstGeom>
        </p:spPr>
        <p:txBody>
          <a:bodyPr lIns="0" tIns="0" rIns="0" bIns="0" rtlCol="0" anchor="t">
            <a:spAutoFit/>
          </a:bodyPr>
          <a:lstStyle/>
          <a:p>
            <a:pPr marL="0" lvl="0" indent="0" algn="ctr">
              <a:lnSpc>
                <a:spcPts val="3512"/>
              </a:lnSpc>
              <a:spcBef>
                <a:spcPct val="0"/>
              </a:spcBef>
            </a:pPr>
            <a:r>
              <a:rPr lang="en-US" sz="2508" b="1" spc="-50" dirty="0" err="1">
                <a:solidFill>
                  <a:srgbClr val="FFFFFF"/>
                </a:solidFill>
                <a:latin typeface="Source Sans Pro Bold"/>
                <a:ea typeface="Source Sans Pro Bold"/>
                <a:cs typeface="Source Sans Pro Bold"/>
                <a:sym typeface="Source Sans Pro Bold"/>
              </a:rPr>
              <a:t>Xây</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dựng</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sàn</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thương</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mại</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điện</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tử</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kiến</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trúc</a:t>
            </a:r>
            <a:r>
              <a:rPr lang="en-US" sz="2508" b="1" spc="-50" dirty="0">
                <a:solidFill>
                  <a:srgbClr val="FFFFFF"/>
                </a:solidFill>
                <a:latin typeface="Source Sans Pro Bold"/>
                <a:ea typeface="Source Sans Pro Bold"/>
                <a:cs typeface="Source Sans Pro Bold"/>
                <a:sym typeface="Source Sans Pro Bold"/>
              </a:rPr>
              <a:t> Microservices </a:t>
            </a:r>
            <a:r>
              <a:rPr lang="en-US" sz="2508" b="1" spc="-50" dirty="0" err="1">
                <a:solidFill>
                  <a:srgbClr val="FFFFFF"/>
                </a:solidFill>
                <a:latin typeface="Source Sans Pro Bold"/>
                <a:ea typeface="Source Sans Pro Bold"/>
                <a:cs typeface="Source Sans Pro Bold"/>
                <a:sym typeface="Source Sans Pro Bold"/>
              </a:rPr>
              <a:t>với</a:t>
            </a:r>
            <a:r>
              <a:rPr lang="en-US" sz="2508" b="1" spc="-50" dirty="0">
                <a:solidFill>
                  <a:srgbClr val="FFFFFF"/>
                </a:solidFill>
                <a:latin typeface="Source Sans Pro Bold"/>
                <a:ea typeface="Source Sans Pro Bold"/>
                <a:cs typeface="Source Sans Pro Bold"/>
                <a:sym typeface="Source Sans Pro Bold"/>
              </a:rPr>
              <a:t> chi </a:t>
            </a:r>
            <a:r>
              <a:rPr lang="en-US" sz="2508" b="1" spc="-50" dirty="0" err="1">
                <a:solidFill>
                  <a:srgbClr val="FFFFFF"/>
                </a:solidFill>
                <a:latin typeface="Source Sans Pro Bold"/>
                <a:ea typeface="Source Sans Pro Bold"/>
                <a:cs typeface="Source Sans Pro Bold"/>
                <a:sym typeface="Source Sans Pro Bold"/>
              </a:rPr>
              <a:t>phí</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thấp</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cho</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doanh</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nghiệp</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vừa</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và</a:t>
            </a:r>
            <a:r>
              <a:rPr lang="en-US" sz="2508" b="1" spc="-50" dirty="0">
                <a:solidFill>
                  <a:srgbClr val="FFFFFF"/>
                </a:solidFill>
                <a:latin typeface="Source Sans Pro Bold"/>
                <a:ea typeface="Source Sans Pro Bold"/>
                <a:cs typeface="Source Sans Pro Bold"/>
                <a:sym typeface="Source Sans Pro Bold"/>
              </a:rPr>
              <a:t> </a:t>
            </a:r>
            <a:r>
              <a:rPr lang="en-US" sz="2508" b="1" spc="-50" dirty="0" err="1">
                <a:solidFill>
                  <a:srgbClr val="FFFFFF"/>
                </a:solidFill>
                <a:latin typeface="Source Sans Pro Bold"/>
                <a:ea typeface="Source Sans Pro Bold"/>
                <a:cs typeface="Source Sans Pro Bold"/>
                <a:sym typeface="Source Sans Pro Bold"/>
              </a:rPr>
              <a:t>nhỏ</a:t>
            </a:r>
            <a:endParaRPr lang="en-US" sz="2508" b="1" spc="-50" dirty="0">
              <a:solidFill>
                <a:srgbClr val="FFFFFF"/>
              </a:solidFill>
              <a:latin typeface="Source Sans Pro Bold"/>
              <a:ea typeface="Source Sans Pro Bold"/>
              <a:cs typeface="Source Sans Pro Bold"/>
              <a:sym typeface="Source Sans Pro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0" y="242294"/>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txBody>
            <a:bodyPr/>
            <a:lstStyle/>
            <a:p>
              <a:endParaRPr lang="en-US"/>
            </a:p>
          </p:txBody>
        </p:sp>
        <p:sp>
          <p:nvSpPr>
            <p:cNvPr id="4" name="TextBox 4"/>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2297323"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6" name="Group 6"/>
          <p:cNvGrpSpPr/>
          <p:nvPr/>
        </p:nvGrpSpPr>
        <p:grpSpPr>
          <a:xfrm>
            <a:off x="2272544" y="2466355"/>
            <a:ext cx="4203375" cy="5973865"/>
            <a:chOff x="0" y="0"/>
            <a:chExt cx="1416547" cy="2013207"/>
          </a:xfrm>
        </p:grpSpPr>
        <p:sp>
          <p:nvSpPr>
            <p:cNvPr id="7" name="Freeform 7"/>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txBody>
            <a:bodyPr/>
            <a:lstStyle/>
            <a:p>
              <a:endParaRPr lang="en-US"/>
            </a:p>
          </p:txBody>
        </p:sp>
        <p:sp>
          <p:nvSpPr>
            <p:cNvPr id="8" name="TextBox 8"/>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AutoShape 9"/>
          <p:cNvSpPr/>
          <p:nvPr/>
        </p:nvSpPr>
        <p:spPr>
          <a:xfrm>
            <a:off x="2297323" y="5227111"/>
            <a:ext cx="4154377" cy="0"/>
          </a:xfrm>
          <a:prstGeom prst="line">
            <a:avLst/>
          </a:prstGeom>
          <a:ln w="38100" cap="flat">
            <a:solidFill>
              <a:srgbClr val="145DA0"/>
            </a:solidFill>
            <a:prstDash val="solid"/>
            <a:headEnd type="none" w="sm" len="sm"/>
            <a:tailEnd type="none" w="sm" len="sm"/>
          </a:ln>
        </p:spPr>
        <p:txBody>
          <a:bodyPr/>
          <a:lstStyle/>
          <a:p>
            <a:endParaRPr lang="en-US"/>
          </a:p>
        </p:txBody>
      </p:sp>
      <p:sp>
        <p:nvSpPr>
          <p:cNvPr id="10" name="Freeform 10"/>
          <p:cNvSpPr/>
          <p:nvPr/>
        </p:nvSpPr>
        <p:spPr>
          <a:xfrm>
            <a:off x="7066494"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11" name="Group 11"/>
          <p:cNvGrpSpPr/>
          <p:nvPr/>
        </p:nvGrpSpPr>
        <p:grpSpPr>
          <a:xfrm>
            <a:off x="7041715" y="2466355"/>
            <a:ext cx="4203375" cy="5973865"/>
            <a:chOff x="0" y="0"/>
            <a:chExt cx="1416547" cy="2013207"/>
          </a:xfrm>
        </p:grpSpPr>
        <p:sp>
          <p:nvSpPr>
            <p:cNvPr id="12" name="Freeform 12"/>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txBody>
            <a:bodyPr/>
            <a:lstStyle/>
            <a:p>
              <a:endParaRPr lang="en-US"/>
            </a:p>
          </p:txBody>
        </p:sp>
        <p:sp>
          <p:nvSpPr>
            <p:cNvPr id="13" name="TextBox 13"/>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AutoShape 14"/>
          <p:cNvSpPr/>
          <p:nvPr/>
        </p:nvSpPr>
        <p:spPr>
          <a:xfrm>
            <a:off x="7066494" y="5227111"/>
            <a:ext cx="4154377" cy="0"/>
          </a:xfrm>
          <a:prstGeom prst="line">
            <a:avLst/>
          </a:prstGeom>
          <a:ln w="38100" cap="flat">
            <a:solidFill>
              <a:srgbClr val="145DA0"/>
            </a:solidFill>
            <a:prstDash val="solid"/>
            <a:headEnd type="none" w="sm" len="sm"/>
            <a:tailEnd type="none" w="sm" len="sm"/>
          </a:ln>
        </p:spPr>
        <p:txBody>
          <a:bodyPr/>
          <a:lstStyle/>
          <a:p>
            <a:endParaRPr lang="en-US"/>
          </a:p>
        </p:txBody>
      </p:sp>
      <p:sp>
        <p:nvSpPr>
          <p:cNvPr id="15" name="Freeform 15"/>
          <p:cNvSpPr/>
          <p:nvPr/>
        </p:nvSpPr>
        <p:spPr>
          <a:xfrm>
            <a:off x="11836861"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16" name="Group 16"/>
          <p:cNvGrpSpPr/>
          <p:nvPr/>
        </p:nvGrpSpPr>
        <p:grpSpPr>
          <a:xfrm>
            <a:off x="11812082" y="2466355"/>
            <a:ext cx="4203375" cy="5973865"/>
            <a:chOff x="0" y="0"/>
            <a:chExt cx="1416547" cy="2013207"/>
          </a:xfrm>
        </p:grpSpPr>
        <p:sp>
          <p:nvSpPr>
            <p:cNvPr id="17" name="Freeform 17"/>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txBody>
            <a:bodyPr/>
            <a:lstStyle/>
            <a:p>
              <a:endParaRPr lang="en-US"/>
            </a:p>
          </p:txBody>
        </p:sp>
        <p:sp>
          <p:nvSpPr>
            <p:cNvPr id="18" name="TextBox 18"/>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9" name="AutoShape 19"/>
          <p:cNvSpPr/>
          <p:nvPr/>
        </p:nvSpPr>
        <p:spPr>
          <a:xfrm>
            <a:off x="11836861" y="5227111"/>
            <a:ext cx="4154377" cy="0"/>
          </a:xfrm>
          <a:prstGeom prst="line">
            <a:avLst/>
          </a:prstGeom>
          <a:ln w="38100" cap="flat">
            <a:solidFill>
              <a:srgbClr val="145DA0"/>
            </a:solidFill>
            <a:prstDash val="solid"/>
            <a:headEnd type="none" w="sm" len="sm"/>
            <a:tailEnd type="none" w="sm" len="sm"/>
          </a:ln>
        </p:spPr>
        <p:txBody>
          <a:bodyPr/>
          <a:lstStyle/>
          <a:p>
            <a:endParaRPr lang="en-US"/>
          </a:p>
        </p:txBody>
      </p:sp>
      <p:sp>
        <p:nvSpPr>
          <p:cNvPr id="20" name="Freeform 20"/>
          <p:cNvSpPr/>
          <p:nvPr/>
        </p:nvSpPr>
        <p:spPr>
          <a:xfrm>
            <a:off x="12981503" y="2753413"/>
            <a:ext cx="1768296" cy="1768296"/>
          </a:xfrm>
          <a:custGeom>
            <a:avLst/>
            <a:gdLst/>
            <a:ahLst/>
            <a:cxnLst/>
            <a:rect l="l" t="t" r="r" b="b"/>
            <a:pathLst>
              <a:path w="1768296" h="1768296">
                <a:moveTo>
                  <a:pt x="0" y="0"/>
                </a:moveTo>
                <a:lnTo>
                  <a:pt x="1768296" y="0"/>
                </a:lnTo>
                <a:lnTo>
                  <a:pt x="1768296" y="1768296"/>
                </a:lnTo>
                <a:lnTo>
                  <a:pt x="0" y="176829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21" name="Freeform 21"/>
          <p:cNvSpPr/>
          <p:nvPr/>
        </p:nvSpPr>
        <p:spPr>
          <a:xfrm>
            <a:off x="8311657" y="2753413"/>
            <a:ext cx="1687532" cy="1687532"/>
          </a:xfrm>
          <a:custGeom>
            <a:avLst/>
            <a:gdLst/>
            <a:ahLst/>
            <a:cxnLst/>
            <a:rect l="l" t="t" r="r" b="b"/>
            <a:pathLst>
              <a:path w="1687532" h="1687532">
                <a:moveTo>
                  <a:pt x="0" y="0"/>
                </a:moveTo>
                <a:lnTo>
                  <a:pt x="1687532" y="0"/>
                </a:lnTo>
                <a:lnTo>
                  <a:pt x="1687532" y="1687532"/>
                </a:lnTo>
                <a:lnTo>
                  <a:pt x="0" y="1687532"/>
                </a:lnTo>
                <a:lnTo>
                  <a:pt x="0" y="0"/>
                </a:lnTo>
                <a:close/>
              </a:path>
            </a:pathLst>
          </a:custGeom>
          <a:blipFill>
            <a:blip r:embed="rId5"/>
            <a:stretch>
              <a:fillRect/>
            </a:stretch>
          </a:blipFill>
        </p:spPr>
        <p:txBody>
          <a:bodyPr/>
          <a:lstStyle/>
          <a:p>
            <a:endParaRPr lang="en-US"/>
          </a:p>
        </p:txBody>
      </p:sp>
      <p:sp>
        <p:nvSpPr>
          <p:cNvPr id="22" name="Freeform 22"/>
          <p:cNvSpPr/>
          <p:nvPr/>
        </p:nvSpPr>
        <p:spPr>
          <a:xfrm>
            <a:off x="3623033" y="2753413"/>
            <a:ext cx="1502396" cy="1502396"/>
          </a:xfrm>
          <a:custGeom>
            <a:avLst/>
            <a:gdLst/>
            <a:ahLst/>
            <a:cxnLst/>
            <a:rect l="l" t="t" r="r" b="b"/>
            <a:pathLst>
              <a:path w="1502396" h="1502396">
                <a:moveTo>
                  <a:pt x="0" y="0"/>
                </a:moveTo>
                <a:lnTo>
                  <a:pt x="1502396" y="0"/>
                </a:lnTo>
                <a:lnTo>
                  <a:pt x="1502396" y="1502396"/>
                </a:lnTo>
                <a:lnTo>
                  <a:pt x="0" y="1502396"/>
                </a:lnTo>
                <a:lnTo>
                  <a:pt x="0" y="0"/>
                </a:lnTo>
                <a:close/>
              </a:path>
            </a:pathLst>
          </a:custGeom>
          <a:blipFill>
            <a:blip r:embed="rId6"/>
            <a:stretch>
              <a:fillRect/>
            </a:stretch>
          </a:blipFill>
        </p:spPr>
        <p:txBody>
          <a:bodyPr/>
          <a:lstStyle/>
          <a:p>
            <a:endParaRPr lang="en-US"/>
          </a:p>
        </p:txBody>
      </p:sp>
      <p:grpSp>
        <p:nvGrpSpPr>
          <p:cNvPr id="23" name="Group 23"/>
          <p:cNvGrpSpPr/>
          <p:nvPr/>
        </p:nvGrpSpPr>
        <p:grpSpPr>
          <a:xfrm>
            <a:off x="3843065" y="7298526"/>
            <a:ext cx="974122" cy="97412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25" name="TextBox 25"/>
            <p:cNvSpPr txBox="1"/>
            <p:nvPr/>
          </p:nvSpPr>
          <p:spPr>
            <a:xfrm>
              <a:off x="76200" y="19050"/>
              <a:ext cx="660400" cy="717550"/>
            </a:xfrm>
            <a:prstGeom prst="rect">
              <a:avLst/>
            </a:prstGeom>
          </p:spPr>
          <p:txBody>
            <a:bodyPr lIns="50800" tIns="50800" rIns="50800" bIns="50800" rtlCol="0" anchor="ctr"/>
            <a:lstStyle/>
            <a:p>
              <a:pPr algn="ctr">
                <a:lnSpc>
                  <a:spcPts val="4059"/>
                </a:lnSpc>
              </a:pPr>
              <a:r>
                <a:rPr lang="en-US" sz="2899">
                  <a:solidFill>
                    <a:srgbClr val="FFFFFF"/>
                  </a:solidFill>
                  <a:latin typeface="Open Sans Extra Bold"/>
                  <a:ea typeface="Open Sans Extra Bold"/>
                  <a:cs typeface="Open Sans Extra Bold"/>
                  <a:sym typeface="Open Sans Extra Bold"/>
                </a:rPr>
                <a:t>1</a:t>
              </a:r>
            </a:p>
          </p:txBody>
        </p:sp>
      </p:grpSp>
      <p:sp>
        <p:nvSpPr>
          <p:cNvPr id="26" name="TextBox 26"/>
          <p:cNvSpPr txBox="1"/>
          <p:nvPr/>
        </p:nvSpPr>
        <p:spPr>
          <a:xfrm>
            <a:off x="2779356" y="942975"/>
            <a:ext cx="12729288" cy="771523"/>
          </a:xfrm>
          <a:prstGeom prst="rect">
            <a:avLst/>
          </a:prstGeom>
        </p:spPr>
        <p:txBody>
          <a:bodyPr lIns="0" tIns="0" rIns="0" bIns="0" rtlCol="0" anchor="t">
            <a:spAutoFit/>
          </a:bodyPr>
          <a:lstStyle/>
          <a:p>
            <a:pPr marL="0" lvl="0" indent="0" algn="ctr">
              <a:lnSpc>
                <a:spcPts val="6300"/>
              </a:lnSpc>
              <a:spcBef>
                <a:spcPct val="0"/>
              </a:spcBef>
            </a:pPr>
            <a:r>
              <a:rPr lang="en-US" sz="4500">
                <a:solidFill>
                  <a:srgbClr val="051D40"/>
                </a:solidFill>
                <a:latin typeface="Open Sans Extra Bold"/>
                <a:ea typeface="Open Sans Extra Bold"/>
                <a:cs typeface="Open Sans Extra Bold"/>
                <a:sym typeface="Open Sans Extra Bold"/>
              </a:rPr>
              <a:t>Mục tiêu</a:t>
            </a:r>
          </a:p>
        </p:txBody>
      </p:sp>
      <p:sp>
        <p:nvSpPr>
          <p:cNvPr id="27" name="TextBox 27"/>
          <p:cNvSpPr txBox="1"/>
          <p:nvPr/>
        </p:nvSpPr>
        <p:spPr>
          <a:xfrm>
            <a:off x="7365822" y="5643737"/>
            <a:ext cx="3579202" cy="1407139"/>
          </a:xfrm>
          <a:prstGeom prst="rect">
            <a:avLst/>
          </a:prstGeom>
        </p:spPr>
        <p:txBody>
          <a:bodyPr lIns="0" tIns="0" rIns="0" bIns="0" rtlCol="0" anchor="t">
            <a:spAutoFit/>
          </a:bodyPr>
          <a:lstStyle/>
          <a:p>
            <a:pPr algn="ctr">
              <a:lnSpc>
                <a:spcPts val="3794"/>
              </a:lnSpc>
            </a:pPr>
            <a:r>
              <a:rPr lang="en-US" sz="2710" spc="-54">
                <a:solidFill>
                  <a:srgbClr val="145DA0"/>
                </a:solidFill>
                <a:latin typeface="Source Sans Pro"/>
                <a:ea typeface="Source Sans Pro"/>
                <a:cs typeface="Source Sans Pro"/>
                <a:sym typeface="Source Sans Pro"/>
              </a:rPr>
              <a:t>Hệ thống chịu tải cao đáp ứng số lượng lớn người dùng</a:t>
            </a:r>
          </a:p>
        </p:txBody>
      </p:sp>
      <p:sp>
        <p:nvSpPr>
          <p:cNvPr id="28" name="TextBox 28"/>
          <p:cNvSpPr txBox="1"/>
          <p:nvPr/>
        </p:nvSpPr>
        <p:spPr>
          <a:xfrm>
            <a:off x="7398504" y="4546501"/>
            <a:ext cx="3490991" cy="414439"/>
          </a:xfrm>
          <a:prstGeom prst="rect">
            <a:avLst/>
          </a:prstGeom>
        </p:spPr>
        <p:txBody>
          <a:bodyPr lIns="0" tIns="0" rIns="0" bIns="0" rtlCol="0" anchor="t">
            <a:spAutoFit/>
          </a:bodyPr>
          <a:lstStyle/>
          <a:p>
            <a:pPr algn="ctr">
              <a:lnSpc>
                <a:spcPts val="3406"/>
              </a:lnSpc>
              <a:spcBef>
                <a:spcPct val="0"/>
              </a:spcBef>
            </a:pPr>
            <a:r>
              <a:rPr lang="en-US" sz="2433" b="1">
                <a:solidFill>
                  <a:srgbClr val="145DA0"/>
                </a:solidFill>
                <a:latin typeface="Montserrat Bold"/>
                <a:ea typeface="Montserrat Bold"/>
                <a:cs typeface="Montserrat Bold"/>
                <a:sym typeface="Montserrat Bold"/>
              </a:rPr>
              <a:t>Chịu tải cao</a:t>
            </a:r>
          </a:p>
        </p:txBody>
      </p:sp>
      <p:sp>
        <p:nvSpPr>
          <p:cNvPr id="29" name="TextBox 29"/>
          <p:cNvSpPr txBox="1"/>
          <p:nvPr/>
        </p:nvSpPr>
        <p:spPr>
          <a:xfrm>
            <a:off x="12124168" y="5634212"/>
            <a:ext cx="3579202" cy="1117548"/>
          </a:xfrm>
          <a:prstGeom prst="rect">
            <a:avLst/>
          </a:prstGeom>
        </p:spPr>
        <p:txBody>
          <a:bodyPr lIns="0" tIns="0" rIns="0" bIns="0" rtlCol="0" anchor="t">
            <a:spAutoFit/>
          </a:bodyPr>
          <a:lstStyle/>
          <a:p>
            <a:pPr algn="ctr">
              <a:lnSpc>
                <a:spcPts val="2954"/>
              </a:lnSpc>
            </a:pPr>
            <a:r>
              <a:rPr lang="en-US" sz="2110" spc="-42">
                <a:solidFill>
                  <a:srgbClr val="145DA0"/>
                </a:solidFill>
                <a:latin typeface="Poppins"/>
                <a:ea typeface="Poppins"/>
                <a:cs typeface="Poppins"/>
                <a:sym typeface="Poppins"/>
              </a:rPr>
              <a:t>Khả năng mở rộng trong tương lai khi bussiness lớn mạnh</a:t>
            </a:r>
          </a:p>
        </p:txBody>
      </p:sp>
      <p:sp>
        <p:nvSpPr>
          <p:cNvPr id="30" name="TextBox 30"/>
          <p:cNvSpPr txBox="1"/>
          <p:nvPr/>
        </p:nvSpPr>
        <p:spPr>
          <a:xfrm>
            <a:off x="11836861" y="4666622"/>
            <a:ext cx="4294927" cy="341358"/>
          </a:xfrm>
          <a:prstGeom prst="rect">
            <a:avLst/>
          </a:prstGeom>
        </p:spPr>
        <p:txBody>
          <a:bodyPr lIns="0" tIns="0" rIns="0" bIns="0" rtlCol="0" anchor="t">
            <a:spAutoFit/>
          </a:bodyPr>
          <a:lstStyle/>
          <a:p>
            <a:pPr algn="ctr">
              <a:lnSpc>
                <a:spcPts val="2706"/>
              </a:lnSpc>
              <a:spcBef>
                <a:spcPct val="0"/>
              </a:spcBef>
            </a:pPr>
            <a:r>
              <a:rPr lang="en-US" sz="1933" b="1">
                <a:solidFill>
                  <a:srgbClr val="145DA0"/>
                </a:solidFill>
                <a:latin typeface="Montserrat Bold"/>
                <a:ea typeface="Montserrat Bold"/>
                <a:cs typeface="Montserrat Bold"/>
                <a:sym typeface="Montserrat Bold"/>
              </a:rPr>
              <a:t>Khả năng mở rộng</a:t>
            </a:r>
          </a:p>
        </p:txBody>
      </p:sp>
      <p:sp>
        <p:nvSpPr>
          <p:cNvPr id="31" name="TextBox 31"/>
          <p:cNvSpPr txBox="1"/>
          <p:nvPr/>
        </p:nvSpPr>
        <p:spPr>
          <a:xfrm>
            <a:off x="2586213" y="5643737"/>
            <a:ext cx="3579202" cy="1217388"/>
          </a:xfrm>
          <a:prstGeom prst="rect">
            <a:avLst/>
          </a:prstGeom>
        </p:spPr>
        <p:txBody>
          <a:bodyPr lIns="0" tIns="0" rIns="0" bIns="0" rtlCol="0" anchor="t">
            <a:spAutoFit/>
          </a:bodyPr>
          <a:lstStyle/>
          <a:p>
            <a:pPr algn="ctr">
              <a:lnSpc>
                <a:spcPts val="3234"/>
              </a:lnSpc>
            </a:pPr>
            <a:r>
              <a:rPr lang="en-US" sz="2310" spc="-46">
                <a:solidFill>
                  <a:srgbClr val="145DA0"/>
                </a:solidFill>
                <a:latin typeface="Source Sans Pro"/>
                <a:ea typeface="Source Sans Pro"/>
                <a:cs typeface="Source Sans Pro"/>
                <a:sym typeface="Source Sans Pro"/>
              </a:rPr>
              <a:t>Tối ưu chi phí phát triển một hệ thống Microservices dành cho doanh nghiệp vừa và nhỏ </a:t>
            </a:r>
          </a:p>
        </p:txBody>
      </p:sp>
      <p:sp>
        <p:nvSpPr>
          <p:cNvPr id="32" name="TextBox 32"/>
          <p:cNvSpPr txBox="1"/>
          <p:nvPr/>
        </p:nvSpPr>
        <p:spPr>
          <a:xfrm>
            <a:off x="2584630" y="4503650"/>
            <a:ext cx="3490991" cy="414439"/>
          </a:xfrm>
          <a:prstGeom prst="rect">
            <a:avLst/>
          </a:prstGeom>
        </p:spPr>
        <p:txBody>
          <a:bodyPr lIns="0" tIns="0" rIns="0" bIns="0" rtlCol="0" anchor="t">
            <a:spAutoFit/>
          </a:bodyPr>
          <a:lstStyle/>
          <a:p>
            <a:pPr algn="ctr">
              <a:lnSpc>
                <a:spcPts val="3406"/>
              </a:lnSpc>
              <a:spcBef>
                <a:spcPct val="0"/>
              </a:spcBef>
            </a:pPr>
            <a:r>
              <a:rPr lang="en-US" sz="2433" b="1">
                <a:solidFill>
                  <a:srgbClr val="145DA0"/>
                </a:solidFill>
                <a:latin typeface="Montserrat Bold"/>
                <a:ea typeface="Montserrat Bold"/>
                <a:cs typeface="Montserrat Bold"/>
                <a:sym typeface="Montserrat Bold"/>
              </a:rPr>
              <a:t>Chi phí thấp</a:t>
            </a:r>
          </a:p>
        </p:txBody>
      </p:sp>
      <p:grpSp>
        <p:nvGrpSpPr>
          <p:cNvPr id="33" name="Group 33"/>
          <p:cNvGrpSpPr/>
          <p:nvPr/>
        </p:nvGrpSpPr>
        <p:grpSpPr>
          <a:xfrm>
            <a:off x="8656341" y="7298526"/>
            <a:ext cx="974122" cy="974122"/>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35" name="TextBox 35"/>
            <p:cNvSpPr txBox="1"/>
            <p:nvPr/>
          </p:nvSpPr>
          <p:spPr>
            <a:xfrm>
              <a:off x="76200" y="19050"/>
              <a:ext cx="660400" cy="717550"/>
            </a:xfrm>
            <a:prstGeom prst="rect">
              <a:avLst/>
            </a:prstGeom>
          </p:spPr>
          <p:txBody>
            <a:bodyPr lIns="50800" tIns="50800" rIns="50800" bIns="50800" rtlCol="0" anchor="ctr"/>
            <a:lstStyle/>
            <a:p>
              <a:pPr algn="ctr">
                <a:lnSpc>
                  <a:spcPts val="4059"/>
                </a:lnSpc>
              </a:pPr>
              <a:r>
                <a:rPr lang="en-US" sz="2899">
                  <a:solidFill>
                    <a:srgbClr val="FFFFFF"/>
                  </a:solidFill>
                  <a:latin typeface="Open Sans Extra Bold"/>
                  <a:ea typeface="Open Sans Extra Bold"/>
                  <a:cs typeface="Open Sans Extra Bold"/>
                  <a:sym typeface="Open Sans Extra Bold"/>
                </a:rPr>
                <a:t>2</a:t>
              </a:r>
            </a:p>
          </p:txBody>
        </p:sp>
      </p:grpSp>
      <p:grpSp>
        <p:nvGrpSpPr>
          <p:cNvPr id="36" name="Group 36"/>
          <p:cNvGrpSpPr/>
          <p:nvPr/>
        </p:nvGrpSpPr>
        <p:grpSpPr>
          <a:xfrm>
            <a:off x="13497263" y="7298526"/>
            <a:ext cx="974122" cy="974122"/>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38" name="TextBox 38"/>
            <p:cNvSpPr txBox="1"/>
            <p:nvPr/>
          </p:nvSpPr>
          <p:spPr>
            <a:xfrm>
              <a:off x="76200" y="19050"/>
              <a:ext cx="660400" cy="717550"/>
            </a:xfrm>
            <a:prstGeom prst="rect">
              <a:avLst/>
            </a:prstGeom>
          </p:spPr>
          <p:txBody>
            <a:bodyPr lIns="50800" tIns="50800" rIns="50800" bIns="50800" rtlCol="0" anchor="ctr"/>
            <a:lstStyle/>
            <a:p>
              <a:pPr algn="ctr">
                <a:lnSpc>
                  <a:spcPts val="4059"/>
                </a:lnSpc>
              </a:pPr>
              <a:r>
                <a:rPr lang="en-US" sz="2899">
                  <a:solidFill>
                    <a:srgbClr val="FFFFFF"/>
                  </a:solidFill>
                  <a:latin typeface="Open Sans Extra Bold"/>
                  <a:ea typeface="Open Sans Extra Bold"/>
                  <a:cs typeface="Open Sans Extra Bold"/>
                  <a:sym typeface="Open Sans Extra Bold"/>
                </a:rPr>
                <a:t>3</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a:off x="232204" y="8594077"/>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US"/>
          </a:p>
        </p:txBody>
      </p:sp>
      <p:sp>
        <p:nvSpPr>
          <p:cNvPr id="3" name="Freeform 3"/>
          <p:cNvSpPr/>
          <p:nvPr/>
        </p:nvSpPr>
        <p:spPr>
          <a:xfrm>
            <a:off x="6224860" y="8594077"/>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US"/>
          </a:p>
        </p:txBody>
      </p:sp>
      <p:sp>
        <p:nvSpPr>
          <p:cNvPr id="4" name="Freeform 4"/>
          <p:cNvSpPr/>
          <p:nvPr/>
        </p:nvSpPr>
        <p:spPr>
          <a:xfrm>
            <a:off x="12213997" y="8594077"/>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US"/>
          </a:p>
        </p:txBody>
      </p:sp>
      <p:grpSp>
        <p:nvGrpSpPr>
          <p:cNvPr id="5" name="Group 5"/>
          <p:cNvGrpSpPr/>
          <p:nvPr/>
        </p:nvGrpSpPr>
        <p:grpSpPr>
          <a:xfrm>
            <a:off x="12213997" y="4206398"/>
            <a:ext cx="5841799" cy="5146658"/>
            <a:chOff x="0" y="0"/>
            <a:chExt cx="1554321" cy="1369365"/>
          </a:xfrm>
        </p:grpSpPr>
        <p:sp>
          <p:nvSpPr>
            <p:cNvPr id="6" name="Freeform 6"/>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US"/>
            </a:p>
          </p:txBody>
        </p:sp>
        <p:sp>
          <p:nvSpPr>
            <p:cNvPr id="7" name="TextBox 7"/>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8" name="Group 8"/>
          <p:cNvGrpSpPr/>
          <p:nvPr/>
        </p:nvGrpSpPr>
        <p:grpSpPr>
          <a:xfrm>
            <a:off x="6224860" y="4206398"/>
            <a:ext cx="5841799" cy="5146658"/>
            <a:chOff x="0" y="0"/>
            <a:chExt cx="1554321" cy="1369365"/>
          </a:xfrm>
        </p:grpSpPr>
        <p:sp>
          <p:nvSpPr>
            <p:cNvPr id="9" name="Freeform 9"/>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US"/>
            </a:p>
          </p:txBody>
        </p:sp>
        <p:sp>
          <p:nvSpPr>
            <p:cNvPr id="10" name="TextBox 10"/>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1" name="Group 11"/>
          <p:cNvGrpSpPr/>
          <p:nvPr/>
        </p:nvGrpSpPr>
        <p:grpSpPr>
          <a:xfrm>
            <a:off x="232204" y="4206398"/>
            <a:ext cx="5841799" cy="5146658"/>
            <a:chOff x="0" y="0"/>
            <a:chExt cx="1554321" cy="1369365"/>
          </a:xfrm>
        </p:grpSpPr>
        <p:sp>
          <p:nvSpPr>
            <p:cNvPr id="12" name="Freeform 12"/>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US"/>
            </a:p>
          </p:txBody>
        </p:sp>
        <p:sp>
          <p:nvSpPr>
            <p:cNvPr id="13" name="TextBox 13"/>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4" name="Group 14"/>
          <p:cNvGrpSpPr/>
          <p:nvPr/>
        </p:nvGrpSpPr>
        <p:grpSpPr>
          <a:xfrm>
            <a:off x="-2123887" y="-2346523"/>
            <a:ext cx="4693046" cy="469304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5573718" y="7940477"/>
            <a:ext cx="4693046" cy="469304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384604" y="4355703"/>
            <a:ext cx="5570690" cy="3133474"/>
            <a:chOff x="0" y="0"/>
            <a:chExt cx="11289030" cy="6350000"/>
          </a:xfrm>
        </p:grpSpPr>
        <p:sp>
          <p:nvSpPr>
            <p:cNvPr id="21" name="Freeform 21"/>
            <p:cNvSpPr/>
            <p:nvPr/>
          </p:nvSpPr>
          <p:spPr>
            <a:xfrm>
              <a:off x="0" y="0"/>
              <a:ext cx="11287760" cy="6350000"/>
            </a:xfrm>
            <a:custGeom>
              <a:avLst/>
              <a:gdLst/>
              <a:ahLst/>
              <a:cxnLst/>
              <a:rect l="l" t="t" r="r" b="b"/>
              <a:pathLst>
                <a:path w="11287760" h="635000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3"/>
              <a:stretch>
                <a:fillRect t="-16673" b="-16673"/>
              </a:stretch>
            </a:blipFill>
          </p:spPr>
          <p:txBody>
            <a:bodyPr/>
            <a:lstStyle/>
            <a:p>
              <a:endParaRPr lang="en-US"/>
            </a:p>
          </p:txBody>
        </p:sp>
      </p:grpSp>
      <p:grpSp>
        <p:nvGrpSpPr>
          <p:cNvPr id="22" name="Group 22"/>
          <p:cNvGrpSpPr/>
          <p:nvPr/>
        </p:nvGrpSpPr>
        <p:grpSpPr>
          <a:xfrm>
            <a:off x="6358655" y="4355703"/>
            <a:ext cx="5570690" cy="3133474"/>
            <a:chOff x="0" y="0"/>
            <a:chExt cx="11289030" cy="6350000"/>
          </a:xfrm>
        </p:grpSpPr>
        <p:sp>
          <p:nvSpPr>
            <p:cNvPr id="23" name="Freeform 23"/>
            <p:cNvSpPr/>
            <p:nvPr/>
          </p:nvSpPr>
          <p:spPr>
            <a:xfrm>
              <a:off x="0" y="0"/>
              <a:ext cx="11287760" cy="6350000"/>
            </a:xfrm>
            <a:custGeom>
              <a:avLst/>
              <a:gdLst/>
              <a:ahLst/>
              <a:cxnLst/>
              <a:rect l="l" t="t" r="r" b="b"/>
              <a:pathLst>
                <a:path w="11287760" h="635000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4"/>
              <a:stretch>
                <a:fillRect t="-16673" b="-16673"/>
              </a:stretch>
            </a:blipFill>
          </p:spPr>
          <p:txBody>
            <a:bodyPr/>
            <a:lstStyle/>
            <a:p>
              <a:endParaRPr lang="en-US"/>
            </a:p>
          </p:txBody>
        </p:sp>
      </p:grpSp>
      <p:grpSp>
        <p:nvGrpSpPr>
          <p:cNvPr id="24" name="Group 24"/>
          <p:cNvGrpSpPr/>
          <p:nvPr/>
        </p:nvGrpSpPr>
        <p:grpSpPr>
          <a:xfrm>
            <a:off x="12349552" y="4354040"/>
            <a:ext cx="5570690" cy="3133474"/>
            <a:chOff x="0" y="0"/>
            <a:chExt cx="11289030" cy="6350000"/>
          </a:xfrm>
        </p:grpSpPr>
        <p:sp>
          <p:nvSpPr>
            <p:cNvPr id="25" name="Freeform 25"/>
            <p:cNvSpPr/>
            <p:nvPr/>
          </p:nvSpPr>
          <p:spPr>
            <a:xfrm>
              <a:off x="0" y="0"/>
              <a:ext cx="11287760" cy="6350000"/>
            </a:xfrm>
            <a:custGeom>
              <a:avLst/>
              <a:gdLst/>
              <a:ahLst/>
              <a:cxnLst/>
              <a:rect l="l" t="t" r="r" b="b"/>
              <a:pathLst>
                <a:path w="11287760" h="635000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5"/>
              <a:stretch>
                <a:fillRect l="-6244" r="-6244"/>
              </a:stretch>
            </a:blipFill>
          </p:spPr>
          <p:txBody>
            <a:bodyPr/>
            <a:lstStyle/>
            <a:p>
              <a:endParaRPr lang="en-US"/>
            </a:p>
          </p:txBody>
        </p:sp>
      </p:grpSp>
      <p:sp>
        <p:nvSpPr>
          <p:cNvPr id="26" name="TextBox 26"/>
          <p:cNvSpPr txBox="1"/>
          <p:nvPr/>
        </p:nvSpPr>
        <p:spPr>
          <a:xfrm>
            <a:off x="5088888" y="830490"/>
            <a:ext cx="8110224" cy="879901"/>
          </a:xfrm>
          <a:prstGeom prst="rect">
            <a:avLst/>
          </a:prstGeom>
        </p:spPr>
        <p:txBody>
          <a:bodyPr lIns="0" tIns="0" rIns="0" bIns="0" rtlCol="0" anchor="t">
            <a:spAutoFit/>
          </a:bodyPr>
          <a:lstStyle/>
          <a:p>
            <a:pPr marL="0" lvl="0" indent="0" algn="ctr">
              <a:lnSpc>
                <a:spcPts val="7151"/>
              </a:lnSpc>
              <a:spcBef>
                <a:spcPct val="0"/>
              </a:spcBef>
            </a:pPr>
            <a:r>
              <a:rPr lang="en-US" sz="5108">
                <a:solidFill>
                  <a:srgbClr val="FDFDFD"/>
                </a:solidFill>
                <a:latin typeface="Open Sans Extra Bold"/>
                <a:ea typeface="Open Sans Extra Bold"/>
                <a:cs typeface="Open Sans Extra Bold"/>
                <a:sym typeface="Open Sans Extra Bold"/>
              </a:rPr>
              <a:t>Công nghệ áp dụng</a:t>
            </a:r>
          </a:p>
        </p:txBody>
      </p:sp>
      <p:sp>
        <p:nvSpPr>
          <p:cNvPr id="27" name="TextBox 27"/>
          <p:cNvSpPr txBox="1"/>
          <p:nvPr/>
        </p:nvSpPr>
        <p:spPr>
          <a:xfrm>
            <a:off x="1408391" y="7566874"/>
            <a:ext cx="3833968" cy="389605"/>
          </a:xfrm>
          <a:prstGeom prst="rect">
            <a:avLst/>
          </a:prstGeom>
        </p:spPr>
        <p:txBody>
          <a:bodyPr lIns="0" tIns="0" rIns="0" bIns="0" rtlCol="0" anchor="t">
            <a:spAutoFit/>
          </a:bodyPr>
          <a:lstStyle/>
          <a:p>
            <a:pPr marL="0" lvl="0" indent="0" algn="ctr">
              <a:lnSpc>
                <a:spcPts val="3200"/>
              </a:lnSpc>
              <a:spcBef>
                <a:spcPct val="0"/>
              </a:spcBef>
            </a:pPr>
            <a:r>
              <a:rPr lang="en-US" sz="2286" b="1">
                <a:solidFill>
                  <a:srgbClr val="051D40"/>
                </a:solidFill>
                <a:latin typeface="Montserrat Bold"/>
                <a:ea typeface="Montserrat Bold"/>
                <a:cs typeface="Montserrat Bold"/>
                <a:sym typeface="Montserrat Bold"/>
              </a:rPr>
              <a:t>Frontend</a:t>
            </a:r>
          </a:p>
        </p:txBody>
      </p:sp>
      <p:sp>
        <p:nvSpPr>
          <p:cNvPr id="28" name="TextBox 28"/>
          <p:cNvSpPr txBox="1"/>
          <p:nvPr/>
        </p:nvSpPr>
        <p:spPr>
          <a:xfrm>
            <a:off x="521010" y="8137326"/>
            <a:ext cx="5297877" cy="480514"/>
          </a:xfrm>
          <a:prstGeom prst="rect">
            <a:avLst/>
          </a:prstGeom>
        </p:spPr>
        <p:txBody>
          <a:bodyPr lIns="0" tIns="0" rIns="0" bIns="0" rtlCol="0" anchor="t">
            <a:spAutoFit/>
          </a:bodyPr>
          <a:lstStyle/>
          <a:p>
            <a:pPr marL="0" lvl="0" indent="0" algn="ctr">
              <a:lnSpc>
                <a:spcPts val="3964"/>
              </a:lnSpc>
              <a:spcBef>
                <a:spcPct val="0"/>
              </a:spcBef>
            </a:pPr>
            <a:r>
              <a:rPr lang="en-US" sz="2832" spc="-56">
                <a:solidFill>
                  <a:srgbClr val="051D40"/>
                </a:solidFill>
                <a:latin typeface="Source Sans Pro"/>
                <a:ea typeface="Source Sans Pro"/>
                <a:cs typeface="Source Sans Pro"/>
                <a:sym typeface="Source Sans Pro"/>
              </a:rPr>
              <a:t>Xây dựng UI bằng React</a:t>
            </a:r>
          </a:p>
        </p:txBody>
      </p:sp>
      <p:sp>
        <p:nvSpPr>
          <p:cNvPr id="29" name="TextBox 29"/>
          <p:cNvSpPr txBox="1"/>
          <p:nvPr/>
        </p:nvSpPr>
        <p:spPr>
          <a:xfrm>
            <a:off x="7382443" y="7645180"/>
            <a:ext cx="3833968" cy="389605"/>
          </a:xfrm>
          <a:prstGeom prst="rect">
            <a:avLst/>
          </a:prstGeom>
        </p:spPr>
        <p:txBody>
          <a:bodyPr lIns="0" tIns="0" rIns="0" bIns="0" rtlCol="0" anchor="t">
            <a:spAutoFit/>
          </a:bodyPr>
          <a:lstStyle/>
          <a:p>
            <a:pPr marL="0" lvl="0" indent="0" algn="ctr">
              <a:lnSpc>
                <a:spcPts val="3200"/>
              </a:lnSpc>
              <a:spcBef>
                <a:spcPct val="0"/>
              </a:spcBef>
            </a:pPr>
            <a:r>
              <a:rPr lang="en-US" sz="2286" b="1">
                <a:solidFill>
                  <a:srgbClr val="051D40"/>
                </a:solidFill>
                <a:latin typeface="Montserrat Bold"/>
                <a:ea typeface="Montserrat Bold"/>
                <a:cs typeface="Montserrat Bold"/>
                <a:sym typeface="Montserrat Bold"/>
              </a:rPr>
              <a:t>Backend</a:t>
            </a:r>
          </a:p>
        </p:txBody>
      </p:sp>
      <p:sp>
        <p:nvSpPr>
          <p:cNvPr id="30" name="TextBox 30"/>
          <p:cNvSpPr txBox="1"/>
          <p:nvPr/>
        </p:nvSpPr>
        <p:spPr>
          <a:xfrm>
            <a:off x="6495061" y="8215632"/>
            <a:ext cx="5297877" cy="480514"/>
          </a:xfrm>
          <a:prstGeom prst="rect">
            <a:avLst/>
          </a:prstGeom>
        </p:spPr>
        <p:txBody>
          <a:bodyPr lIns="0" tIns="0" rIns="0" bIns="0" rtlCol="0" anchor="t">
            <a:spAutoFit/>
          </a:bodyPr>
          <a:lstStyle/>
          <a:p>
            <a:pPr marL="0" lvl="0" indent="0" algn="ctr">
              <a:lnSpc>
                <a:spcPts val="3964"/>
              </a:lnSpc>
              <a:spcBef>
                <a:spcPct val="0"/>
              </a:spcBef>
            </a:pPr>
            <a:r>
              <a:rPr lang="en-US" sz="2832" spc="-56">
                <a:solidFill>
                  <a:srgbClr val="051D40"/>
                </a:solidFill>
                <a:latin typeface="Source Sans Pro"/>
                <a:ea typeface="Source Sans Pro"/>
                <a:cs typeface="Source Sans Pro"/>
                <a:sym typeface="Source Sans Pro"/>
              </a:rPr>
              <a:t>Xây dựng API bằng NestJS</a:t>
            </a:r>
          </a:p>
        </p:txBody>
      </p:sp>
      <p:sp>
        <p:nvSpPr>
          <p:cNvPr id="31" name="TextBox 31"/>
          <p:cNvSpPr txBox="1"/>
          <p:nvPr/>
        </p:nvSpPr>
        <p:spPr>
          <a:xfrm>
            <a:off x="13356494" y="7723487"/>
            <a:ext cx="3833968" cy="389605"/>
          </a:xfrm>
          <a:prstGeom prst="rect">
            <a:avLst/>
          </a:prstGeom>
        </p:spPr>
        <p:txBody>
          <a:bodyPr lIns="0" tIns="0" rIns="0" bIns="0" rtlCol="0" anchor="t">
            <a:spAutoFit/>
          </a:bodyPr>
          <a:lstStyle/>
          <a:p>
            <a:pPr marL="0" lvl="0" indent="0" algn="ctr">
              <a:lnSpc>
                <a:spcPts val="3200"/>
              </a:lnSpc>
              <a:spcBef>
                <a:spcPct val="0"/>
              </a:spcBef>
            </a:pPr>
            <a:r>
              <a:rPr lang="en-US" sz="2286" b="1">
                <a:solidFill>
                  <a:srgbClr val="051D40"/>
                </a:solidFill>
                <a:latin typeface="Montserrat Bold"/>
                <a:ea typeface="Montserrat Bold"/>
                <a:cs typeface="Montserrat Bold"/>
                <a:sym typeface="Montserrat Bold"/>
              </a:rPr>
              <a:t>Hệ thống</a:t>
            </a:r>
          </a:p>
        </p:txBody>
      </p:sp>
      <p:sp>
        <p:nvSpPr>
          <p:cNvPr id="32" name="TextBox 32"/>
          <p:cNvSpPr txBox="1"/>
          <p:nvPr/>
        </p:nvSpPr>
        <p:spPr>
          <a:xfrm>
            <a:off x="12622364" y="8215632"/>
            <a:ext cx="5297877" cy="480489"/>
          </a:xfrm>
          <a:prstGeom prst="rect">
            <a:avLst/>
          </a:prstGeom>
        </p:spPr>
        <p:txBody>
          <a:bodyPr lIns="0" tIns="0" rIns="0" bIns="0" rtlCol="0" anchor="t">
            <a:spAutoFit/>
          </a:bodyPr>
          <a:lstStyle/>
          <a:p>
            <a:pPr marL="0" lvl="0" indent="0" algn="ctr">
              <a:lnSpc>
                <a:spcPts val="3964"/>
              </a:lnSpc>
              <a:spcBef>
                <a:spcPct val="0"/>
              </a:spcBef>
            </a:pPr>
            <a:r>
              <a:rPr lang="en-US" sz="2832" spc="-56">
                <a:solidFill>
                  <a:srgbClr val="051D40"/>
                </a:solidFill>
                <a:latin typeface="Source Sans Pro"/>
                <a:ea typeface="Source Sans Pro"/>
                <a:cs typeface="Source Sans Pro"/>
                <a:sym typeface="Source Sans Pro"/>
              </a:rPr>
              <a:t>Hệ thống quản lý service BE</a:t>
            </a:r>
          </a:p>
        </p:txBody>
      </p:sp>
      <p:grpSp>
        <p:nvGrpSpPr>
          <p:cNvPr id="33" name="Group 33"/>
          <p:cNvGrpSpPr/>
          <p:nvPr/>
        </p:nvGrpSpPr>
        <p:grpSpPr>
          <a:xfrm>
            <a:off x="4485136" y="2272367"/>
            <a:ext cx="8871358" cy="1640239"/>
            <a:chOff x="0" y="0"/>
            <a:chExt cx="2360392" cy="436416"/>
          </a:xfrm>
        </p:grpSpPr>
        <p:sp>
          <p:nvSpPr>
            <p:cNvPr id="34" name="Freeform 34"/>
            <p:cNvSpPr/>
            <p:nvPr/>
          </p:nvSpPr>
          <p:spPr>
            <a:xfrm>
              <a:off x="0" y="0"/>
              <a:ext cx="2360392" cy="436416"/>
            </a:xfrm>
            <a:custGeom>
              <a:avLst/>
              <a:gdLst/>
              <a:ahLst/>
              <a:cxnLst/>
              <a:rect l="l" t="t" r="r" b="b"/>
              <a:pathLst>
                <a:path w="2360392" h="436416">
                  <a:moveTo>
                    <a:pt x="38398" y="0"/>
                  </a:moveTo>
                  <a:lnTo>
                    <a:pt x="2321993" y="0"/>
                  </a:lnTo>
                  <a:cubicBezTo>
                    <a:pt x="2332177" y="0"/>
                    <a:pt x="2341944" y="4046"/>
                    <a:pt x="2349145" y="11247"/>
                  </a:cubicBezTo>
                  <a:cubicBezTo>
                    <a:pt x="2356346" y="18448"/>
                    <a:pt x="2360392" y="28214"/>
                    <a:pt x="2360392" y="38398"/>
                  </a:cubicBezTo>
                  <a:lnTo>
                    <a:pt x="2360392" y="398018"/>
                  </a:lnTo>
                  <a:cubicBezTo>
                    <a:pt x="2360392" y="408202"/>
                    <a:pt x="2356346" y="417969"/>
                    <a:pt x="2349145" y="425170"/>
                  </a:cubicBezTo>
                  <a:cubicBezTo>
                    <a:pt x="2341944" y="432371"/>
                    <a:pt x="2332177" y="436416"/>
                    <a:pt x="2321993" y="436416"/>
                  </a:cubicBezTo>
                  <a:lnTo>
                    <a:pt x="38398" y="436416"/>
                  </a:lnTo>
                  <a:cubicBezTo>
                    <a:pt x="28214" y="436416"/>
                    <a:pt x="18448" y="432371"/>
                    <a:pt x="11247" y="425170"/>
                  </a:cubicBezTo>
                  <a:cubicBezTo>
                    <a:pt x="4046" y="417969"/>
                    <a:pt x="0" y="408202"/>
                    <a:pt x="0" y="398018"/>
                  </a:cubicBezTo>
                  <a:lnTo>
                    <a:pt x="0" y="38398"/>
                  </a:lnTo>
                  <a:cubicBezTo>
                    <a:pt x="0" y="28214"/>
                    <a:pt x="4046" y="18448"/>
                    <a:pt x="11247" y="11247"/>
                  </a:cubicBezTo>
                  <a:cubicBezTo>
                    <a:pt x="18448" y="4046"/>
                    <a:pt x="28214" y="0"/>
                    <a:pt x="38398" y="0"/>
                  </a:cubicBezTo>
                  <a:close/>
                </a:path>
              </a:pathLst>
            </a:custGeom>
            <a:solidFill>
              <a:srgbClr val="FDFDFD"/>
            </a:solidFill>
          </p:spPr>
          <p:txBody>
            <a:bodyPr/>
            <a:lstStyle/>
            <a:p>
              <a:endParaRPr lang="en-US"/>
            </a:p>
          </p:txBody>
        </p:sp>
        <p:sp>
          <p:nvSpPr>
            <p:cNvPr id="35" name="TextBox 35"/>
            <p:cNvSpPr txBox="1"/>
            <p:nvPr/>
          </p:nvSpPr>
          <p:spPr>
            <a:xfrm>
              <a:off x="0" y="-66675"/>
              <a:ext cx="2360392" cy="503091"/>
            </a:xfrm>
            <a:prstGeom prst="rect">
              <a:avLst/>
            </a:prstGeom>
          </p:spPr>
          <p:txBody>
            <a:bodyPr lIns="50800" tIns="50800" rIns="50800" bIns="50800" rtlCol="0" anchor="ctr"/>
            <a:lstStyle/>
            <a:p>
              <a:pPr algn="ctr">
                <a:lnSpc>
                  <a:spcPts val="5039"/>
                </a:lnSpc>
              </a:pPr>
              <a:r>
                <a:rPr lang="en-US" sz="3599" b="1">
                  <a:solidFill>
                    <a:srgbClr val="00569E"/>
                  </a:solidFill>
                  <a:latin typeface="Montserrat Bold"/>
                  <a:ea typeface="Montserrat Bold"/>
                  <a:cs typeface="Montserrat Bold"/>
                  <a:sym typeface="Montserrat Bold"/>
                </a:rPr>
                <a:t>Microservices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656283" y="-2445901"/>
            <a:ext cx="15178802" cy="15178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07842" y="-1797460"/>
            <a:ext cx="13881919" cy="138819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881282" y="3505498"/>
            <a:ext cx="6033363" cy="937111"/>
          </a:xfrm>
          <a:prstGeom prst="rect">
            <a:avLst/>
          </a:prstGeom>
        </p:spPr>
        <p:txBody>
          <a:bodyPr lIns="0" tIns="0" rIns="0" bIns="0" rtlCol="0" anchor="t">
            <a:spAutoFit/>
          </a:bodyPr>
          <a:lstStyle/>
          <a:p>
            <a:pPr marL="0" lvl="0" indent="0" algn="l">
              <a:lnSpc>
                <a:spcPts val="7673"/>
              </a:lnSpc>
              <a:spcBef>
                <a:spcPct val="0"/>
              </a:spcBef>
            </a:pPr>
            <a:r>
              <a:rPr lang="en-US" sz="5480" b="1">
                <a:solidFill>
                  <a:srgbClr val="FDFDFD"/>
                </a:solidFill>
                <a:latin typeface="Montserrat Bold"/>
                <a:ea typeface="Montserrat Bold"/>
                <a:cs typeface="Montserrat Bold"/>
                <a:sym typeface="Montserrat Bold"/>
              </a:rPr>
              <a:t> Microservices</a:t>
            </a:r>
          </a:p>
        </p:txBody>
      </p:sp>
      <p:sp>
        <p:nvSpPr>
          <p:cNvPr id="9" name="TextBox 9"/>
          <p:cNvSpPr txBox="1"/>
          <p:nvPr/>
        </p:nvSpPr>
        <p:spPr>
          <a:xfrm>
            <a:off x="1028700" y="4805484"/>
            <a:ext cx="5885945" cy="1416543"/>
          </a:xfrm>
          <a:prstGeom prst="rect">
            <a:avLst/>
          </a:prstGeom>
        </p:spPr>
        <p:txBody>
          <a:bodyPr lIns="0" tIns="0" rIns="0" bIns="0" rtlCol="0" anchor="t">
            <a:spAutoFit/>
          </a:bodyPr>
          <a:lstStyle/>
          <a:p>
            <a:pPr algn="l">
              <a:lnSpc>
                <a:spcPts val="3822"/>
              </a:lnSpc>
            </a:pPr>
            <a:r>
              <a:rPr lang="en-US" sz="2730" spc="-54">
                <a:solidFill>
                  <a:srgbClr val="FDFDFD"/>
                </a:solidFill>
                <a:latin typeface="Source Sans Pro"/>
                <a:ea typeface="Source Sans Pro"/>
                <a:cs typeface="Source Sans Pro"/>
                <a:sym typeface="Source Sans Pro"/>
              </a:rPr>
              <a:t>Kiến trúc Microservices cung cấp một cách tiếp cận linh hoạt và hiệu quả để quản lý và phát triển các ứng dụng phức tạp</a:t>
            </a:r>
          </a:p>
        </p:txBody>
      </p:sp>
      <p:sp>
        <p:nvSpPr>
          <p:cNvPr id="10" name="Freeform 10"/>
          <p:cNvSpPr/>
          <p:nvPr/>
        </p:nvSpPr>
        <p:spPr>
          <a:xfrm>
            <a:off x="8838234" y="2694086"/>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1" name="TextBox 11"/>
          <p:cNvSpPr txBox="1"/>
          <p:nvPr/>
        </p:nvSpPr>
        <p:spPr>
          <a:xfrm>
            <a:off x="8983292" y="2967298"/>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02</a:t>
            </a:r>
          </a:p>
        </p:txBody>
      </p:sp>
      <p:sp>
        <p:nvSpPr>
          <p:cNvPr id="12" name="Freeform 12"/>
          <p:cNvSpPr/>
          <p:nvPr/>
        </p:nvSpPr>
        <p:spPr>
          <a:xfrm>
            <a:off x="9364134" y="4467486"/>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3" name="TextBox 13"/>
          <p:cNvSpPr txBox="1"/>
          <p:nvPr/>
        </p:nvSpPr>
        <p:spPr>
          <a:xfrm>
            <a:off x="9509192" y="4740698"/>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03</a:t>
            </a:r>
          </a:p>
        </p:txBody>
      </p:sp>
      <p:sp>
        <p:nvSpPr>
          <p:cNvPr id="14" name="Freeform 14"/>
          <p:cNvSpPr/>
          <p:nvPr/>
        </p:nvSpPr>
        <p:spPr>
          <a:xfrm>
            <a:off x="8843159" y="6261423"/>
            <a:ext cx="1424256" cy="1424256"/>
          </a:xfrm>
          <a:custGeom>
            <a:avLst/>
            <a:gdLst/>
            <a:ahLst/>
            <a:cxnLst/>
            <a:rect l="l" t="t" r="r" b="b"/>
            <a:pathLst>
              <a:path w="1424256" h="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5" name="TextBox 15"/>
          <p:cNvSpPr txBox="1"/>
          <p:nvPr/>
        </p:nvSpPr>
        <p:spPr>
          <a:xfrm>
            <a:off x="8988217" y="6534635"/>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04</a:t>
            </a:r>
          </a:p>
        </p:txBody>
      </p:sp>
      <p:sp>
        <p:nvSpPr>
          <p:cNvPr id="16" name="Freeform 16"/>
          <p:cNvSpPr/>
          <p:nvPr/>
        </p:nvSpPr>
        <p:spPr>
          <a:xfrm>
            <a:off x="8131031" y="8020848"/>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7" name="TextBox 17"/>
          <p:cNvSpPr txBox="1"/>
          <p:nvPr/>
        </p:nvSpPr>
        <p:spPr>
          <a:xfrm>
            <a:off x="8276089" y="8294060"/>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05</a:t>
            </a:r>
          </a:p>
        </p:txBody>
      </p:sp>
      <p:grpSp>
        <p:nvGrpSpPr>
          <p:cNvPr id="18" name="Group 18"/>
          <p:cNvGrpSpPr/>
          <p:nvPr/>
        </p:nvGrpSpPr>
        <p:grpSpPr>
          <a:xfrm>
            <a:off x="8011124" y="3236666"/>
            <a:ext cx="373607" cy="37360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20" name="TextBox 20"/>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1" name="Group 21"/>
          <p:cNvGrpSpPr/>
          <p:nvPr/>
        </p:nvGrpSpPr>
        <p:grpSpPr>
          <a:xfrm>
            <a:off x="8317835" y="4956696"/>
            <a:ext cx="373607" cy="37360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23" name="TextBox 23"/>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4" name="Group 24"/>
          <p:cNvGrpSpPr/>
          <p:nvPr/>
        </p:nvGrpSpPr>
        <p:grpSpPr>
          <a:xfrm>
            <a:off x="7500470" y="8359369"/>
            <a:ext cx="373607" cy="37360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26" name="TextBox 26"/>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7" name="Group 27"/>
          <p:cNvGrpSpPr/>
          <p:nvPr/>
        </p:nvGrpSpPr>
        <p:grpSpPr>
          <a:xfrm>
            <a:off x="8131031" y="6786747"/>
            <a:ext cx="373607" cy="37360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29" name="TextBox 29"/>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30" name="Group 30"/>
          <p:cNvGrpSpPr/>
          <p:nvPr/>
        </p:nvGrpSpPr>
        <p:grpSpPr>
          <a:xfrm>
            <a:off x="7604186" y="1616278"/>
            <a:ext cx="373607" cy="37360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32" name="TextBox 32"/>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sp>
        <p:nvSpPr>
          <p:cNvPr id="33" name="Freeform 33"/>
          <p:cNvSpPr/>
          <p:nvPr/>
        </p:nvSpPr>
        <p:spPr>
          <a:xfrm>
            <a:off x="8197927" y="1090953"/>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4" name="TextBox 34"/>
          <p:cNvSpPr txBox="1"/>
          <p:nvPr/>
        </p:nvSpPr>
        <p:spPr>
          <a:xfrm>
            <a:off x="9869833" y="1489527"/>
            <a:ext cx="5768345" cy="465268"/>
          </a:xfrm>
          <a:prstGeom prst="rect">
            <a:avLst/>
          </a:prstGeom>
        </p:spPr>
        <p:txBody>
          <a:bodyPr lIns="0" tIns="0" rIns="0" bIns="0" rtlCol="0" anchor="t">
            <a:spAutoFit/>
          </a:bodyPr>
          <a:lstStyle/>
          <a:p>
            <a:pPr algn="l">
              <a:lnSpc>
                <a:spcPts val="3755"/>
              </a:lnSpc>
            </a:pPr>
            <a:r>
              <a:rPr lang="en-US" sz="2682" b="1" spc="-53">
                <a:solidFill>
                  <a:srgbClr val="145DA0"/>
                </a:solidFill>
                <a:latin typeface="Montserrat Bold"/>
                <a:ea typeface="Montserrat Bold"/>
                <a:cs typeface="Montserrat Bold"/>
                <a:sym typeface="Montserrat Bold"/>
              </a:rPr>
              <a:t>Tính mở rộng độc lập</a:t>
            </a:r>
          </a:p>
        </p:txBody>
      </p:sp>
      <p:sp>
        <p:nvSpPr>
          <p:cNvPr id="35" name="TextBox 35"/>
          <p:cNvSpPr txBox="1"/>
          <p:nvPr/>
        </p:nvSpPr>
        <p:spPr>
          <a:xfrm>
            <a:off x="8342985" y="1364165"/>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ea typeface="Open Sans Extra Bold"/>
                <a:cs typeface="Open Sans Extra Bold"/>
                <a:sym typeface="Open Sans Extra Bold"/>
              </a:rPr>
              <a:t>01</a:t>
            </a:r>
          </a:p>
        </p:txBody>
      </p:sp>
      <p:sp>
        <p:nvSpPr>
          <p:cNvPr id="36" name="TextBox 36"/>
          <p:cNvSpPr txBox="1"/>
          <p:nvPr/>
        </p:nvSpPr>
        <p:spPr>
          <a:xfrm>
            <a:off x="10672065" y="3145005"/>
            <a:ext cx="5768345" cy="465268"/>
          </a:xfrm>
          <a:prstGeom prst="rect">
            <a:avLst/>
          </a:prstGeom>
        </p:spPr>
        <p:txBody>
          <a:bodyPr lIns="0" tIns="0" rIns="0" bIns="0" rtlCol="0" anchor="t">
            <a:spAutoFit/>
          </a:bodyPr>
          <a:lstStyle/>
          <a:p>
            <a:pPr algn="l">
              <a:lnSpc>
                <a:spcPts val="3755"/>
              </a:lnSpc>
            </a:pPr>
            <a:r>
              <a:rPr lang="en-US" sz="2682" b="1" spc="-53">
                <a:solidFill>
                  <a:srgbClr val="145DA0"/>
                </a:solidFill>
                <a:latin typeface="Montserrat Bold"/>
                <a:ea typeface="Montserrat Bold"/>
                <a:cs typeface="Montserrat Bold"/>
                <a:sym typeface="Montserrat Bold"/>
              </a:rPr>
              <a:t>Tùy chọn công nghệ linh hoạt</a:t>
            </a:r>
          </a:p>
        </p:txBody>
      </p:sp>
      <p:sp>
        <p:nvSpPr>
          <p:cNvPr id="37" name="TextBox 37"/>
          <p:cNvSpPr txBox="1"/>
          <p:nvPr/>
        </p:nvSpPr>
        <p:spPr>
          <a:xfrm>
            <a:off x="11245589" y="4948831"/>
            <a:ext cx="5768345" cy="465268"/>
          </a:xfrm>
          <a:prstGeom prst="rect">
            <a:avLst/>
          </a:prstGeom>
        </p:spPr>
        <p:txBody>
          <a:bodyPr lIns="0" tIns="0" rIns="0" bIns="0" rtlCol="0" anchor="t">
            <a:spAutoFit/>
          </a:bodyPr>
          <a:lstStyle/>
          <a:p>
            <a:pPr algn="l">
              <a:lnSpc>
                <a:spcPts val="3755"/>
              </a:lnSpc>
            </a:pPr>
            <a:r>
              <a:rPr lang="en-US" sz="2682" b="1" spc="-53">
                <a:solidFill>
                  <a:srgbClr val="145DA0"/>
                </a:solidFill>
                <a:latin typeface="Montserrat Bold"/>
                <a:ea typeface="Montserrat Bold"/>
                <a:cs typeface="Montserrat Bold"/>
                <a:sym typeface="Montserrat Bold"/>
              </a:rPr>
              <a:t>Cách ly và chịu lỗi</a:t>
            </a:r>
          </a:p>
        </p:txBody>
      </p:sp>
      <p:sp>
        <p:nvSpPr>
          <p:cNvPr id="38" name="TextBox 38"/>
          <p:cNvSpPr txBox="1"/>
          <p:nvPr/>
        </p:nvSpPr>
        <p:spPr>
          <a:xfrm>
            <a:off x="10705565" y="6712341"/>
            <a:ext cx="5768345" cy="465268"/>
          </a:xfrm>
          <a:prstGeom prst="rect">
            <a:avLst/>
          </a:prstGeom>
        </p:spPr>
        <p:txBody>
          <a:bodyPr lIns="0" tIns="0" rIns="0" bIns="0" rtlCol="0" anchor="t">
            <a:spAutoFit/>
          </a:bodyPr>
          <a:lstStyle/>
          <a:p>
            <a:pPr algn="l">
              <a:lnSpc>
                <a:spcPts val="3755"/>
              </a:lnSpc>
            </a:pPr>
            <a:r>
              <a:rPr lang="en-US" sz="2682" b="1" spc="-53">
                <a:solidFill>
                  <a:srgbClr val="145DA0"/>
                </a:solidFill>
                <a:latin typeface="Montserrat Bold"/>
                <a:ea typeface="Montserrat Bold"/>
                <a:cs typeface="Montserrat Bold"/>
                <a:sym typeface="Montserrat Bold"/>
              </a:rPr>
              <a:t>Phát triển và triển khai nhanh </a:t>
            </a:r>
          </a:p>
        </p:txBody>
      </p:sp>
      <p:sp>
        <p:nvSpPr>
          <p:cNvPr id="39" name="TextBox 39"/>
          <p:cNvSpPr txBox="1"/>
          <p:nvPr/>
        </p:nvSpPr>
        <p:spPr>
          <a:xfrm>
            <a:off x="10081186" y="8471767"/>
            <a:ext cx="5768345" cy="465268"/>
          </a:xfrm>
          <a:prstGeom prst="rect">
            <a:avLst/>
          </a:prstGeom>
        </p:spPr>
        <p:txBody>
          <a:bodyPr lIns="0" tIns="0" rIns="0" bIns="0" rtlCol="0" anchor="t">
            <a:spAutoFit/>
          </a:bodyPr>
          <a:lstStyle/>
          <a:p>
            <a:pPr algn="l">
              <a:lnSpc>
                <a:spcPts val="3755"/>
              </a:lnSpc>
            </a:pPr>
            <a:r>
              <a:rPr lang="en-US" sz="2682" b="1" spc="-53">
                <a:solidFill>
                  <a:srgbClr val="145DA0"/>
                </a:solidFill>
                <a:latin typeface="Montserrat Bold"/>
                <a:ea typeface="Montserrat Bold"/>
                <a:cs typeface="Montserrat Bold"/>
                <a:sym typeface="Montserrat Bold"/>
              </a:rPr>
              <a:t>Dễ bảo trì</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a:off x="13402273" y="-8767"/>
            <a:ext cx="4907787" cy="10295767"/>
          </a:xfrm>
          <a:custGeom>
            <a:avLst/>
            <a:gdLst/>
            <a:ahLst/>
            <a:cxnLst/>
            <a:rect l="l" t="t" r="r" b="b"/>
            <a:pathLst>
              <a:path w="4907787" h="10295767">
                <a:moveTo>
                  <a:pt x="0" y="0"/>
                </a:moveTo>
                <a:lnTo>
                  <a:pt x="4907787" y="0"/>
                </a:lnTo>
                <a:lnTo>
                  <a:pt x="4907787" y="10295767"/>
                </a:lnTo>
                <a:lnTo>
                  <a:pt x="0" y="10295767"/>
                </a:lnTo>
                <a:lnTo>
                  <a:pt x="0" y="0"/>
                </a:lnTo>
                <a:close/>
              </a:path>
            </a:pathLst>
          </a:custGeom>
          <a:blipFill>
            <a:blip r:embed="rId2"/>
            <a:stretch>
              <a:fillRect l="-19884" r="-19884"/>
            </a:stretch>
          </a:blipFill>
        </p:spPr>
        <p:txBody>
          <a:bodyPr/>
          <a:lstStyle/>
          <a:p>
            <a:endParaRPr lang="en-US"/>
          </a:p>
        </p:txBody>
      </p:sp>
      <p:grpSp>
        <p:nvGrpSpPr>
          <p:cNvPr id="3" name="Group 3"/>
          <p:cNvGrpSpPr/>
          <p:nvPr/>
        </p:nvGrpSpPr>
        <p:grpSpPr>
          <a:xfrm>
            <a:off x="1028700" y="3852968"/>
            <a:ext cx="14586028" cy="5088907"/>
            <a:chOff x="0" y="0"/>
            <a:chExt cx="3841588" cy="1340288"/>
          </a:xfrm>
        </p:grpSpPr>
        <p:sp>
          <p:nvSpPr>
            <p:cNvPr id="4" name="Freeform 4"/>
            <p:cNvSpPr/>
            <p:nvPr/>
          </p:nvSpPr>
          <p:spPr>
            <a:xfrm>
              <a:off x="0" y="0"/>
              <a:ext cx="3841588" cy="1340288"/>
            </a:xfrm>
            <a:custGeom>
              <a:avLst/>
              <a:gdLst/>
              <a:ahLst/>
              <a:cxnLst/>
              <a:rect l="l" t="t" r="r" b="b"/>
              <a:pathLst>
                <a:path w="3841588" h="1340288">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p:spPr>
          <p:txBody>
            <a:bodyPr/>
            <a:lstStyle/>
            <a:p>
              <a:endParaRPr lang="en-US"/>
            </a:p>
          </p:txBody>
        </p:sp>
        <p:sp>
          <p:nvSpPr>
            <p:cNvPr id="5" name="TextBox 5"/>
            <p:cNvSpPr txBox="1"/>
            <p:nvPr/>
          </p:nvSpPr>
          <p:spPr>
            <a:xfrm>
              <a:off x="0" y="-38100"/>
              <a:ext cx="3841588" cy="137838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714600"/>
            <a:ext cx="6826103" cy="1137153"/>
          </a:xfrm>
          <a:prstGeom prst="rect">
            <a:avLst/>
          </a:prstGeom>
        </p:spPr>
        <p:txBody>
          <a:bodyPr lIns="0" tIns="0" rIns="0" bIns="0" rtlCol="0" anchor="t">
            <a:spAutoFit/>
          </a:bodyPr>
          <a:lstStyle/>
          <a:p>
            <a:pPr algn="l">
              <a:lnSpc>
                <a:spcPts val="9247"/>
              </a:lnSpc>
              <a:spcBef>
                <a:spcPct val="0"/>
              </a:spcBef>
            </a:pPr>
            <a:r>
              <a:rPr lang="en-US" sz="6605" b="1">
                <a:solidFill>
                  <a:srgbClr val="FDFDFD"/>
                </a:solidFill>
                <a:latin typeface="Montserrat Bold"/>
                <a:ea typeface="Montserrat Bold"/>
                <a:cs typeface="Montserrat Bold"/>
                <a:sym typeface="Montserrat Bold"/>
              </a:rPr>
              <a:t>Lý do lựa chọn</a:t>
            </a:r>
          </a:p>
        </p:txBody>
      </p:sp>
      <p:sp>
        <p:nvSpPr>
          <p:cNvPr id="7" name="Freeform 7"/>
          <p:cNvSpPr/>
          <p:nvPr/>
        </p:nvSpPr>
        <p:spPr>
          <a:xfrm>
            <a:off x="7705438" y="4181637"/>
            <a:ext cx="1232553" cy="1232553"/>
          </a:xfrm>
          <a:custGeom>
            <a:avLst/>
            <a:gdLst/>
            <a:ahLst/>
            <a:cxnLst/>
            <a:rect l="l" t="t" r="r" b="b"/>
            <a:pathLst>
              <a:path w="1232553" h="1232553">
                <a:moveTo>
                  <a:pt x="0" y="0"/>
                </a:moveTo>
                <a:lnTo>
                  <a:pt x="1232552" y="0"/>
                </a:lnTo>
                <a:lnTo>
                  <a:pt x="1232552" y="1232553"/>
                </a:lnTo>
                <a:lnTo>
                  <a:pt x="0" y="123255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8" name="Freeform 8"/>
          <p:cNvSpPr/>
          <p:nvPr/>
        </p:nvSpPr>
        <p:spPr>
          <a:xfrm>
            <a:off x="3005199" y="4181637"/>
            <a:ext cx="1077227" cy="1247315"/>
          </a:xfrm>
          <a:custGeom>
            <a:avLst/>
            <a:gdLst/>
            <a:ahLst/>
            <a:cxnLst/>
            <a:rect l="l" t="t" r="r" b="b"/>
            <a:pathLst>
              <a:path w="1077227" h="1247315">
                <a:moveTo>
                  <a:pt x="0" y="0"/>
                </a:moveTo>
                <a:lnTo>
                  <a:pt x="1077227" y="0"/>
                </a:lnTo>
                <a:lnTo>
                  <a:pt x="1077227" y="1247315"/>
                </a:lnTo>
                <a:lnTo>
                  <a:pt x="0" y="1247315"/>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9" name="Freeform 9"/>
          <p:cNvSpPr/>
          <p:nvPr/>
        </p:nvSpPr>
        <p:spPr>
          <a:xfrm>
            <a:off x="12334954" y="4376697"/>
            <a:ext cx="1361742" cy="1052255"/>
          </a:xfrm>
          <a:custGeom>
            <a:avLst/>
            <a:gdLst/>
            <a:ahLst/>
            <a:cxnLst/>
            <a:rect l="l" t="t" r="r" b="b"/>
            <a:pathLst>
              <a:path w="1361742" h="1052255">
                <a:moveTo>
                  <a:pt x="0" y="0"/>
                </a:moveTo>
                <a:lnTo>
                  <a:pt x="1361742" y="0"/>
                </a:lnTo>
                <a:lnTo>
                  <a:pt x="1361742" y="1052255"/>
                </a:lnTo>
                <a:lnTo>
                  <a:pt x="0" y="1052255"/>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grpSp>
        <p:nvGrpSpPr>
          <p:cNvPr id="10" name="Group 10"/>
          <p:cNvGrpSpPr/>
          <p:nvPr/>
        </p:nvGrpSpPr>
        <p:grpSpPr>
          <a:xfrm>
            <a:off x="15573718" y="7940477"/>
            <a:ext cx="4693046" cy="469304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481831" y="7009526"/>
            <a:ext cx="4161784" cy="896651"/>
          </a:xfrm>
          <a:prstGeom prst="rect">
            <a:avLst/>
          </a:prstGeom>
        </p:spPr>
        <p:txBody>
          <a:bodyPr lIns="0" tIns="0" rIns="0" bIns="0" rtlCol="0" anchor="t">
            <a:spAutoFit/>
          </a:bodyPr>
          <a:lstStyle/>
          <a:p>
            <a:pPr algn="ctr">
              <a:lnSpc>
                <a:spcPts val="3603"/>
              </a:lnSpc>
            </a:pPr>
            <a:r>
              <a:rPr lang="en-US" sz="2573" spc="-51">
                <a:solidFill>
                  <a:srgbClr val="145DA0"/>
                </a:solidFill>
                <a:latin typeface="Source Sans Pro"/>
                <a:ea typeface="Source Sans Pro"/>
                <a:cs typeface="Source Sans Pro"/>
                <a:sym typeface="Source Sans Pro"/>
              </a:rPr>
              <a:t>Có khả năng mở rộng nhiều chức năng trong tương lai</a:t>
            </a:r>
          </a:p>
        </p:txBody>
      </p:sp>
      <p:sp>
        <p:nvSpPr>
          <p:cNvPr id="14" name="AutoShape 14"/>
          <p:cNvSpPr/>
          <p:nvPr/>
        </p:nvSpPr>
        <p:spPr>
          <a:xfrm>
            <a:off x="5938890" y="4181637"/>
            <a:ext cx="0" cy="4410340"/>
          </a:xfrm>
          <a:prstGeom prst="line">
            <a:avLst/>
          </a:prstGeom>
          <a:ln w="38100" cap="flat">
            <a:solidFill>
              <a:srgbClr val="145DA0"/>
            </a:solidFill>
            <a:prstDash val="solid"/>
            <a:headEnd type="none" w="sm" len="sm"/>
            <a:tailEnd type="none" w="sm" len="sm"/>
          </a:ln>
        </p:spPr>
        <p:txBody>
          <a:bodyPr/>
          <a:lstStyle/>
          <a:p>
            <a:endParaRPr lang="en-US"/>
          </a:p>
        </p:txBody>
      </p:sp>
      <p:sp>
        <p:nvSpPr>
          <p:cNvPr id="15" name="TextBox 15"/>
          <p:cNvSpPr txBox="1"/>
          <p:nvPr/>
        </p:nvSpPr>
        <p:spPr>
          <a:xfrm>
            <a:off x="1882977" y="5543569"/>
            <a:ext cx="3321672" cy="941434"/>
          </a:xfrm>
          <a:prstGeom prst="rect">
            <a:avLst/>
          </a:prstGeom>
        </p:spPr>
        <p:txBody>
          <a:bodyPr lIns="0" tIns="0" rIns="0" bIns="0" rtlCol="0" anchor="t">
            <a:spAutoFit/>
          </a:bodyPr>
          <a:lstStyle/>
          <a:p>
            <a:pPr algn="ctr">
              <a:lnSpc>
                <a:spcPts val="3759"/>
              </a:lnSpc>
              <a:spcBef>
                <a:spcPct val="0"/>
              </a:spcBef>
            </a:pPr>
            <a:r>
              <a:rPr lang="en-US" sz="2685" b="1">
                <a:solidFill>
                  <a:srgbClr val="145DA0"/>
                </a:solidFill>
                <a:latin typeface="Montserrat Bold"/>
                <a:ea typeface="Montserrat Bold"/>
                <a:cs typeface="Montserrat Bold"/>
                <a:sym typeface="Montserrat Bold"/>
              </a:rPr>
              <a:t>Khả năng mở rộng</a:t>
            </a:r>
          </a:p>
        </p:txBody>
      </p:sp>
      <p:sp>
        <p:nvSpPr>
          <p:cNvPr id="16" name="AutoShape 16"/>
          <p:cNvSpPr/>
          <p:nvPr/>
        </p:nvSpPr>
        <p:spPr>
          <a:xfrm>
            <a:off x="10706179" y="4181637"/>
            <a:ext cx="0" cy="4410340"/>
          </a:xfrm>
          <a:prstGeom prst="line">
            <a:avLst/>
          </a:prstGeom>
          <a:ln w="38100" cap="flat">
            <a:solidFill>
              <a:srgbClr val="145DA0"/>
            </a:solidFill>
            <a:prstDash val="solid"/>
            <a:headEnd type="none" w="sm" len="sm"/>
            <a:tailEnd type="none" w="sm" len="sm"/>
          </a:ln>
        </p:spPr>
        <p:txBody>
          <a:bodyPr/>
          <a:lstStyle/>
          <a:p>
            <a:endParaRPr lang="en-US"/>
          </a:p>
        </p:txBody>
      </p:sp>
      <p:sp>
        <p:nvSpPr>
          <p:cNvPr id="17" name="TextBox 17"/>
          <p:cNvSpPr txBox="1"/>
          <p:nvPr/>
        </p:nvSpPr>
        <p:spPr>
          <a:xfrm>
            <a:off x="6249120" y="7009526"/>
            <a:ext cx="4161784" cy="896504"/>
          </a:xfrm>
          <a:prstGeom prst="rect">
            <a:avLst/>
          </a:prstGeom>
        </p:spPr>
        <p:txBody>
          <a:bodyPr lIns="0" tIns="0" rIns="0" bIns="0" rtlCol="0" anchor="t">
            <a:spAutoFit/>
          </a:bodyPr>
          <a:lstStyle/>
          <a:p>
            <a:pPr algn="ctr">
              <a:lnSpc>
                <a:spcPts val="3603"/>
              </a:lnSpc>
            </a:pPr>
            <a:r>
              <a:rPr lang="en-US" sz="2573" spc="-51">
                <a:solidFill>
                  <a:srgbClr val="145DA0"/>
                </a:solidFill>
                <a:latin typeface="Source Sans Pro"/>
                <a:ea typeface="Source Sans Pro"/>
                <a:cs typeface="Source Sans Pro"/>
                <a:sym typeface="Source Sans Pro"/>
              </a:rPr>
              <a:t>Chi phí triển khai được tối ưu tuỳ theo nhu cầu</a:t>
            </a:r>
          </a:p>
        </p:txBody>
      </p:sp>
      <p:sp>
        <p:nvSpPr>
          <p:cNvPr id="18" name="TextBox 18"/>
          <p:cNvSpPr txBox="1"/>
          <p:nvPr/>
        </p:nvSpPr>
        <p:spPr>
          <a:xfrm>
            <a:off x="6660878" y="5543569"/>
            <a:ext cx="3321672" cy="941434"/>
          </a:xfrm>
          <a:prstGeom prst="rect">
            <a:avLst/>
          </a:prstGeom>
        </p:spPr>
        <p:txBody>
          <a:bodyPr lIns="0" tIns="0" rIns="0" bIns="0" rtlCol="0" anchor="t">
            <a:spAutoFit/>
          </a:bodyPr>
          <a:lstStyle/>
          <a:p>
            <a:pPr algn="ctr">
              <a:lnSpc>
                <a:spcPts val="3759"/>
              </a:lnSpc>
              <a:spcBef>
                <a:spcPct val="0"/>
              </a:spcBef>
            </a:pPr>
            <a:r>
              <a:rPr lang="en-US" sz="2685" b="1">
                <a:solidFill>
                  <a:srgbClr val="145DA0"/>
                </a:solidFill>
                <a:latin typeface="Montserrat Bold"/>
                <a:ea typeface="Montserrat Bold"/>
                <a:cs typeface="Montserrat Bold"/>
                <a:sym typeface="Montserrat Bold"/>
              </a:rPr>
              <a:t>Tối ưu chi phí cho doanh nghiệp</a:t>
            </a:r>
          </a:p>
        </p:txBody>
      </p:sp>
      <p:sp>
        <p:nvSpPr>
          <p:cNvPr id="19" name="TextBox 19"/>
          <p:cNvSpPr txBox="1"/>
          <p:nvPr/>
        </p:nvSpPr>
        <p:spPr>
          <a:xfrm>
            <a:off x="11001454" y="6780926"/>
            <a:ext cx="4161784" cy="1353851"/>
          </a:xfrm>
          <a:prstGeom prst="rect">
            <a:avLst/>
          </a:prstGeom>
        </p:spPr>
        <p:txBody>
          <a:bodyPr lIns="0" tIns="0" rIns="0" bIns="0" rtlCol="0" anchor="t">
            <a:spAutoFit/>
          </a:bodyPr>
          <a:lstStyle/>
          <a:p>
            <a:pPr algn="ctr">
              <a:lnSpc>
                <a:spcPts val="3603"/>
              </a:lnSpc>
            </a:pPr>
            <a:r>
              <a:rPr lang="en-US" sz="2573" spc="-51">
                <a:solidFill>
                  <a:srgbClr val="145DA0"/>
                </a:solidFill>
                <a:latin typeface="Source Sans Pro"/>
                <a:ea typeface="Source Sans Pro"/>
                <a:cs typeface="Source Sans Pro"/>
                <a:sym typeface="Source Sans Pro"/>
              </a:rPr>
              <a:t>Tuỳ chọn công nghệ và chức năng để lựa chọn những công nghệ tốt nhất</a:t>
            </a:r>
          </a:p>
        </p:txBody>
      </p:sp>
      <p:sp>
        <p:nvSpPr>
          <p:cNvPr id="20" name="TextBox 20"/>
          <p:cNvSpPr txBox="1"/>
          <p:nvPr/>
        </p:nvSpPr>
        <p:spPr>
          <a:xfrm>
            <a:off x="11354989" y="5629460"/>
            <a:ext cx="3321672" cy="941434"/>
          </a:xfrm>
          <a:prstGeom prst="rect">
            <a:avLst/>
          </a:prstGeom>
        </p:spPr>
        <p:txBody>
          <a:bodyPr lIns="0" tIns="0" rIns="0" bIns="0" rtlCol="0" anchor="t">
            <a:spAutoFit/>
          </a:bodyPr>
          <a:lstStyle/>
          <a:p>
            <a:pPr algn="ctr">
              <a:lnSpc>
                <a:spcPts val="3759"/>
              </a:lnSpc>
              <a:spcBef>
                <a:spcPct val="0"/>
              </a:spcBef>
            </a:pPr>
            <a:r>
              <a:rPr lang="en-US" sz="2685" b="1">
                <a:solidFill>
                  <a:srgbClr val="145DA0"/>
                </a:solidFill>
                <a:latin typeface="Montserrat Bold"/>
                <a:ea typeface="Montserrat Bold"/>
                <a:cs typeface="Montserrat Bold"/>
                <a:sym typeface="Montserrat Bold"/>
              </a:rPr>
              <a:t>Lựa chọn công nghệ đa dạng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459818"/>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37849" r="-37849"/>
              </a:stretch>
            </a:blipFill>
          </p:spPr>
          <p:txBody>
            <a:bodyPr/>
            <a:lstStyle/>
            <a:p>
              <a:endParaRPr lang="en-US"/>
            </a:p>
          </p:txBody>
        </p:sp>
      </p:grpSp>
      <p:sp>
        <p:nvSpPr>
          <p:cNvPr id="11" name="TextBox 11"/>
          <p:cNvSpPr txBox="1"/>
          <p:nvPr/>
        </p:nvSpPr>
        <p:spPr>
          <a:xfrm>
            <a:off x="729228" y="3468763"/>
            <a:ext cx="8414772" cy="3292324"/>
          </a:xfrm>
          <a:prstGeom prst="rect">
            <a:avLst/>
          </a:prstGeom>
        </p:spPr>
        <p:txBody>
          <a:bodyPr lIns="0" tIns="0" rIns="0" bIns="0" rtlCol="0" anchor="t">
            <a:spAutoFit/>
          </a:bodyPr>
          <a:lstStyle/>
          <a:p>
            <a:pPr marL="675974" lvl="1" indent="-337987" algn="l">
              <a:lnSpc>
                <a:spcPts val="4383"/>
              </a:lnSpc>
              <a:buFont typeface="Arial"/>
              <a:buChar char="•"/>
            </a:pPr>
            <a:r>
              <a:rPr lang="en-US" sz="3130" spc="-62">
                <a:solidFill>
                  <a:srgbClr val="051D40"/>
                </a:solidFill>
                <a:latin typeface="Montserrat"/>
                <a:ea typeface="Montserrat"/>
                <a:cs typeface="Montserrat"/>
                <a:sym typeface="Montserrat"/>
              </a:rPr>
              <a:t>Tái sử dụng component</a:t>
            </a:r>
          </a:p>
          <a:p>
            <a:pPr algn="l">
              <a:lnSpc>
                <a:spcPts val="4383"/>
              </a:lnSpc>
            </a:pPr>
            <a:endParaRPr lang="en-US" sz="3130" spc="-62">
              <a:solidFill>
                <a:srgbClr val="051D40"/>
              </a:solidFill>
              <a:latin typeface="Montserrat"/>
              <a:ea typeface="Montserrat"/>
              <a:cs typeface="Montserrat"/>
              <a:sym typeface="Montserrat"/>
            </a:endParaRPr>
          </a:p>
          <a:p>
            <a:pPr marL="675974" lvl="1" indent="-337987" algn="l">
              <a:lnSpc>
                <a:spcPts val="4383"/>
              </a:lnSpc>
              <a:buFont typeface="Arial"/>
              <a:buChar char="•"/>
            </a:pPr>
            <a:r>
              <a:rPr lang="en-US" sz="3130" spc="-62">
                <a:solidFill>
                  <a:srgbClr val="051D40"/>
                </a:solidFill>
                <a:latin typeface="Montserrat"/>
                <a:ea typeface="Montserrat"/>
                <a:cs typeface="Montserrat"/>
                <a:sym typeface="Montserrat"/>
              </a:rPr>
              <a:t>Tăng tốc độ xử lý nhờ Virtual DOM</a:t>
            </a:r>
          </a:p>
          <a:p>
            <a:pPr algn="l">
              <a:lnSpc>
                <a:spcPts val="4383"/>
              </a:lnSpc>
            </a:pPr>
            <a:endParaRPr lang="en-US" sz="3130" spc="-62">
              <a:solidFill>
                <a:srgbClr val="051D40"/>
              </a:solidFill>
              <a:latin typeface="Montserrat"/>
              <a:ea typeface="Montserrat"/>
              <a:cs typeface="Montserrat"/>
              <a:sym typeface="Montserrat"/>
            </a:endParaRPr>
          </a:p>
          <a:p>
            <a:pPr marL="675974" lvl="1" indent="-337987" algn="l">
              <a:lnSpc>
                <a:spcPts val="4383"/>
              </a:lnSpc>
              <a:buFont typeface="Arial"/>
              <a:buChar char="•"/>
            </a:pPr>
            <a:r>
              <a:rPr lang="en-US" sz="3130" spc="-62">
                <a:solidFill>
                  <a:srgbClr val="051D40"/>
                </a:solidFill>
                <a:latin typeface="Montserrat"/>
                <a:ea typeface="Montserrat"/>
                <a:cs typeface="Montserrat"/>
                <a:sym typeface="Montserrat"/>
              </a:rPr>
              <a:t>Nhiều thư viện UI, cộng đồng lớn</a:t>
            </a:r>
          </a:p>
          <a:p>
            <a:pPr marL="0" lvl="0" indent="0" algn="l">
              <a:lnSpc>
                <a:spcPts val="4383"/>
              </a:lnSpc>
            </a:pPr>
            <a:endParaRPr lang="en-US" sz="3130" spc="-62">
              <a:solidFill>
                <a:srgbClr val="051D40"/>
              </a:solidFill>
              <a:latin typeface="Montserrat"/>
              <a:ea typeface="Montserrat"/>
              <a:cs typeface="Montserrat"/>
              <a:sym typeface="Montserrat"/>
            </a:endParaRPr>
          </a:p>
        </p:txBody>
      </p:sp>
      <p:sp>
        <p:nvSpPr>
          <p:cNvPr id="12" name="TextBox 12"/>
          <p:cNvSpPr txBox="1"/>
          <p:nvPr/>
        </p:nvSpPr>
        <p:spPr>
          <a:xfrm>
            <a:off x="1028700" y="6716049"/>
            <a:ext cx="7863000" cy="1371146"/>
          </a:xfrm>
          <a:prstGeom prst="rect">
            <a:avLst/>
          </a:prstGeom>
        </p:spPr>
        <p:txBody>
          <a:bodyPr lIns="0" tIns="0" rIns="0" bIns="0" rtlCol="0" anchor="t">
            <a:spAutoFit/>
          </a:bodyPr>
          <a:lstStyle/>
          <a:p>
            <a:pPr marL="0" lvl="0" indent="0" algn="l">
              <a:lnSpc>
                <a:spcPts val="5635"/>
              </a:lnSpc>
            </a:pPr>
            <a:r>
              <a:rPr lang="en-US" sz="3130" spc="-62">
                <a:solidFill>
                  <a:srgbClr val="00569E"/>
                </a:solidFill>
                <a:latin typeface="Montserrat"/>
                <a:ea typeface="Montserrat"/>
                <a:cs typeface="Montserrat"/>
                <a:sym typeface="Montserrat"/>
              </a:rPr>
              <a:t>➡️</a:t>
            </a:r>
            <a:r>
              <a:rPr lang="en-US" sz="3130" spc="-62">
                <a:solidFill>
                  <a:srgbClr val="051D40"/>
                </a:solidFill>
                <a:latin typeface="Montserrat"/>
                <a:ea typeface="Montserrat"/>
                <a:cs typeface="Montserrat"/>
                <a:sym typeface="Montserrat"/>
              </a:rPr>
              <a:t> Đây là lựa chọn phù hợp để xây dựng UI dễ dàng, </a:t>
            </a:r>
            <a:r>
              <a:rPr lang="en-US" sz="3130" b="1" spc="-62">
                <a:solidFill>
                  <a:srgbClr val="051D40"/>
                </a:solidFill>
                <a:latin typeface="Montserrat Bold"/>
                <a:ea typeface="Montserrat Bold"/>
                <a:cs typeface="Montserrat Bold"/>
                <a:sym typeface="Montserrat Bold"/>
              </a:rPr>
              <a:t>thân thiện với người dùng</a:t>
            </a:r>
          </a:p>
        </p:txBody>
      </p:sp>
      <p:sp>
        <p:nvSpPr>
          <p:cNvPr id="13" name="TextBox 13"/>
          <p:cNvSpPr txBox="1"/>
          <p:nvPr/>
        </p:nvSpPr>
        <p:spPr>
          <a:xfrm>
            <a:off x="1469125" y="2260798"/>
            <a:ext cx="4155745" cy="811528"/>
          </a:xfrm>
          <a:prstGeom prst="rect">
            <a:avLst/>
          </a:prstGeom>
        </p:spPr>
        <p:txBody>
          <a:bodyPr lIns="0" tIns="0" rIns="0" bIns="0" rtlCol="0" anchor="t">
            <a:spAutoFit/>
          </a:bodyPr>
          <a:lstStyle/>
          <a:p>
            <a:pPr algn="l">
              <a:lnSpc>
                <a:spcPts val="6720"/>
              </a:lnSpc>
              <a:spcBef>
                <a:spcPct val="0"/>
              </a:spcBef>
            </a:pPr>
            <a:r>
              <a:rPr lang="en-US" sz="4800" b="1">
                <a:solidFill>
                  <a:srgbClr val="051D40"/>
                </a:solidFill>
                <a:latin typeface="Montserrat Bold"/>
                <a:ea typeface="Montserrat Bold"/>
                <a:cs typeface="Montserrat Bold"/>
                <a:sym typeface="Montserrat Bold"/>
              </a:rPr>
              <a:t>React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459818"/>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3"/>
              <a:stretch>
                <a:fillRect l="-1583" r="-1583"/>
              </a:stretch>
            </a:blipFill>
          </p:spPr>
          <p:txBody>
            <a:bodyPr/>
            <a:lstStyle/>
            <a:p>
              <a:endParaRPr lang="en-US"/>
            </a:p>
          </p:txBody>
        </p:sp>
      </p:grpSp>
      <p:sp>
        <p:nvSpPr>
          <p:cNvPr id="11" name="TextBox 11"/>
          <p:cNvSpPr txBox="1"/>
          <p:nvPr/>
        </p:nvSpPr>
        <p:spPr>
          <a:xfrm>
            <a:off x="1469125" y="2260798"/>
            <a:ext cx="4155745" cy="811528"/>
          </a:xfrm>
          <a:prstGeom prst="rect">
            <a:avLst/>
          </a:prstGeom>
        </p:spPr>
        <p:txBody>
          <a:bodyPr lIns="0" tIns="0" rIns="0" bIns="0" rtlCol="0" anchor="t">
            <a:spAutoFit/>
          </a:bodyPr>
          <a:lstStyle/>
          <a:p>
            <a:pPr algn="l">
              <a:lnSpc>
                <a:spcPts val="6720"/>
              </a:lnSpc>
              <a:spcBef>
                <a:spcPct val="0"/>
              </a:spcBef>
            </a:pPr>
            <a:r>
              <a:rPr lang="en-US" sz="4800" b="1">
                <a:solidFill>
                  <a:srgbClr val="051D40"/>
                </a:solidFill>
                <a:latin typeface="Montserrat Bold"/>
                <a:ea typeface="Montserrat Bold"/>
                <a:cs typeface="Montserrat Bold"/>
                <a:sym typeface="Montserrat Bold"/>
              </a:rPr>
              <a:t>NestJS</a:t>
            </a:r>
          </a:p>
        </p:txBody>
      </p:sp>
      <p:sp>
        <p:nvSpPr>
          <p:cNvPr id="12" name="TextBox 12"/>
          <p:cNvSpPr txBox="1"/>
          <p:nvPr/>
        </p:nvSpPr>
        <p:spPr>
          <a:xfrm>
            <a:off x="1193034" y="6804659"/>
            <a:ext cx="8220707" cy="1371146"/>
          </a:xfrm>
          <a:prstGeom prst="rect">
            <a:avLst/>
          </a:prstGeom>
        </p:spPr>
        <p:txBody>
          <a:bodyPr lIns="0" tIns="0" rIns="0" bIns="0" rtlCol="0" anchor="t">
            <a:spAutoFit/>
          </a:bodyPr>
          <a:lstStyle/>
          <a:p>
            <a:pPr marL="0" lvl="0" indent="0" algn="l">
              <a:lnSpc>
                <a:spcPts val="5635"/>
              </a:lnSpc>
            </a:pPr>
            <a:r>
              <a:rPr lang="en-US" sz="3130" spc="-62">
                <a:solidFill>
                  <a:srgbClr val="00569E"/>
                </a:solidFill>
                <a:latin typeface="Montserrat"/>
                <a:ea typeface="Montserrat"/>
                <a:cs typeface="Montserrat"/>
                <a:sym typeface="Montserrat"/>
              </a:rPr>
              <a:t>➡️</a:t>
            </a:r>
            <a:r>
              <a:rPr lang="en-US" sz="3130" spc="-62">
                <a:solidFill>
                  <a:srgbClr val="051D40"/>
                </a:solidFill>
                <a:latin typeface="Montserrat"/>
                <a:ea typeface="Montserrat"/>
                <a:cs typeface="Montserrat"/>
                <a:sym typeface="Montserrat"/>
              </a:rPr>
              <a:t> Xây dựng API hiệu quả, hỗ trợ xây dựng tốt microservices. </a:t>
            </a:r>
            <a:r>
              <a:rPr lang="en-US" sz="3130" b="1" spc="-62">
                <a:solidFill>
                  <a:srgbClr val="051D40"/>
                </a:solidFill>
                <a:latin typeface="Montserrat Bold"/>
                <a:ea typeface="Montserrat Bold"/>
                <a:cs typeface="Montserrat Bold"/>
                <a:sym typeface="Montserrat Bold"/>
              </a:rPr>
              <a:t>Vấn đề Microservices</a:t>
            </a:r>
          </a:p>
        </p:txBody>
      </p:sp>
      <p:sp>
        <p:nvSpPr>
          <p:cNvPr id="13" name="TextBox 13"/>
          <p:cNvSpPr txBox="1"/>
          <p:nvPr/>
        </p:nvSpPr>
        <p:spPr>
          <a:xfrm>
            <a:off x="923293" y="3649237"/>
            <a:ext cx="8220707" cy="3180564"/>
          </a:xfrm>
          <a:prstGeom prst="rect">
            <a:avLst/>
          </a:prstGeom>
        </p:spPr>
        <p:txBody>
          <a:bodyPr lIns="0" tIns="0" rIns="0" bIns="0" rtlCol="0" anchor="t">
            <a:spAutoFit/>
          </a:bodyPr>
          <a:lstStyle/>
          <a:p>
            <a:pPr marL="654384" lvl="1" indent="-327192" algn="l">
              <a:lnSpc>
                <a:spcPts val="4243"/>
              </a:lnSpc>
              <a:buFont typeface="Arial"/>
              <a:buChar char="•"/>
            </a:pPr>
            <a:r>
              <a:rPr lang="en-US" sz="3030" spc="-60">
                <a:solidFill>
                  <a:srgbClr val="051D40"/>
                </a:solidFill>
                <a:latin typeface="Montserrat"/>
                <a:ea typeface="Montserrat"/>
                <a:cs typeface="Montserrat"/>
                <a:sym typeface="Montserrat"/>
              </a:rPr>
              <a:t>Tính module hoá</a:t>
            </a:r>
          </a:p>
          <a:p>
            <a:pPr algn="l">
              <a:lnSpc>
                <a:spcPts val="4243"/>
              </a:lnSpc>
            </a:pPr>
            <a:endParaRPr lang="en-US" sz="3030" spc="-60">
              <a:solidFill>
                <a:srgbClr val="051D40"/>
              </a:solidFill>
              <a:latin typeface="Montserrat"/>
              <a:ea typeface="Montserrat"/>
              <a:cs typeface="Montserrat"/>
              <a:sym typeface="Montserrat"/>
            </a:endParaRPr>
          </a:p>
          <a:p>
            <a:pPr marL="654384" lvl="1" indent="-327192" algn="l">
              <a:lnSpc>
                <a:spcPts val="4243"/>
              </a:lnSpc>
              <a:buFont typeface="Arial"/>
              <a:buChar char="•"/>
            </a:pPr>
            <a:r>
              <a:rPr lang="en-US" sz="3030" spc="-60">
                <a:solidFill>
                  <a:srgbClr val="051D40"/>
                </a:solidFill>
                <a:latin typeface="Montserrat"/>
                <a:ea typeface="Montserrat"/>
                <a:cs typeface="Montserrat"/>
                <a:sym typeface="Montserrat"/>
              </a:rPr>
              <a:t>Dễ dàng xây dựng các dịch vụ độc lập</a:t>
            </a:r>
          </a:p>
          <a:p>
            <a:pPr algn="l">
              <a:lnSpc>
                <a:spcPts val="4243"/>
              </a:lnSpc>
            </a:pPr>
            <a:endParaRPr lang="en-US" sz="3030" spc="-60">
              <a:solidFill>
                <a:srgbClr val="051D40"/>
              </a:solidFill>
              <a:latin typeface="Montserrat"/>
              <a:ea typeface="Montserrat"/>
              <a:cs typeface="Montserrat"/>
              <a:sym typeface="Montserrat"/>
            </a:endParaRPr>
          </a:p>
          <a:p>
            <a:pPr marL="654384" lvl="1" indent="-327192" algn="l">
              <a:lnSpc>
                <a:spcPts val="4243"/>
              </a:lnSpc>
              <a:buFont typeface="Arial"/>
              <a:buChar char="•"/>
            </a:pPr>
            <a:r>
              <a:rPr lang="en-US" sz="3030" spc="-60">
                <a:solidFill>
                  <a:srgbClr val="051D40"/>
                </a:solidFill>
                <a:latin typeface="Montserrat"/>
                <a:ea typeface="Montserrat"/>
                <a:cs typeface="Montserrat"/>
                <a:sym typeface="Montserrat"/>
              </a:rPr>
              <a:t>Hỗ trợ Dependency Injection</a:t>
            </a:r>
          </a:p>
          <a:p>
            <a:pPr algn="l">
              <a:lnSpc>
                <a:spcPts val="4243"/>
              </a:lnSpc>
            </a:pPr>
            <a:endParaRPr lang="en-US" sz="3030" spc="-60">
              <a:solidFill>
                <a:srgbClr val="051D40"/>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47242" y="242294"/>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txBody>
            <a:bodyPr/>
            <a:lstStyle/>
            <a:p>
              <a:endParaRPr lang="en-US"/>
            </a:p>
          </p:txBody>
        </p:sp>
        <p:sp>
          <p:nvSpPr>
            <p:cNvPr id="4" name="TextBox 4"/>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2297323"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6" name="Group 6"/>
          <p:cNvGrpSpPr/>
          <p:nvPr/>
        </p:nvGrpSpPr>
        <p:grpSpPr>
          <a:xfrm>
            <a:off x="2272544" y="2466355"/>
            <a:ext cx="4203375" cy="5973865"/>
            <a:chOff x="0" y="0"/>
            <a:chExt cx="1416547" cy="2013207"/>
          </a:xfrm>
        </p:grpSpPr>
        <p:sp>
          <p:nvSpPr>
            <p:cNvPr id="7" name="Freeform 7"/>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txBody>
            <a:bodyPr/>
            <a:lstStyle/>
            <a:p>
              <a:endParaRPr lang="en-US"/>
            </a:p>
          </p:txBody>
        </p:sp>
        <p:sp>
          <p:nvSpPr>
            <p:cNvPr id="8" name="TextBox 8"/>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AutoShape 9"/>
          <p:cNvSpPr/>
          <p:nvPr/>
        </p:nvSpPr>
        <p:spPr>
          <a:xfrm>
            <a:off x="2297323" y="5227111"/>
            <a:ext cx="4154377" cy="0"/>
          </a:xfrm>
          <a:prstGeom prst="line">
            <a:avLst/>
          </a:prstGeom>
          <a:ln w="38100" cap="flat">
            <a:solidFill>
              <a:srgbClr val="145DA0"/>
            </a:solidFill>
            <a:prstDash val="solid"/>
            <a:headEnd type="none" w="sm" len="sm"/>
            <a:tailEnd type="none" w="sm" len="sm"/>
          </a:ln>
        </p:spPr>
        <p:txBody>
          <a:bodyPr/>
          <a:lstStyle/>
          <a:p>
            <a:endParaRPr lang="en-US"/>
          </a:p>
        </p:txBody>
      </p:sp>
      <p:sp>
        <p:nvSpPr>
          <p:cNvPr id="10" name="Freeform 10"/>
          <p:cNvSpPr/>
          <p:nvPr/>
        </p:nvSpPr>
        <p:spPr>
          <a:xfrm>
            <a:off x="7066494"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11" name="Group 11"/>
          <p:cNvGrpSpPr/>
          <p:nvPr/>
        </p:nvGrpSpPr>
        <p:grpSpPr>
          <a:xfrm>
            <a:off x="7041715" y="2466355"/>
            <a:ext cx="4203375" cy="5973865"/>
            <a:chOff x="0" y="0"/>
            <a:chExt cx="1416547" cy="2013207"/>
          </a:xfrm>
        </p:grpSpPr>
        <p:sp>
          <p:nvSpPr>
            <p:cNvPr id="12" name="Freeform 12"/>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txBody>
            <a:bodyPr/>
            <a:lstStyle/>
            <a:p>
              <a:endParaRPr lang="en-US"/>
            </a:p>
          </p:txBody>
        </p:sp>
        <p:sp>
          <p:nvSpPr>
            <p:cNvPr id="13" name="TextBox 13"/>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AutoShape 14"/>
          <p:cNvSpPr/>
          <p:nvPr/>
        </p:nvSpPr>
        <p:spPr>
          <a:xfrm>
            <a:off x="7066494" y="5227111"/>
            <a:ext cx="4154377" cy="0"/>
          </a:xfrm>
          <a:prstGeom prst="line">
            <a:avLst/>
          </a:prstGeom>
          <a:ln w="38100" cap="flat">
            <a:solidFill>
              <a:srgbClr val="145DA0"/>
            </a:solidFill>
            <a:prstDash val="solid"/>
            <a:headEnd type="none" w="sm" len="sm"/>
            <a:tailEnd type="none" w="sm" len="sm"/>
          </a:ln>
        </p:spPr>
        <p:txBody>
          <a:bodyPr/>
          <a:lstStyle/>
          <a:p>
            <a:endParaRPr lang="en-US"/>
          </a:p>
        </p:txBody>
      </p:sp>
      <p:sp>
        <p:nvSpPr>
          <p:cNvPr id="15" name="Freeform 15"/>
          <p:cNvSpPr/>
          <p:nvPr/>
        </p:nvSpPr>
        <p:spPr>
          <a:xfrm>
            <a:off x="11836861"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16" name="Group 16"/>
          <p:cNvGrpSpPr/>
          <p:nvPr/>
        </p:nvGrpSpPr>
        <p:grpSpPr>
          <a:xfrm>
            <a:off x="11812082" y="2466355"/>
            <a:ext cx="4203375" cy="5973865"/>
            <a:chOff x="0" y="0"/>
            <a:chExt cx="1416547" cy="2013207"/>
          </a:xfrm>
        </p:grpSpPr>
        <p:sp>
          <p:nvSpPr>
            <p:cNvPr id="17" name="Freeform 17"/>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txBody>
            <a:bodyPr/>
            <a:lstStyle/>
            <a:p>
              <a:endParaRPr lang="en-US"/>
            </a:p>
          </p:txBody>
        </p:sp>
        <p:sp>
          <p:nvSpPr>
            <p:cNvPr id="18" name="TextBox 18"/>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9" name="AutoShape 19"/>
          <p:cNvSpPr/>
          <p:nvPr/>
        </p:nvSpPr>
        <p:spPr>
          <a:xfrm>
            <a:off x="11836861" y="5227111"/>
            <a:ext cx="4154377" cy="0"/>
          </a:xfrm>
          <a:prstGeom prst="line">
            <a:avLst/>
          </a:prstGeom>
          <a:ln w="38100" cap="flat">
            <a:solidFill>
              <a:srgbClr val="145DA0"/>
            </a:solidFill>
            <a:prstDash val="solid"/>
            <a:headEnd type="none" w="sm" len="sm"/>
            <a:tailEnd type="none" w="sm" len="sm"/>
          </a:ln>
        </p:spPr>
        <p:txBody>
          <a:bodyPr/>
          <a:lstStyle/>
          <a:p>
            <a:endParaRPr lang="en-US"/>
          </a:p>
        </p:txBody>
      </p:sp>
      <p:sp>
        <p:nvSpPr>
          <p:cNvPr id="20" name="Freeform 20"/>
          <p:cNvSpPr/>
          <p:nvPr/>
        </p:nvSpPr>
        <p:spPr>
          <a:xfrm>
            <a:off x="7937446" y="2998594"/>
            <a:ext cx="2411913" cy="1356701"/>
          </a:xfrm>
          <a:custGeom>
            <a:avLst/>
            <a:gdLst/>
            <a:ahLst/>
            <a:cxnLst/>
            <a:rect l="l" t="t" r="r" b="b"/>
            <a:pathLst>
              <a:path w="2411913" h="1356701">
                <a:moveTo>
                  <a:pt x="0" y="0"/>
                </a:moveTo>
                <a:lnTo>
                  <a:pt x="2411912" y="0"/>
                </a:lnTo>
                <a:lnTo>
                  <a:pt x="2411912" y="1356701"/>
                </a:lnTo>
                <a:lnTo>
                  <a:pt x="0" y="1356701"/>
                </a:lnTo>
                <a:lnTo>
                  <a:pt x="0" y="0"/>
                </a:lnTo>
                <a:close/>
              </a:path>
            </a:pathLst>
          </a:custGeom>
          <a:blipFill>
            <a:blip r:embed="rId3"/>
            <a:stretch>
              <a:fillRect/>
            </a:stretch>
          </a:blipFill>
        </p:spPr>
        <p:txBody>
          <a:bodyPr/>
          <a:lstStyle/>
          <a:p>
            <a:endParaRPr lang="en-US"/>
          </a:p>
        </p:txBody>
      </p:sp>
      <p:sp>
        <p:nvSpPr>
          <p:cNvPr id="21" name="Freeform 21"/>
          <p:cNvSpPr/>
          <p:nvPr/>
        </p:nvSpPr>
        <p:spPr>
          <a:xfrm>
            <a:off x="12500560" y="3160522"/>
            <a:ext cx="2826419" cy="962846"/>
          </a:xfrm>
          <a:custGeom>
            <a:avLst/>
            <a:gdLst/>
            <a:ahLst/>
            <a:cxnLst/>
            <a:rect l="l" t="t" r="r" b="b"/>
            <a:pathLst>
              <a:path w="2826419" h="962846">
                <a:moveTo>
                  <a:pt x="0" y="0"/>
                </a:moveTo>
                <a:lnTo>
                  <a:pt x="2826418" y="0"/>
                </a:lnTo>
                <a:lnTo>
                  <a:pt x="2826418" y="962846"/>
                </a:lnTo>
                <a:lnTo>
                  <a:pt x="0" y="962846"/>
                </a:lnTo>
                <a:lnTo>
                  <a:pt x="0" y="0"/>
                </a:lnTo>
                <a:close/>
              </a:path>
            </a:pathLst>
          </a:custGeom>
          <a:blipFill>
            <a:blip r:embed="rId4"/>
            <a:stretch>
              <a:fillRect/>
            </a:stretch>
          </a:blipFill>
        </p:spPr>
        <p:txBody>
          <a:bodyPr/>
          <a:lstStyle/>
          <a:p>
            <a:endParaRPr lang="en-US"/>
          </a:p>
        </p:txBody>
      </p:sp>
      <p:sp>
        <p:nvSpPr>
          <p:cNvPr id="22" name="Freeform 22"/>
          <p:cNvSpPr/>
          <p:nvPr/>
        </p:nvSpPr>
        <p:spPr>
          <a:xfrm>
            <a:off x="3173878" y="3240877"/>
            <a:ext cx="2401267" cy="802136"/>
          </a:xfrm>
          <a:custGeom>
            <a:avLst/>
            <a:gdLst/>
            <a:ahLst/>
            <a:cxnLst/>
            <a:rect l="l" t="t" r="r" b="b"/>
            <a:pathLst>
              <a:path w="2401267" h="802136">
                <a:moveTo>
                  <a:pt x="0" y="0"/>
                </a:moveTo>
                <a:lnTo>
                  <a:pt x="2401267" y="0"/>
                </a:lnTo>
                <a:lnTo>
                  <a:pt x="2401267" y="802137"/>
                </a:lnTo>
                <a:lnTo>
                  <a:pt x="0" y="802137"/>
                </a:lnTo>
                <a:lnTo>
                  <a:pt x="0" y="0"/>
                </a:lnTo>
                <a:close/>
              </a:path>
            </a:pathLst>
          </a:custGeom>
          <a:blipFill>
            <a:blip r:embed="rId5"/>
            <a:stretch>
              <a:fillRect/>
            </a:stretch>
          </a:blipFill>
        </p:spPr>
        <p:txBody>
          <a:bodyPr/>
          <a:lstStyle/>
          <a:p>
            <a:endParaRPr lang="en-US"/>
          </a:p>
        </p:txBody>
      </p:sp>
      <p:sp>
        <p:nvSpPr>
          <p:cNvPr id="23" name="TextBox 23"/>
          <p:cNvSpPr txBox="1"/>
          <p:nvPr/>
        </p:nvSpPr>
        <p:spPr>
          <a:xfrm>
            <a:off x="5201579" y="1304307"/>
            <a:ext cx="7884841" cy="771523"/>
          </a:xfrm>
          <a:prstGeom prst="rect">
            <a:avLst/>
          </a:prstGeom>
        </p:spPr>
        <p:txBody>
          <a:bodyPr lIns="0" tIns="0" rIns="0" bIns="0" rtlCol="0" anchor="t">
            <a:spAutoFit/>
          </a:bodyPr>
          <a:lstStyle/>
          <a:p>
            <a:pPr marL="0" lvl="0" indent="0" algn="ctr">
              <a:lnSpc>
                <a:spcPts val="6300"/>
              </a:lnSpc>
              <a:spcBef>
                <a:spcPct val="0"/>
              </a:spcBef>
            </a:pPr>
            <a:r>
              <a:rPr lang="en-US" sz="4500">
                <a:solidFill>
                  <a:srgbClr val="051D40"/>
                </a:solidFill>
                <a:latin typeface="Open Sans Extra Bold"/>
                <a:ea typeface="Open Sans Extra Bold"/>
                <a:cs typeface="Open Sans Extra Bold"/>
                <a:sym typeface="Open Sans Extra Bold"/>
              </a:rPr>
              <a:t>Hiệu suất</a:t>
            </a:r>
          </a:p>
        </p:txBody>
      </p:sp>
      <p:sp>
        <p:nvSpPr>
          <p:cNvPr id="24" name="TextBox 24"/>
          <p:cNvSpPr txBox="1"/>
          <p:nvPr/>
        </p:nvSpPr>
        <p:spPr>
          <a:xfrm>
            <a:off x="2584630" y="5664215"/>
            <a:ext cx="3579202" cy="2187948"/>
          </a:xfrm>
          <a:prstGeom prst="rect">
            <a:avLst/>
          </a:prstGeom>
        </p:spPr>
        <p:txBody>
          <a:bodyPr lIns="0" tIns="0" rIns="0" bIns="0" rtlCol="0" anchor="t">
            <a:spAutoFit/>
          </a:bodyPr>
          <a:lstStyle/>
          <a:p>
            <a:pPr algn="ctr">
              <a:lnSpc>
                <a:spcPts val="4354"/>
              </a:lnSpc>
            </a:pPr>
            <a:r>
              <a:rPr lang="en-US" sz="3110" spc="-62">
                <a:solidFill>
                  <a:srgbClr val="145DA0"/>
                </a:solidFill>
                <a:latin typeface="Source Sans Pro"/>
                <a:ea typeface="Source Sans Pro"/>
                <a:cs typeface="Source Sans Pro"/>
                <a:sym typeface="Source Sans Pro"/>
              </a:rPr>
              <a:t>Cải thiện hiệu năng truy xuất dữ liệu, giảm số lần phải truy vấn trực tiếp lên database</a:t>
            </a:r>
          </a:p>
        </p:txBody>
      </p:sp>
      <p:sp>
        <p:nvSpPr>
          <p:cNvPr id="25" name="TextBox 25"/>
          <p:cNvSpPr txBox="1"/>
          <p:nvPr/>
        </p:nvSpPr>
        <p:spPr>
          <a:xfrm>
            <a:off x="2584630" y="4502792"/>
            <a:ext cx="3490991" cy="414439"/>
          </a:xfrm>
          <a:prstGeom prst="rect">
            <a:avLst/>
          </a:prstGeom>
        </p:spPr>
        <p:txBody>
          <a:bodyPr lIns="0" tIns="0" rIns="0" bIns="0" rtlCol="0" anchor="t">
            <a:spAutoFit/>
          </a:bodyPr>
          <a:lstStyle/>
          <a:p>
            <a:pPr algn="ctr">
              <a:lnSpc>
                <a:spcPts val="3406"/>
              </a:lnSpc>
              <a:spcBef>
                <a:spcPct val="0"/>
              </a:spcBef>
            </a:pPr>
            <a:r>
              <a:rPr lang="en-US" sz="2433" b="1">
                <a:solidFill>
                  <a:srgbClr val="145DA0"/>
                </a:solidFill>
                <a:latin typeface="Montserrat Bold"/>
                <a:ea typeface="Montserrat Bold"/>
                <a:cs typeface="Montserrat Bold"/>
                <a:sym typeface="Montserrat Bold"/>
              </a:rPr>
              <a:t>Caching (Redis)</a:t>
            </a:r>
          </a:p>
        </p:txBody>
      </p:sp>
      <p:sp>
        <p:nvSpPr>
          <p:cNvPr id="26" name="TextBox 26"/>
          <p:cNvSpPr txBox="1"/>
          <p:nvPr/>
        </p:nvSpPr>
        <p:spPr>
          <a:xfrm>
            <a:off x="7353801" y="5664215"/>
            <a:ext cx="3579202" cy="2187948"/>
          </a:xfrm>
          <a:prstGeom prst="rect">
            <a:avLst/>
          </a:prstGeom>
        </p:spPr>
        <p:txBody>
          <a:bodyPr lIns="0" tIns="0" rIns="0" bIns="0" rtlCol="0" anchor="t">
            <a:spAutoFit/>
          </a:bodyPr>
          <a:lstStyle/>
          <a:p>
            <a:pPr algn="ctr">
              <a:lnSpc>
                <a:spcPts val="4354"/>
              </a:lnSpc>
            </a:pPr>
            <a:r>
              <a:rPr lang="en-US" sz="3110" spc="-62">
                <a:solidFill>
                  <a:srgbClr val="145DA0"/>
                </a:solidFill>
                <a:latin typeface="Source Sans Pro"/>
                <a:ea typeface="Source Sans Pro"/>
                <a:cs typeface="Source Sans Pro"/>
                <a:sym typeface="Source Sans Pro"/>
              </a:rPr>
              <a:t> Xử lý các tác vụ cần thời gian lâu hơn hoặc không cần phản hồi ngay lập tức</a:t>
            </a:r>
          </a:p>
        </p:txBody>
      </p:sp>
      <p:sp>
        <p:nvSpPr>
          <p:cNvPr id="27" name="TextBox 27"/>
          <p:cNvSpPr txBox="1"/>
          <p:nvPr/>
        </p:nvSpPr>
        <p:spPr>
          <a:xfrm>
            <a:off x="7077733" y="4502792"/>
            <a:ext cx="4167356" cy="381419"/>
          </a:xfrm>
          <a:prstGeom prst="rect">
            <a:avLst/>
          </a:prstGeom>
        </p:spPr>
        <p:txBody>
          <a:bodyPr lIns="0" tIns="0" rIns="0" bIns="0" rtlCol="0" anchor="t">
            <a:spAutoFit/>
          </a:bodyPr>
          <a:lstStyle/>
          <a:p>
            <a:pPr algn="ctr">
              <a:lnSpc>
                <a:spcPts val="3126"/>
              </a:lnSpc>
              <a:spcBef>
                <a:spcPct val="0"/>
              </a:spcBef>
            </a:pPr>
            <a:r>
              <a:rPr lang="en-US" sz="2233" b="1">
                <a:solidFill>
                  <a:srgbClr val="145DA0"/>
                </a:solidFill>
                <a:latin typeface="Montserrat Bold"/>
                <a:ea typeface="Montserrat Bold"/>
                <a:cs typeface="Montserrat Bold"/>
                <a:sym typeface="Montserrat Bold"/>
              </a:rPr>
              <a:t>Background job (BullMQ)</a:t>
            </a:r>
          </a:p>
        </p:txBody>
      </p:sp>
      <p:sp>
        <p:nvSpPr>
          <p:cNvPr id="28" name="TextBox 28"/>
          <p:cNvSpPr txBox="1"/>
          <p:nvPr/>
        </p:nvSpPr>
        <p:spPr>
          <a:xfrm>
            <a:off x="12124448" y="5664215"/>
            <a:ext cx="3579202" cy="2223508"/>
          </a:xfrm>
          <a:prstGeom prst="rect">
            <a:avLst/>
          </a:prstGeom>
        </p:spPr>
        <p:txBody>
          <a:bodyPr lIns="0" tIns="0" rIns="0" bIns="0" rtlCol="0" anchor="t">
            <a:spAutoFit/>
          </a:bodyPr>
          <a:lstStyle/>
          <a:p>
            <a:pPr algn="ctr">
              <a:lnSpc>
                <a:spcPts val="4494"/>
              </a:lnSpc>
            </a:pPr>
            <a:r>
              <a:rPr lang="en-US" sz="3210" spc="-64">
                <a:solidFill>
                  <a:srgbClr val="145DA0"/>
                </a:solidFill>
                <a:latin typeface="Source Sans Pro"/>
                <a:ea typeface="Source Sans Pro"/>
                <a:cs typeface="Source Sans Pro"/>
                <a:sym typeface="Source Sans Pro"/>
              </a:rPr>
              <a:t>Tự động hóa các công việc định kỳ và tối ưu hóa hiệu suất hệ thống</a:t>
            </a:r>
          </a:p>
        </p:txBody>
      </p:sp>
      <p:sp>
        <p:nvSpPr>
          <p:cNvPr id="29" name="TextBox 29"/>
          <p:cNvSpPr txBox="1"/>
          <p:nvPr/>
        </p:nvSpPr>
        <p:spPr>
          <a:xfrm>
            <a:off x="11968529" y="4502792"/>
            <a:ext cx="3891041" cy="381419"/>
          </a:xfrm>
          <a:prstGeom prst="rect">
            <a:avLst/>
          </a:prstGeom>
        </p:spPr>
        <p:txBody>
          <a:bodyPr lIns="0" tIns="0" rIns="0" bIns="0" rtlCol="0" anchor="t">
            <a:spAutoFit/>
          </a:bodyPr>
          <a:lstStyle/>
          <a:p>
            <a:pPr algn="ctr">
              <a:lnSpc>
                <a:spcPts val="3126"/>
              </a:lnSpc>
              <a:spcBef>
                <a:spcPct val="0"/>
              </a:spcBef>
            </a:pPr>
            <a:r>
              <a:rPr lang="en-US" sz="2233" b="1">
                <a:solidFill>
                  <a:srgbClr val="145DA0"/>
                </a:solidFill>
                <a:latin typeface="Montserrat Bold"/>
                <a:ea typeface="Montserrat Bold"/>
                <a:cs typeface="Montserrat Bold"/>
                <a:sym typeface="Montserrat Bold"/>
              </a:rPr>
              <a:t>Cron job (Nest Scheduler)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655036"/>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a:stretch>
            </a:blipFill>
          </p:spPr>
          <p:txBody>
            <a:bodyPr/>
            <a:lstStyle/>
            <a:p>
              <a:endParaRPr lang="en-US"/>
            </a:p>
          </p:txBody>
        </p:sp>
      </p:grpSp>
      <p:sp>
        <p:nvSpPr>
          <p:cNvPr id="11" name="TextBox 11"/>
          <p:cNvSpPr txBox="1"/>
          <p:nvPr/>
        </p:nvSpPr>
        <p:spPr>
          <a:xfrm>
            <a:off x="1469125" y="3268866"/>
            <a:ext cx="8414772" cy="1811200"/>
          </a:xfrm>
          <a:prstGeom prst="rect">
            <a:avLst/>
          </a:prstGeom>
        </p:spPr>
        <p:txBody>
          <a:bodyPr lIns="0" tIns="0" rIns="0" bIns="0" rtlCol="0" anchor="t">
            <a:spAutoFit/>
          </a:bodyPr>
          <a:lstStyle/>
          <a:p>
            <a:pPr marL="0" lvl="0" indent="0" algn="l">
              <a:lnSpc>
                <a:spcPts val="4915"/>
              </a:lnSpc>
            </a:pPr>
            <a:r>
              <a:rPr lang="en-US" sz="2730" spc="-54">
                <a:solidFill>
                  <a:srgbClr val="051D40"/>
                </a:solidFill>
                <a:latin typeface="Montserrat"/>
                <a:ea typeface="Montserrat"/>
                <a:cs typeface="Montserrat"/>
                <a:sym typeface="Montserrat"/>
              </a:rPr>
              <a:t>Kubernetes là một nền tảng nguồn mở, có khả năng mở rộng và di động, dùng để quản lý các service được đóng gói trong container </a:t>
            </a:r>
          </a:p>
        </p:txBody>
      </p:sp>
      <p:sp>
        <p:nvSpPr>
          <p:cNvPr id="12" name="TextBox 12"/>
          <p:cNvSpPr txBox="1"/>
          <p:nvPr/>
        </p:nvSpPr>
        <p:spPr>
          <a:xfrm>
            <a:off x="1469125" y="2260798"/>
            <a:ext cx="4155745" cy="811528"/>
          </a:xfrm>
          <a:prstGeom prst="rect">
            <a:avLst/>
          </a:prstGeom>
        </p:spPr>
        <p:txBody>
          <a:bodyPr lIns="0" tIns="0" rIns="0" bIns="0" rtlCol="0" anchor="t">
            <a:spAutoFit/>
          </a:bodyPr>
          <a:lstStyle/>
          <a:p>
            <a:pPr algn="l">
              <a:lnSpc>
                <a:spcPts val="6720"/>
              </a:lnSpc>
              <a:spcBef>
                <a:spcPct val="0"/>
              </a:spcBef>
            </a:pPr>
            <a:r>
              <a:rPr lang="en-US" sz="4800" b="1">
                <a:solidFill>
                  <a:srgbClr val="051D40"/>
                </a:solidFill>
                <a:latin typeface="Montserrat Bold"/>
                <a:ea typeface="Montserrat Bold"/>
                <a:cs typeface="Montserrat Bold"/>
                <a:sym typeface="Montserrat Bold"/>
              </a:rPr>
              <a:t>Kubernetes</a:t>
            </a:r>
          </a:p>
        </p:txBody>
      </p:sp>
      <p:sp>
        <p:nvSpPr>
          <p:cNvPr id="13" name="TextBox 13"/>
          <p:cNvSpPr txBox="1"/>
          <p:nvPr/>
        </p:nvSpPr>
        <p:spPr>
          <a:xfrm>
            <a:off x="1469125" y="5532230"/>
            <a:ext cx="8414772" cy="1192075"/>
          </a:xfrm>
          <a:prstGeom prst="rect">
            <a:avLst/>
          </a:prstGeom>
        </p:spPr>
        <p:txBody>
          <a:bodyPr lIns="0" tIns="0" rIns="0" bIns="0" rtlCol="0" anchor="t">
            <a:spAutoFit/>
          </a:bodyPr>
          <a:lstStyle/>
          <a:p>
            <a:pPr marL="0" lvl="0" indent="0" algn="l">
              <a:lnSpc>
                <a:spcPts val="4915"/>
              </a:lnSpc>
            </a:pPr>
            <a:r>
              <a:rPr lang="en-US" sz="2730" spc="-54">
                <a:solidFill>
                  <a:srgbClr val="051D40"/>
                </a:solidFill>
                <a:latin typeface="Montserrat"/>
                <a:ea typeface="Montserrat"/>
                <a:cs typeface="Montserrat"/>
                <a:sym typeface="Montserrat"/>
              </a:rPr>
              <a:t>Hỗ trợ triển khai và quản lý các ứng dụng container trên quy mô lớn</a:t>
            </a:r>
          </a:p>
        </p:txBody>
      </p:sp>
      <p:sp>
        <p:nvSpPr>
          <p:cNvPr id="14" name="TextBox 14"/>
          <p:cNvSpPr txBox="1"/>
          <p:nvPr/>
        </p:nvSpPr>
        <p:spPr>
          <a:xfrm>
            <a:off x="1469125" y="7171981"/>
            <a:ext cx="8220707" cy="1118567"/>
          </a:xfrm>
          <a:prstGeom prst="rect">
            <a:avLst/>
          </a:prstGeom>
        </p:spPr>
        <p:txBody>
          <a:bodyPr lIns="0" tIns="0" rIns="0" bIns="0" rtlCol="0" anchor="t">
            <a:spAutoFit/>
          </a:bodyPr>
          <a:lstStyle/>
          <a:p>
            <a:pPr algn="l">
              <a:lnSpc>
                <a:spcPts val="4915"/>
              </a:lnSpc>
            </a:pPr>
            <a:r>
              <a:rPr lang="en-US" sz="2730" spc="-54">
                <a:solidFill>
                  <a:srgbClr val="00569E"/>
                </a:solidFill>
                <a:latin typeface="Montserrat"/>
                <a:ea typeface="Montserrat"/>
                <a:cs typeface="Montserrat"/>
                <a:sym typeface="Montserrat"/>
              </a:rPr>
              <a:t>➡️ </a:t>
            </a:r>
            <a:r>
              <a:rPr lang="en-US" sz="2730" spc="-54">
                <a:solidFill>
                  <a:srgbClr val="051D40"/>
                </a:solidFill>
                <a:latin typeface="Montserrat"/>
                <a:ea typeface="Montserrat"/>
                <a:cs typeface="Montserrat"/>
                <a:sym typeface="Montserrat"/>
              </a:rPr>
              <a:t>Ứng dụng Kubernetes để giải quyết vấn đề  </a:t>
            </a:r>
          </a:p>
          <a:p>
            <a:pPr marL="0" lvl="0" indent="0" algn="l">
              <a:lnSpc>
                <a:spcPts val="3823"/>
              </a:lnSpc>
              <a:spcBef>
                <a:spcPct val="0"/>
              </a:spcBef>
            </a:pPr>
            <a:r>
              <a:rPr lang="en-US" sz="2730" b="1" spc="-54">
                <a:solidFill>
                  <a:srgbClr val="051D40"/>
                </a:solidFill>
                <a:latin typeface="Montserrat Bold"/>
                <a:ea typeface="Montserrat Bold"/>
                <a:cs typeface="Montserrat Bold"/>
                <a:sym typeface="Montserrat Bold"/>
              </a:rPr>
              <a:t>chịu tải cao</a:t>
            </a:r>
            <a:r>
              <a:rPr lang="en-US" sz="2730" spc="-54">
                <a:solidFill>
                  <a:srgbClr val="051D40"/>
                </a:solidFill>
                <a:latin typeface="Montserrat"/>
                <a:ea typeface="Montserrat"/>
                <a:cs typeface="Montserrat"/>
                <a:sym typeface="Montserrat"/>
              </a:rPr>
              <a:t> của hệ thống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655036"/>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a:stretch>
            </a:blipFill>
          </p:spPr>
          <p:txBody>
            <a:bodyPr/>
            <a:lstStyle/>
            <a:p>
              <a:endParaRPr lang="en-US"/>
            </a:p>
          </p:txBody>
        </p:sp>
      </p:grpSp>
      <p:sp>
        <p:nvSpPr>
          <p:cNvPr id="11" name="TextBox 11"/>
          <p:cNvSpPr txBox="1"/>
          <p:nvPr/>
        </p:nvSpPr>
        <p:spPr>
          <a:xfrm>
            <a:off x="1157395" y="3511476"/>
            <a:ext cx="8414772" cy="940283"/>
          </a:xfrm>
          <a:prstGeom prst="rect">
            <a:avLst/>
          </a:prstGeom>
        </p:spPr>
        <p:txBody>
          <a:bodyPr lIns="0" tIns="0" rIns="0" bIns="0" rtlCol="0" anchor="t">
            <a:spAutoFit/>
          </a:bodyPr>
          <a:lstStyle/>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HPA đảm bảo quản lý và duy trì số lượng bản sao của service.</a:t>
            </a:r>
          </a:p>
        </p:txBody>
      </p:sp>
      <p:sp>
        <p:nvSpPr>
          <p:cNvPr id="12" name="TextBox 12"/>
          <p:cNvSpPr txBox="1"/>
          <p:nvPr/>
        </p:nvSpPr>
        <p:spPr>
          <a:xfrm>
            <a:off x="1592950" y="1661722"/>
            <a:ext cx="8885867" cy="1659253"/>
          </a:xfrm>
          <a:prstGeom prst="rect">
            <a:avLst/>
          </a:prstGeom>
        </p:spPr>
        <p:txBody>
          <a:bodyPr lIns="0" tIns="0" rIns="0" bIns="0" rtlCol="0" anchor="t">
            <a:spAutoFit/>
          </a:bodyPr>
          <a:lstStyle/>
          <a:p>
            <a:pPr algn="l">
              <a:lnSpc>
                <a:spcPts val="6720"/>
              </a:lnSpc>
              <a:spcBef>
                <a:spcPct val="0"/>
              </a:spcBef>
            </a:pPr>
            <a:r>
              <a:rPr lang="en-US" sz="4800" b="1">
                <a:solidFill>
                  <a:srgbClr val="051D40"/>
                </a:solidFill>
                <a:latin typeface="Montserrat Bold"/>
                <a:ea typeface="Montserrat Bold"/>
                <a:cs typeface="Montserrat Bold"/>
                <a:sym typeface="Montserrat Bold"/>
              </a:rPr>
              <a:t>HPA (Horizontal Pod Auto-scaling) và Deployment </a:t>
            </a:r>
          </a:p>
        </p:txBody>
      </p:sp>
      <p:sp>
        <p:nvSpPr>
          <p:cNvPr id="13" name="TextBox 13"/>
          <p:cNvSpPr txBox="1"/>
          <p:nvPr/>
        </p:nvSpPr>
        <p:spPr>
          <a:xfrm>
            <a:off x="1469125" y="7721956"/>
            <a:ext cx="8220707" cy="940022"/>
          </a:xfrm>
          <a:prstGeom prst="rect">
            <a:avLst/>
          </a:prstGeom>
        </p:spPr>
        <p:txBody>
          <a:bodyPr lIns="0" tIns="0" rIns="0" bIns="0" rtlCol="0" anchor="t">
            <a:spAutoFit/>
          </a:bodyPr>
          <a:lstStyle/>
          <a:p>
            <a:pPr marL="0" lvl="0" indent="0" algn="l">
              <a:lnSpc>
                <a:spcPts val="3823"/>
              </a:lnSpc>
              <a:spcBef>
                <a:spcPct val="0"/>
              </a:spcBef>
            </a:pPr>
            <a:r>
              <a:rPr lang="en-US" sz="2730" spc="-54">
                <a:solidFill>
                  <a:srgbClr val="00569E"/>
                </a:solidFill>
                <a:latin typeface="Montserrat"/>
                <a:ea typeface="Montserrat"/>
                <a:cs typeface="Montserrat"/>
                <a:sym typeface="Montserrat"/>
              </a:rPr>
              <a:t>➡️ </a:t>
            </a:r>
            <a:r>
              <a:rPr lang="en-US" sz="2730" spc="-54">
                <a:solidFill>
                  <a:srgbClr val="000000"/>
                </a:solidFill>
                <a:latin typeface="Montserrat"/>
                <a:ea typeface="Montserrat"/>
                <a:cs typeface="Montserrat"/>
                <a:sym typeface="Montserrat"/>
              </a:rPr>
              <a:t>Duy trì sự ổn định và khả năng phục hồi của ứng dụng -&gt; </a:t>
            </a:r>
            <a:r>
              <a:rPr lang="en-US" sz="2730" b="1" spc="-54">
                <a:solidFill>
                  <a:srgbClr val="000000"/>
                </a:solidFill>
                <a:latin typeface="Montserrat Bold"/>
                <a:ea typeface="Montserrat Bold"/>
                <a:cs typeface="Montserrat Bold"/>
                <a:sym typeface="Montserrat Bold"/>
              </a:rPr>
              <a:t>tính sẵn sàng cao</a:t>
            </a:r>
          </a:p>
        </p:txBody>
      </p:sp>
      <p:sp>
        <p:nvSpPr>
          <p:cNvPr id="14" name="TextBox 14"/>
          <p:cNvSpPr txBox="1"/>
          <p:nvPr/>
        </p:nvSpPr>
        <p:spPr>
          <a:xfrm>
            <a:off x="1157395" y="6343785"/>
            <a:ext cx="8414772" cy="940022"/>
          </a:xfrm>
          <a:prstGeom prst="rect">
            <a:avLst/>
          </a:prstGeom>
        </p:spPr>
        <p:txBody>
          <a:bodyPr lIns="0" tIns="0" rIns="0" bIns="0" rtlCol="0" anchor="t">
            <a:spAutoFit/>
          </a:bodyPr>
          <a:lstStyle/>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Deployment sẽ nhận lệnh từ HPA, cập nhật pod cho đủ số lượng HPA yêu cầu.</a:t>
            </a:r>
          </a:p>
        </p:txBody>
      </p:sp>
      <p:sp>
        <p:nvSpPr>
          <p:cNvPr id="15" name="TextBox 15"/>
          <p:cNvSpPr txBox="1"/>
          <p:nvPr/>
        </p:nvSpPr>
        <p:spPr>
          <a:xfrm>
            <a:off x="1157395" y="4733024"/>
            <a:ext cx="8414772" cy="1416141"/>
          </a:xfrm>
          <a:prstGeom prst="rect">
            <a:avLst/>
          </a:prstGeom>
        </p:spPr>
        <p:txBody>
          <a:bodyPr lIns="0" tIns="0" rIns="0" bIns="0" rtlCol="0" anchor="t">
            <a:spAutoFit/>
          </a:bodyPr>
          <a:lstStyle/>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Deployment khởi tạo replicas với chiến lược Rolling Update và tự động rollback nếu xảy ra lỗi.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655036"/>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t="-20683" b="-20683"/>
              </a:stretch>
            </a:blipFill>
          </p:spPr>
          <p:txBody>
            <a:bodyPr/>
            <a:lstStyle/>
            <a:p>
              <a:endParaRPr lang="en-US"/>
            </a:p>
          </p:txBody>
        </p:sp>
      </p:grpSp>
      <p:sp>
        <p:nvSpPr>
          <p:cNvPr id="11" name="TextBox 11"/>
          <p:cNvSpPr txBox="1"/>
          <p:nvPr/>
        </p:nvSpPr>
        <p:spPr>
          <a:xfrm>
            <a:off x="1157395" y="3511476"/>
            <a:ext cx="8414772" cy="463902"/>
          </a:xfrm>
          <a:prstGeom prst="rect">
            <a:avLst/>
          </a:prstGeom>
        </p:spPr>
        <p:txBody>
          <a:bodyPr lIns="0" tIns="0" rIns="0" bIns="0" rtlCol="0" anchor="t">
            <a:spAutoFit/>
          </a:bodyPr>
          <a:lstStyle/>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Triển khai MySQL bằng Deployment</a:t>
            </a:r>
          </a:p>
        </p:txBody>
      </p:sp>
      <p:sp>
        <p:nvSpPr>
          <p:cNvPr id="12" name="TextBox 12"/>
          <p:cNvSpPr txBox="1"/>
          <p:nvPr/>
        </p:nvSpPr>
        <p:spPr>
          <a:xfrm>
            <a:off x="1469125" y="2261906"/>
            <a:ext cx="7674875" cy="811420"/>
          </a:xfrm>
          <a:prstGeom prst="rect">
            <a:avLst/>
          </a:prstGeom>
        </p:spPr>
        <p:txBody>
          <a:bodyPr lIns="0" tIns="0" rIns="0" bIns="0" rtlCol="0" anchor="t">
            <a:spAutoFit/>
          </a:bodyPr>
          <a:lstStyle/>
          <a:p>
            <a:pPr algn="l">
              <a:lnSpc>
                <a:spcPts val="6720"/>
              </a:lnSpc>
              <a:spcBef>
                <a:spcPct val="0"/>
              </a:spcBef>
            </a:pPr>
            <a:r>
              <a:rPr lang="en-US" sz="4800" b="1">
                <a:solidFill>
                  <a:srgbClr val="051D40"/>
                </a:solidFill>
                <a:latin typeface="Montserrat Bold"/>
                <a:ea typeface="Montserrat Bold"/>
                <a:cs typeface="Montserrat Bold"/>
                <a:sym typeface="Montserrat Bold"/>
              </a:rPr>
              <a:t>Vertical scaling MySQL</a:t>
            </a:r>
          </a:p>
        </p:txBody>
      </p:sp>
      <p:sp>
        <p:nvSpPr>
          <p:cNvPr id="13" name="TextBox 13"/>
          <p:cNvSpPr txBox="1"/>
          <p:nvPr/>
        </p:nvSpPr>
        <p:spPr>
          <a:xfrm>
            <a:off x="1469125" y="6210960"/>
            <a:ext cx="8220707" cy="940283"/>
          </a:xfrm>
          <a:prstGeom prst="rect">
            <a:avLst/>
          </a:prstGeom>
        </p:spPr>
        <p:txBody>
          <a:bodyPr lIns="0" tIns="0" rIns="0" bIns="0" rtlCol="0" anchor="t">
            <a:spAutoFit/>
          </a:bodyPr>
          <a:lstStyle/>
          <a:p>
            <a:pPr marL="0" lvl="0" indent="0" algn="l">
              <a:lnSpc>
                <a:spcPts val="3823"/>
              </a:lnSpc>
              <a:spcBef>
                <a:spcPct val="0"/>
              </a:spcBef>
            </a:pPr>
            <a:r>
              <a:rPr lang="en-US" sz="2730" spc="-54">
                <a:solidFill>
                  <a:srgbClr val="051D40"/>
                </a:solidFill>
                <a:latin typeface="Montserrat"/>
                <a:ea typeface="Montserrat"/>
                <a:cs typeface="Montserrat"/>
                <a:sym typeface="Montserrat"/>
              </a:rPr>
              <a:t>➡️ tự động co giãn tài nguyên ram và cpu để đáp ứng cho request</a:t>
            </a:r>
          </a:p>
        </p:txBody>
      </p:sp>
      <p:sp>
        <p:nvSpPr>
          <p:cNvPr id="14" name="TextBox 14"/>
          <p:cNvSpPr txBox="1"/>
          <p:nvPr/>
        </p:nvSpPr>
        <p:spPr>
          <a:xfrm>
            <a:off x="1157395" y="4406855"/>
            <a:ext cx="8414772" cy="463902"/>
          </a:xfrm>
          <a:prstGeom prst="rect">
            <a:avLst/>
          </a:prstGeom>
        </p:spPr>
        <p:txBody>
          <a:bodyPr lIns="0" tIns="0" rIns="0" bIns="0" rtlCol="0" anchor="t">
            <a:spAutoFit/>
          </a:bodyPr>
          <a:lstStyle/>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Request: 0.5Ram, 1/4 CPU</a:t>
            </a:r>
          </a:p>
        </p:txBody>
      </p:sp>
      <p:sp>
        <p:nvSpPr>
          <p:cNvPr id="15" name="TextBox 15"/>
          <p:cNvSpPr txBox="1"/>
          <p:nvPr/>
        </p:nvSpPr>
        <p:spPr>
          <a:xfrm>
            <a:off x="1157395" y="5308907"/>
            <a:ext cx="8414772" cy="463902"/>
          </a:xfrm>
          <a:prstGeom prst="rect">
            <a:avLst/>
          </a:prstGeom>
        </p:spPr>
        <p:txBody>
          <a:bodyPr lIns="0" tIns="0" rIns="0" bIns="0" rtlCol="0" anchor="t">
            <a:spAutoFit/>
          </a:bodyPr>
          <a:lstStyle/>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Max: 1Ram, 1/2 CPU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a:off x="13402273" y="-8767"/>
            <a:ext cx="4907787" cy="10295767"/>
          </a:xfrm>
          <a:custGeom>
            <a:avLst/>
            <a:gdLst/>
            <a:ahLst/>
            <a:cxnLst/>
            <a:rect l="l" t="t" r="r" b="b"/>
            <a:pathLst>
              <a:path w="4907787" h="10295767">
                <a:moveTo>
                  <a:pt x="0" y="0"/>
                </a:moveTo>
                <a:lnTo>
                  <a:pt x="4907787" y="0"/>
                </a:lnTo>
                <a:lnTo>
                  <a:pt x="4907787" y="10295767"/>
                </a:lnTo>
                <a:lnTo>
                  <a:pt x="0" y="10295767"/>
                </a:lnTo>
                <a:lnTo>
                  <a:pt x="0" y="0"/>
                </a:lnTo>
                <a:close/>
              </a:path>
            </a:pathLst>
          </a:custGeom>
          <a:blipFill>
            <a:blip r:embed="rId2"/>
            <a:stretch>
              <a:fillRect l="-19884" r="-19884"/>
            </a:stretch>
          </a:blipFill>
        </p:spPr>
        <p:txBody>
          <a:bodyPr/>
          <a:lstStyle/>
          <a:p>
            <a:endParaRPr lang="en-US"/>
          </a:p>
        </p:txBody>
      </p:sp>
      <p:grpSp>
        <p:nvGrpSpPr>
          <p:cNvPr id="3" name="Group 3"/>
          <p:cNvGrpSpPr/>
          <p:nvPr/>
        </p:nvGrpSpPr>
        <p:grpSpPr>
          <a:xfrm>
            <a:off x="1028700" y="3852968"/>
            <a:ext cx="14586028" cy="5088907"/>
            <a:chOff x="0" y="0"/>
            <a:chExt cx="3841588" cy="1340288"/>
          </a:xfrm>
        </p:grpSpPr>
        <p:sp>
          <p:nvSpPr>
            <p:cNvPr id="4" name="Freeform 4"/>
            <p:cNvSpPr/>
            <p:nvPr/>
          </p:nvSpPr>
          <p:spPr>
            <a:xfrm>
              <a:off x="0" y="0"/>
              <a:ext cx="3841588" cy="1340288"/>
            </a:xfrm>
            <a:custGeom>
              <a:avLst/>
              <a:gdLst/>
              <a:ahLst/>
              <a:cxnLst/>
              <a:rect l="l" t="t" r="r" b="b"/>
              <a:pathLst>
                <a:path w="3841588" h="1340288">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p:spPr>
          <p:txBody>
            <a:bodyPr/>
            <a:lstStyle/>
            <a:p>
              <a:endParaRPr lang="en-US"/>
            </a:p>
          </p:txBody>
        </p:sp>
        <p:sp>
          <p:nvSpPr>
            <p:cNvPr id="5" name="TextBox 5"/>
            <p:cNvSpPr txBox="1"/>
            <p:nvPr/>
          </p:nvSpPr>
          <p:spPr>
            <a:xfrm>
              <a:off x="0" y="-38100"/>
              <a:ext cx="3841588" cy="137838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528335"/>
            <a:ext cx="9991804" cy="1126463"/>
          </a:xfrm>
          <a:prstGeom prst="rect">
            <a:avLst/>
          </a:prstGeom>
        </p:spPr>
        <p:txBody>
          <a:bodyPr lIns="0" tIns="0" rIns="0" bIns="0" rtlCol="0" anchor="t">
            <a:spAutoFit/>
          </a:bodyPr>
          <a:lstStyle/>
          <a:p>
            <a:pPr algn="l">
              <a:lnSpc>
                <a:spcPts val="9247"/>
              </a:lnSpc>
              <a:spcBef>
                <a:spcPct val="0"/>
              </a:spcBef>
            </a:pPr>
            <a:r>
              <a:rPr lang="en-US" sz="6605">
                <a:solidFill>
                  <a:srgbClr val="FDFDFD"/>
                </a:solidFill>
                <a:latin typeface="Open Sans Extra Bold"/>
                <a:ea typeface="Open Sans Extra Bold"/>
                <a:cs typeface="Open Sans Extra Bold"/>
                <a:sym typeface="Open Sans Extra Bold"/>
              </a:rPr>
              <a:t>Service trong K8S</a:t>
            </a:r>
          </a:p>
        </p:txBody>
      </p:sp>
      <p:grpSp>
        <p:nvGrpSpPr>
          <p:cNvPr id="7" name="Group 7"/>
          <p:cNvGrpSpPr/>
          <p:nvPr/>
        </p:nvGrpSpPr>
        <p:grpSpPr>
          <a:xfrm>
            <a:off x="15573718" y="7940477"/>
            <a:ext cx="4693046" cy="46930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598253" y="5642379"/>
            <a:ext cx="5834758" cy="1716712"/>
          </a:xfrm>
          <a:prstGeom prst="rect">
            <a:avLst/>
          </a:prstGeom>
        </p:spPr>
        <p:txBody>
          <a:bodyPr lIns="0" tIns="0" rIns="0" bIns="0" rtlCol="0" anchor="t">
            <a:spAutoFit/>
          </a:bodyPr>
          <a:lstStyle/>
          <a:p>
            <a:pPr algn="ctr">
              <a:lnSpc>
                <a:spcPts val="4583"/>
              </a:lnSpc>
            </a:pPr>
            <a:r>
              <a:rPr lang="en-US" sz="3273" spc="-65">
                <a:solidFill>
                  <a:srgbClr val="145DA0"/>
                </a:solidFill>
                <a:latin typeface="Source Sans Pro"/>
                <a:ea typeface="Source Sans Pro"/>
                <a:cs typeface="Source Sans Pro"/>
                <a:sym typeface="Source Sans Pro"/>
              </a:rPr>
              <a:t>Kết hợp với plugin Kong Ingress Controller để định tuyến reques từ bên ngoài đến cụm Cluster</a:t>
            </a:r>
          </a:p>
        </p:txBody>
      </p:sp>
      <p:sp>
        <p:nvSpPr>
          <p:cNvPr id="11" name="AutoShape 11"/>
          <p:cNvSpPr/>
          <p:nvPr/>
        </p:nvSpPr>
        <p:spPr>
          <a:xfrm flipH="1">
            <a:off x="7433011" y="3852968"/>
            <a:ext cx="1904689" cy="5088907"/>
          </a:xfrm>
          <a:prstGeom prst="line">
            <a:avLst/>
          </a:prstGeom>
          <a:ln w="38100" cap="flat">
            <a:solidFill>
              <a:srgbClr val="145DA0"/>
            </a:solidFill>
            <a:prstDash val="solid"/>
            <a:headEnd type="none" w="sm" len="sm"/>
            <a:tailEnd type="none" w="sm" len="sm"/>
          </a:ln>
        </p:spPr>
        <p:txBody>
          <a:bodyPr/>
          <a:lstStyle/>
          <a:p>
            <a:endParaRPr lang="en-US"/>
          </a:p>
        </p:txBody>
      </p:sp>
      <p:sp>
        <p:nvSpPr>
          <p:cNvPr id="12" name="TextBox 12"/>
          <p:cNvSpPr txBox="1"/>
          <p:nvPr/>
        </p:nvSpPr>
        <p:spPr>
          <a:xfrm>
            <a:off x="2132940" y="4077777"/>
            <a:ext cx="4336220" cy="1135745"/>
          </a:xfrm>
          <a:prstGeom prst="rect">
            <a:avLst/>
          </a:prstGeom>
        </p:spPr>
        <p:txBody>
          <a:bodyPr lIns="0" tIns="0" rIns="0" bIns="0" rtlCol="0" anchor="t">
            <a:spAutoFit/>
          </a:bodyPr>
          <a:lstStyle/>
          <a:p>
            <a:pPr algn="ctr">
              <a:lnSpc>
                <a:spcPts val="4599"/>
              </a:lnSpc>
              <a:spcBef>
                <a:spcPct val="0"/>
              </a:spcBef>
            </a:pPr>
            <a:r>
              <a:rPr lang="en-US" sz="3285" b="1">
                <a:solidFill>
                  <a:srgbClr val="145DA0"/>
                </a:solidFill>
                <a:latin typeface="Montserrat Bold"/>
                <a:ea typeface="Montserrat Bold"/>
                <a:cs typeface="Montserrat Bold"/>
                <a:sym typeface="Montserrat Bold"/>
              </a:rPr>
              <a:t>Giao tiếp bên ngoài (Ingress)</a:t>
            </a:r>
          </a:p>
        </p:txBody>
      </p:sp>
      <p:sp>
        <p:nvSpPr>
          <p:cNvPr id="13" name="TextBox 13"/>
          <p:cNvSpPr txBox="1"/>
          <p:nvPr/>
        </p:nvSpPr>
        <p:spPr>
          <a:xfrm>
            <a:off x="9337700" y="5642379"/>
            <a:ext cx="5621309" cy="1064926"/>
          </a:xfrm>
          <a:prstGeom prst="rect">
            <a:avLst/>
          </a:prstGeom>
        </p:spPr>
        <p:txBody>
          <a:bodyPr lIns="0" tIns="0" rIns="0" bIns="0" rtlCol="0" anchor="t">
            <a:spAutoFit/>
          </a:bodyPr>
          <a:lstStyle/>
          <a:p>
            <a:pPr algn="ctr">
              <a:lnSpc>
                <a:spcPts val="4303"/>
              </a:lnSpc>
            </a:pPr>
            <a:r>
              <a:rPr lang="en-US" sz="3073" spc="-61">
                <a:solidFill>
                  <a:srgbClr val="145DA0"/>
                </a:solidFill>
                <a:latin typeface="Source Sans Pro"/>
                <a:ea typeface="Source Sans Pro"/>
                <a:cs typeface="Source Sans Pro"/>
                <a:sym typeface="Source Sans Pro"/>
              </a:rPr>
              <a:t>Sử dụng ClusterIP để điều phối, cân bằng tải request đến service đích</a:t>
            </a:r>
          </a:p>
        </p:txBody>
      </p:sp>
      <p:sp>
        <p:nvSpPr>
          <p:cNvPr id="14" name="TextBox 14"/>
          <p:cNvSpPr txBox="1"/>
          <p:nvPr/>
        </p:nvSpPr>
        <p:spPr>
          <a:xfrm>
            <a:off x="10247231" y="4077777"/>
            <a:ext cx="4471564" cy="1135504"/>
          </a:xfrm>
          <a:prstGeom prst="rect">
            <a:avLst/>
          </a:prstGeom>
        </p:spPr>
        <p:txBody>
          <a:bodyPr lIns="0" tIns="0" rIns="0" bIns="0" rtlCol="0" anchor="t">
            <a:spAutoFit/>
          </a:bodyPr>
          <a:lstStyle/>
          <a:p>
            <a:pPr algn="ctr">
              <a:lnSpc>
                <a:spcPts val="4599"/>
              </a:lnSpc>
              <a:spcBef>
                <a:spcPct val="0"/>
              </a:spcBef>
            </a:pPr>
            <a:r>
              <a:rPr lang="en-US" sz="3285" b="1">
                <a:solidFill>
                  <a:srgbClr val="145DA0"/>
                </a:solidFill>
                <a:latin typeface="Montserrat Bold"/>
                <a:ea typeface="Montserrat Bold"/>
                <a:cs typeface="Montserrat Bold"/>
                <a:sym typeface="Montserrat Bold"/>
              </a:rPr>
              <a:t>Giao tiếp bên trong (ClusterIP)</a:t>
            </a:r>
          </a:p>
        </p:txBody>
      </p:sp>
      <p:sp>
        <p:nvSpPr>
          <p:cNvPr id="15" name="TextBox 15"/>
          <p:cNvSpPr txBox="1"/>
          <p:nvPr/>
        </p:nvSpPr>
        <p:spPr>
          <a:xfrm>
            <a:off x="9337700" y="7145455"/>
            <a:ext cx="5621309" cy="1019841"/>
          </a:xfrm>
          <a:prstGeom prst="rect">
            <a:avLst/>
          </a:prstGeom>
        </p:spPr>
        <p:txBody>
          <a:bodyPr lIns="0" tIns="0" rIns="0" bIns="0" rtlCol="0" anchor="t">
            <a:spAutoFit/>
          </a:bodyPr>
          <a:lstStyle/>
          <a:p>
            <a:pPr algn="ctr">
              <a:lnSpc>
                <a:spcPts val="4163"/>
              </a:lnSpc>
            </a:pPr>
            <a:r>
              <a:rPr lang="en-US" sz="2973" spc="-59">
                <a:solidFill>
                  <a:srgbClr val="145DA0"/>
                </a:solidFill>
                <a:latin typeface="Source Sans Pro"/>
                <a:ea typeface="Source Sans Pro"/>
                <a:cs typeface="Source Sans Pro"/>
                <a:sym typeface="Source Sans Pro"/>
              </a:rPr>
              <a:t>Quản lý, cung cấp tên DNS, địa chỉ IP cố định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3061529" y="2937389"/>
            <a:ext cx="12164941" cy="4412223"/>
            <a:chOff x="0" y="0"/>
            <a:chExt cx="3203935" cy="1162067"/>
          </a:xfrm>
        </p:grpSpPr>
        <p:sp>
          <p:nvSpPr>
            <p:cNvPr id="6" name="Freeform 6"/>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txBody>
            <a:bodyPr/>
            <a:lstStyle/>
            <a:p>
              <a:endParaRPr lang="en-US"/>
            </a:p>
          </p:txBody>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332775" y="3671865"/>
            <a:ext cx="11622449" cy="1343429"/>
          </a:xfrm>
          <a:prstGeom prst="rect">
            <a:avLst/>
          </a:prstGeom>
        </p:spPr>
        <p:txBody>
          <a:bodyPr lIns="0" tIns="0" rIns="0" bIns="0" rtlCol="0" anchor="t">
            <a:spAutoFit/>
          </a:bodyPr>
          <a:lstStyle/>
          <a:p>
            <a:pPr marL="0" lvl="0" indent="0" algn="ctr">
              <a:lnSpc>
                <a:spcPts val="11002"/>
              </a:lnSpc>
              <a:spcBef>
                <a:spcPct val="0"/>
              </a:spcBef>
            </a:pPr>
            <a:r>
              <a:rPr lang="en-US" sz="7859">
                <a:solidFill>
                  <a:srgbClr val="FFFFFF"/>
                </a:solidFill>
                <a:latin typeface="Open Sans Extra Bold"/>
                <a:ea typeface="Open Sans Extra Bold"/>
                <a:cs typeface="Open Sans Extra Bold"/>
                <a:sym typeface="Open Sans Extra Bold"/>
              </a:rPr>
              <a:t>HIỆN THỰC HỆ THỐNG</a:t>
            </a:r>
          </a:p>
        </p:txBody>
      </p:sp>
      <p:sp>
        <p:nvSpPr>
          <p:cNvPr id="9" name="TextBox 9"/>
          <p:cNvSpPr txBox="1"/>
          <p:nvPr/>
        </p:nvSpPr>
        <p:spPr>
          <a:xfrm>
            <a:off x="4536264" y="5756824"/>
            <a:ext cx="9215471" cy="869731"/>
          </a:xfrm>
          <a:prstGeom prst="rect">
            <a:avLst/>
          </a:prstGeom>
        </p:spPr>
        <p:txBody>
          <a:bodyPr lIns="0" tIns="0" rIns="0" bIns="0" rtlCol="0" anchor="t">
            <a:spAutoFit/>
          </a:bodyPr>
          <a:lstStyle/>
          <a:p>
            <a:pPr marL="0" lvl="0" indent="0" algn="ctr">
              <a:lnSpc>
                <a:spcPts val="3512"/>
              </a:lnSpc>
              <a:spcBef>
                <a:spcPct val="0"/>
              </a:spcBef>
            </a:pPr>
            <a:r>
              <a:rPr lang="en-US" sz="2508" b="1" spc="-50">
                <a:solidFill>
                  <a:srgbClr val="FFFFFF"/>
                </a:solidFill>
                <a:latin typeface="Source Sans Pro Bold"/>
                <a:ea typeface="Source Sans Pro Bold"/>
                <a:cs typeface="Source Sans Pro Bold"/>
                <a:sym typeface="Source Sans Pro Bold"/>
              </a:rPr>
              <a:t>Xây dựng sàn thương mại điện tử kiến trúc Microservices với chi phí thấp cho doanh nghiệp vừa và nhỏ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192421"/>
            <a:chOff x="0" y="0"/>
            <a:chExt cx="4816593" cy="577428"/>
          </a:xfrm>
        </p:grpSpPr>
        <p:sp>
          <p:nvSpPr>
            <p:cNvPr id="3" name="Freeform 3"/>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pic>
        <p:nvPicPr>
          <p:cNvPr id="5" name="Picture 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a:stretch>
            <a:fillRect/>
          </a:stretch>
        </p:blipFill>
        <p:spPr>
          <a:xfrm>
            <a:off x="0" y="2205697"/>
            <a:ext cx="18288000" cy="7740351"/>
          </a:xfrm>
          <a:prstGeom prst="rect">
            <a:avLst/>
          </a:prstGeom>
        </p:spPr>
      </p:pic>
      <p:sp>
        <p:nvSpPr>
          <p:cNvPr id="6" name="TextBox 6"/>
          <p:cNvSpPr txBox="1"/>
          <p:nvPr/>
        </p:nvSpPr>
        <p:spPr>
          <a:xfrm>
            <a:off x="0" y="480354"/>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Sơ đồ kiến trúc tổng quan</a:t>
            </a:r>
          </a:p>
        </p:txBody>
      </p:sp>
    </p:spTree>
  </p:cSld>
  <p:clrMapOvr>
    <a:masterClrMapping/>
  </p:clrMapOvr>
  <p:timing>
    <p:tnLst>
      <p:par>
        <p:cTn id="1" dur="indefinite" restart="never" nodeType="tmRoot">
          <p:childTnLst>
            <p:video>
              <p:cMediaNode vol="0">
                <p:cTn id="2" fill="hold" display="0">
                  <p:stCondLst>
                    <p:cond delay="indefinite"/>
                  </p:stCondLst>
                </p:cTn>
                <p:tgtEl>
                  <p:spTgt spid="5"/>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83153"/>
            <a:ext cx="5218837" cy="2686334"/>
            <a:chOff x="0" y="0"/>
            <a:chExt cx="1461390" cy="752233"/>
          </a:xfrm>
        </p:grpSpPr>
        <p:sp>
          <p:nvSpPr>
            <p:cNvPr id="3" name="Freeform 3"/>
            <p:cNvSpPr/>
            <p:nvPr/>
          </p:nvSpPr>
          <p:spPr>
            <a:xfrm>
              <a:off x="0" y="0"/>
              <a:ext cx="1461390" cy="752233"/>
            </a:xfrm>
            <a:custGeom>
              <a:avLst/>
              <a:gdLst/>
              <a:ahLst/>
              <a:cxnLst/>
              <a:rect l="l" t="t" r="r" b="b"/>
              <a:pathLst>
                <a:path w="1461390" h="752233">
                  <a:moveTo>
                    <a:pt x="0" y="0"/>
                  </a:moveTo>
                  <a:lnTo>
                    <a:pt x="1461390" y="0"/>
                  </a:lnTo>
                  <a:lnTo>
                    <a:pt x="1461390" y="752233"/>
                  </a:lnTo>
                  <a:lnTo>
                    <a:pt x="0" y="752233"/>
                  </a:lnTo>
                  <a:close/>
                </a:path>
              </a:pathLst>
            </a:custGeom>
            <a:solidFill>
              <a:srgbClr val="145DA0">
                <a:alpha val="95686"/>
              </a:srgbClr>
            </a:solidFill>
            <a:ln cap="sq">
              <a:noFill/>
              <a:prstDash val="solid"/>
              <a:miter/>
            </a:ln>
          </p:spPr>
          <p:txBody>
            <a:bodyPr/>
            <a:lstStyle/>
            <a:p>
              <a:endParaRPr lang="en-US"/>
            </a:p>
          </p:txBody>
        </p:sp>
        <p:sp>
          <p:nvSpPr>
            <p:cNvPr id="4" name="TextBox 4"/>
            <p:cNvSpPr txBox="1"/>
            <p:nvPr/>
          </p:nvSpPr>
          <p:spPr>
            <a:xfrm>
              <a:off x="0" y="-38100"/>
              <a:ext cx="1461390" cy="7903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28700" y="3754992"/>
            <a:ext cx="5218837" cy="428991"/>
            <a:chOff x="0" y="0"/>
            <a:chExt cx="1461390" cy="120127"/>
          </a:xfrm>
        </p:grpSpPr>
        <p:sp>
          <p:nvSpPr>
            <p:cNvPr id="6" name="Freeform 6"/>
            <p:cNvSpPr/>
            <p:nvPr/>
          </p:nvSpPr>
          <p:spPr>
            <a:xfrm>
              <a:off x="0" y="0"/>
              <a:ext cx="1461390" cy="120127"/>
            </a:xfrm>
            <a:custGeom>
              <a:avLst/>
              <a:gdLst/>
              <a:ahLst/>
              <a:cxnLst/>
              <a:rect l="l" t="t" r="r" b="b"/>
              <a:pathLst>
                <a:path w="1461390" h="120127">
                  <a:moveTo>
                    <a:pt x="0" y="0"/>
                  </a:moveTo>
                  <a:lnTo>
                    <a:pt x="1461390" y="0"/>
                  </a:lnTo>
                  <a:lnTo>
                    <a:pt x="1461390" y="120127"/>
                  </a:lnTo>
                  <a:lnTo>
                    <a:pt x="0" y="120127"/>
                  </a:lnTo>
                  <a:close/>
                </a:path>
              </a:pathLst>
            </a:custGeom>
            <a:solidFill>
              <a:srgbClr val="145DA0">
                <a:alpha val="48627"/>
              </a:srgbClr>
            </a:solidFill>
            <a:ln cap="sq">
              <a:noFill/>
              <a:prstDash val="solid"/>
              <a:miter/>
            </a:ln>
          </p:spPr>
          <p:txBody>
            <a:bodyPr/>
            <a:lstStyle/>
            <a:p>
              <a:endParaRPr lang="en-US"/>
            </a:p>
          </p:txBody>
        </p:sp>
        <p:sp>
          <p:nvSpPr>
            <p:cNvPr id="7" name="TextBox 7"/>
            <p:cNvSpPr txBox="1"/>
            <p:nvPr/>
          </p:nvSpPr>
          <p:spPr>
            <a:xfrm>
              <a:off x="0" y="-38100"/>
              <a:ext cx="1461390" cy="15822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238003" y="8290589"/>
            <a:ext cx="7523780" cy="752378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3724222" y="-4507687"/>
            <a:ext cx="5924489" cy="59244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Freeform 14"/>
          <p:cNvSpPr/>
          <p:nvPr/>
        </p:nvSpPr>
        <p:spPr>
          <a:xfrm>
            <a:off x="8065621" y="1339848"/>
            <a:ext cx="7974916" cy="2844135"/>
          </a:xfrm>
          <a:custGeom>
            <a:avLst/>
            <a:gdLst/>
            <a:ahLst/>
            <a:cxnLst/>
            <a:rect l="l" t="t" r="r" b="b"/>
            <a:pathLst>
              <a:path w="7974916" h="2844135">
                <a:moveTo>
                  <a:pt x="0" y="0"/>
                </a:moveTo>
                <a:lnTo>
                  <a:pt x="7974916" y="0"/>
                </a:lnTo>
                <a:lnTo>
                  <a:pt x="7974916" y="2844135"/>
                </a:lnTo>
                <a:lnTo>
                  <a:pt x="0" y="2844135"/>
                </a:lnTo>
                <a:lnTo>
                  <a:pt x="0" y="0"/>
                </a:lnTo>
                <a:close/>
              </a:path>
            </a:pathLst>
          </a:custGeom>
          <a:blipFill>
            <a:blip r:embed="rId3"/>
            <a:stretch>
              <a:fillRect/>
            </a:stretch>
          </a:blipFill>
        </p:spPr>
        <p:txBody>
          <a:bodyPr/>
          <a:lstStyle/>
          <a:p>
            <a:endParaRPr lang="en-US"/>
          </a:p>
        </p:txBody>
      </p:sp>
      <p:sp>
        <p:nvSpPr>
          <p:cNvPr id="15" name="TextBox 15"/>
          <p:cNvSpPr txBox="1"/>
          <p:nvPr/>
        </p:nvSpPr>
        <p:spPr>
          <a:xfrm>
            <a:off x="1693373" y="1583578"/>
            <a:ext cx="3889492" cy="1971184"/>
          </a:xfrm>
          <a:prstGeom prst="rect">
            <a:avLst/>
          </a:prstGeom>
        </p:spPr>
        <p:txBody>
          <a:bodyPr lIns="0" tIns="0" rIns="0" bIns="0" rtlCol="0" anchor="t">
            <a:spAutoFit/>
          </a:bodyPr>
          <a:lstStyle/>
          <a:p>
            <a:pPr marL="0" lvl="0" indent="0" algn="l">
              <a:lnSpc>
                <a:spcPts val="7902"/>
              </a:lnSpc>
              <a:spcBef>
                <a:spcPct val="0"/>
              </a:spcBef>
            </a:pPr>
            <a:r>
              <a:rPr lang="en-US" sz="5644" b="1">
                <a:solidFill>
                  <a:srgbClr val="FDFDFD"/>
                </a:solidFill>
                <a:latin typeface="Montserrat Bold"/>
                <a:ea typeface="Montserrat Bold"/>
                <a:cs typeface="Montserrat Bold"/>
                <a:sym typeface="Montserrat Bold"/>
              </a:rPr>
              <a:t>Xây dựng giao diện</a:t>
            </a:r>
          </a:p>
        </p:txBody>
      </p:sp>
      <p:grpSp>
        <p:nvGrpSpPr>
          <p:cNvPr id="16" name="Group 16"/>
          <p:cNvGrpSpPr/>
          <p:nvPr/>
        </p:nvGrpSpPr>
        <p:grpSpPr>
          <a:xfrm>
            <a:off x="1028700" y="5538756"/>
            <a:ext cx="5218837" cy="2686334"/>
            <a:chOff x="0" y="0"/>
            <a:chExt cx="1461390" cy="752233"/>
          </a:xfrm>
        </p:grpSpPr>
        <p:sp>
          <p:nvSpPr>
            <p:cNvPr id="17" name="Freeform 17"/>
            <p:cNvSpPr/>
            <p:nvPr/>
          </p:nvSpPr>
          <p:spPr>
            <a:xfrm>
              <a:off x="0" y="0"/>
              <a:ext cx="1461390" cy="752233"/>
            </a:xfrm>
            <a:custGeom>
              <a:avLst/>
              <a:gdLst/>
              <a:ahLst/>
              <a:cxnLst/>
              <a:rect l="l" t="t" r="r" b="b"/>
              <a:pathLst>
                <a:path w="1461390" h="752233">
                  <a:moveTo>
                    <a:pt x="0" y="0"/>
                  </a:moveTo>
                  <a:lnTo>
                    <a:pt x="1461390" y="0"/>
                  </a:lnTo>
                  <a:lnTo>
                    <a:pt x="1461390" y="752233"/>
                  </a:lnTo>
                  <a:lnTo>
                    <a:pt x="0" y="752233"/>
                  </a:lnTo>
                  <a:close/>
                </a:path>
              </a:pathLst>
            </a:custGeom>
            <a:solidFill>
              <a:srgbClr val="145DA0">
                <a:alpha val="95686"/>
              </a:srgbClr>
            </a:solidFill>
            <a:ln cap="sq">
              <a:noFill/>
              <a:prstDash val="solid"/>
              <a:miter/>
            </a:ln>
          </p:spPr>
          <p:txBody>
            <a:bodyPr/>
            <a:lstStyle/>
            <a:p>
              <a:endParaRPr lang="en-US"/>
            </a:p>
          </p:txBody>
        </p:sp>
        <p:sp>
          <p:nvSpPr>
            <p:cNvPr id="18" name="TextBox 18"/>
            <p:cNvSpPr txBox="1"/>
            <p:nvPr/>
          </p:nvSpPr>
          <p:spPr>
            <a:xfrm>
              <a:off x="0" y="-38100"/>
              <a:ext cx="1461390" cy="7903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1028700" y="8010595"/>
            <a:ext cx="5218837" cy="428991"/>
            <a:chOff x="0" y="0"/>
            <a:chExt cx="1461390" cy="120127"/>
          </a:xfrm>
        </p:grpSpPr>
        <p:sp>
          <p:nvSpPr>
            <p:cNvPr id="20" name="Freeform 20"/>
            <p:cNvSpPr/>
            <p:nvPr/>
          </p:nvSpPr>
          <p:spPr>
            <a:xfrm>
              <a:off x="0" y="0"/>
              <a:ext cx="1461390" cy="120127"/>
            </a:xfrm>
            <a:custGeom>
              <a:avLst/>
              <a:gdLst/>
              <a:ahLst/>
              <a:cxnLst/>
              <a:rect l="l" t="t" r="r" b="b"/>
              <a:pathLst>
                <a:path w="1461390" h="120127">
                  <a:moveTo>
                    <a:pt x="0" y="0"/>
                  </a:moveTo>
                  <a:lnTo>
                    <a:pt x="1461390" y="0"/>
                  </a:lnTo>
                  <a:lnTo>
                    <a:pt x="1461390" y="120127"/>
                  </a:lnTo>
                  <a:lnTo>
                    <a:pt x="0" y="120127"/>
                  </a:lnTo>
                  <a:close/>
                </a:path>
              </a:pathLst>
            </a:custGeom>
            <a:solidFill>
              <a:srgbClr val="145DA0">
                <a:alpha val="48627"/>
              </a:srgbClr>
            </a:solidFill>
            <a:ln cap="sq">
              <a:noFill/>
              <a:prstDash val="solid"/>
              <a:miter/>
            </a:ln>
          </p:spPr>
          <p:txBody>
            <a:bodyPr/>
            <a:lstStyle/>
            <a:p>
              <a:endParaRPr lang="en-US"/>
            </a:p>
          </p:txBody>
        </p:sp>
        <p:sp>
          <p:nvSpPr>
            <p:cNvPr id="21" name="TextBox 21"/>
            <p:cNvSpPr txBox="1"/>
            <p:nvPr/>
          </p:nvSpPr>
          <p:spPr>
            <a:xfrm>
              <a:off x="0" y="-38100"/>
              <a:ext cx="1461390" cy="15822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1693373" y="6322985"/>
            <a:ext cx="3889492" cy="970981"/>
          </a:xfrm>
          <a:prstGeom prst="rect">
            <a:avLst/>
          </a:prstGeom>
        </p:spPr>
        <p:txBody>
          <a:bodyPr lIns="0" tIns="0" rIns="0" bIns="0" rtlCol="0" anchor="t">
            <a:spAutoFit/>
          </a:bodyPr>
          <a:lstStyle/>
          <a:p>
            <a:pPr marL="0" lvl="0" indent="0" algn="l">
              <a:lnSpc>
                <a:spcPts val="7902"/>
              </a:lnSpc>
              <a:spcBef>
                <a:spcPct val="0"/>
              </a:spcBef>
            </a:pPr>
            <a:r>
              <a:rPr lang="en-US" sz="5644" b="1">
                <a:solidFill>
                  <a:srgbClr val="FDFDFD"/>
                </a:solidFill>
                <a:latin typeface="Montserrat Bold"/>
                <a:ea typeface="Montserrat Bold"/>
                <a:cs typeface="Montserrat Bold"/>
                <a:sym typeface="Montserrat Bold"/>
              </a:rPr>
              <a:t>Dựng API</a:t>
            </a:r>
          </a:p>
        </p:txBody>
      </p:sp>
      <p:sp>
        <p:nvSpPr>
          <p:cNvPr id="23" name="Freeform 23"/>
          <p:cNvSpPr/>
          <p:nvPr/>
        </p:nvSpPr>
        <p:spPr>
          <a:xfrm>
            <a:off x="6950599" y="5921042"/>
            <a:ext cx="11010108" cy="1889166"/>
          </a:xfrm>
          <a:custGeom>
            <a:avLst/>
            <a:gdLst/>
            <a:ahLst/>
            <a:cxnLst/>
            <a:rect l="l" t="t" r="r" b="b"/>
            <a:pathLst>
              <a:path w="11010108" h="1889166">
                <a:moveTo>
                  <a:pt x="0" y="0"/>
                </a:moveTo>
                <a:lnTo>
                  <a:pt x="11010108" y="0"/>
                </a:lnTo>
                <a:lnTo>
                  <a:pt x="11010108" y="1889166"/>
                </a:lnTo>
                <a:lnTo>
                  <a:pt x="0" y="1889166"/>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83153"/>
            <a:ext cx="5218837" cy="2966484"/>
            <a:chOff x="0" y="0"/>
            <a:chExt cx="1461390" cy="830682"/>
          </a:xfrm>
        </p:grpSpPr>
        <p:sp>
          <p:nvSpPr>
            <p:cNvPr id="3" name="Freeform 3"/>
            <p:cNvSpPr/>
            <p:nvPr/>
          </p:nvSpPr>
          <p:spPr>
            <a:xfrm>
              <a:off x="0" y="0"/>
              <a:ext cx="1461390" cy="830681"/>
            </a:xfrm>
            <a:custGeom>
              <a:avLst/>
              <a:gdLst/>
              <a:ahLst/>
              <a:cxnLst/>
              <a:rect l="l" t="t" r="r" b="b"/>
              <a:pathLst>
                <a:path w="1461390" h="830681">
                  <a:moveTo>
                    <a:pt x="0" y="0"/>
                  </a:moveTo>
                  <a:lnTo>
                    <a:pt x="1461390" y="0"/>
                  </a:lnTo>
                  <a:lnTo>
                    <a:pt x="1461390" y="830681"/>
                  </a:lnTo>
                  <a:lnTo>
                    <a:pt x="0" y="830681"/>
                  </a:lnTo>
                  <a:close/>
                </a:path>
              </a:pathLst>
            </a:custGeom>
            <a:solidFill>
              <a:srgbClr val="145DA0">
                <a:alpha val="95686"/>
              </a:srgbClr>
            </a:solidFill>
            <a:ln cap="sq">
              <a:noFill/>
              <a:prstDash val="solid"/>
              <a:miter/>
            </a:ln>
          </p:spPr>
          <p:txBody>
            <a:bodyPr/>
            <a:lstStyle/>
            <a:p>
              <a:endParaRPr lang="en-US"/>
            </a:p>
          </p:txBody>
        </p:sp>
        <p:sp>
          <p:nvSpPr>
            <p:cNvPr id="4" name="TextBox 4"/>
            <p:cNvSpPr txBox="1"/>
            <p:nvPr/>
          </p:nvSpPr>
          <p:spPr>
            <a:xfrm>
              <a:off x="0" y="-38100"/>
              <a:ext cx="1461390" cy="86878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28700" y="4249637"/>
            <a:ext cx="5218837" cy="168641"/>
            <a:chOff x="0" y="0"/>
            <a:chExt cx="1461390" cy="47223"/>
          </a:xfrm>
        </p:grpSpPr>
        <p:sp>
          <p:nvSpPr>
            <p:cNvPr id="6" name="Freeform 6"/>
            <p:cNvSpPr/>
            <p:nvPr/>
          </p:nvSpPr>
          <p:spPr>
            <a:xfrm>
              <a:off x="0" y="0"/>
              <a:ext cx="1461390" cy="47223"/>
            </a:xfrm>
            <a:custGeom>
              <a:avLst/>
              <a:gdLst/>
              <a:ahLst/>
              <a:cxnLst/>
              <a:rect l="l" t="t" r="r" b="b"/>
              <a:pathLst>
                <a:path w="1461390" h="47223">
                  <a:moveTo>
                    <a:pt x="0" y="0"/>
                  </a:moveTo>
                  <a:lnTo>
                    <a:pt x="1461390" y="0"/>
                  </a:lnTo>
                  <a:lnTo>
                    <a:pt x="1461390" y="47223"/>
                  </a:lnTo>
                  <a:lnTo>
                    <a:pt x="0" y="47223"/>
                  </a:lnTo>
                  <a:close/>
                </a:path>
              </a:pathLst>
            </a:custGeom>
            <a:solidFill>
              <a:srgbClr val="145DA0">
                <a:alpha val="48627"/>
              </a:srgbClr>
            </a:solidFill>
            <a:ln cap="sq">
              <a:noFill/>
              <a:prstDash val="solid"/>
              <a:miter/>
            </a:ln>
          </p:spPr>
          <p:txBody>
            <a:bodyPr/>
            <a:lstStyle/>
            <a:p>
              <a:endParaRPr lang="en-US"/>
            </a:p>
          </p:txBody>
        </p:sp>
        <p:sp>
          <p:nvSpPr>
            <p:cNvPr id="7" name="TextBox 7"/>
            <p:cNvSpPr txBox="1"/>
            <p:nvPr/>
          </p:nvSpPr>
          <p:spPr>
            <a:xfrm>
              <a:off x="0" y="-38100"/>
              <a:ext cx="1461390" cy="8532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238003" y="8290589"/>
            <a:ext cx="7523780" cy="752378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3724222" y="-4507687"/>
            <a:ext cx="5924489" cy="59244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TextBox 14"/>
          <p:cNvSpPr txBox="1"/>
          <p:nvPr/>
        </p:nvSpPr>
        <p:spPr>
          <a:xfrm>
            <a:off x="1089533" y="1772252"/>
            <a:ext cx="5097172" cy="1971027"/>
          </a:xfrm>
          <a:prstGeom prst="rect">
            <a:avLst/>
          </a:prstGeom>
        </p:spPr>
        <p:txBody>
          <a:bodyPr lIns="0" tIns="0" rIns="0" bIns="0" rtlCol="0" anchor="t">
            <a:spAutoFit/>
          </a:bodyPr>
          <a:lstStyle/>
          <a:p>
            <a:pPr marL="0" lvl="0" indent="0" algn="ctr">
              <a:lnSpc>
                <a:spcPts val="7902"/>
              </a:lnSpc>
              <a:spcBef>
                <a:spcPct val="0"/>
              </a:spcBef>
            </a:pPr>
            <a:r>
              <a:rPr lang="en-US" sz="5644" b="1">
                <a:solidFill>
                  <a:srgbClr val="FDFDFD"/>
                </a:solidFill>
                <a:latin typeface="Montserrat Bold"/>
                <a:ea typeface="Montserrat Bold"/>
                <a:cs typeface="Montserrat Bold"/>
                <a:sym typeface="Montserrat Bold"/>
              </a:rPr>
              <a:t>Chia microservice</a:t>
            </a:r>
          </a:p>
        </p:txBody>
      </p:sp>
      <p:sp>
        <p:nvSpPr>
          <p:cNvPr id="15" name="Freeform 15"/>
          <p:cNvSpPr/>
          <p:nvPr/>
        </p:nvSpPr>
        <p:spPr>
          <a:xfrm>
            <a:off x="7950541" y="1283153"/>
            <a:ext cx="8588742" cy="3135125"/>
          </a:xfrm>
          <a:custGeom>
            <a:avLst/>
            <a:gdLst/>
            <a:ahLst/>
            <a:cxnLst/>
            <a:rect l="l" t="t" r="r" b="b"/>
            <a:pathLst>
              <a:path w="8588742" h="3135125">
                <a:moveTo>
                  <a:pt x="0" y="0"/>
                </a:moveTo>
                <a:lnTo>
                  <a:pt x="8588742" y="0"/>
                </a:lnTo>
                <a:lnTo>
                  <a:pt x="8588742" y="3135126"/>
                </a:lnTo>
                <a:lnTo>
                  <a:pt x="0" y="3135126"/>
                </a:lnTo>
                <a:lnTo>
                  <a:pt x="0" y="0"/>
                </a:lnTo>
                <a:close/>
              </a:path>
            </a:pathLst>
          </a:custGeom>
          <a:blipFill>
            <a:blip r:embed="rId3"/>
            <a:stretch>
              <a:fillRect/>
            </a:stretch>
          </a:blipFill>
        </p:spPr>
        <p:txBody>
          <a:bodyPr/>
          <a:lstStyle/>
          <a:p>
            <a:endParaRPr lang="en-US"/>
          </a:p>
        </p:txBody>
      </p:sp>
      <p:grpSp>
        <p:nvGrpSpPr>
          <p:cNvPr id="16" name="Group 16"/>
          <p:cNvGrpSpPr/>
          <p:nvPr/>
        </p:nvGrpSpPr>
        <p:grpSpPr>
          <a:xfrm>
            <a:off x="1028700" y="5262299"/>
            <a:ext cx="5218837" cy="2966484"/>
            <a:chOff x="0" y="0"/>
            <a:chExt cx="1461390" cy="830682"/>
          </a:xfrm>
        </p:grpSpPr>
        <p:sp>
          <p:nvSpPr>
            <p:cNvPr id="17" name="Freeform 17"/>
            <p:cNvSpPr/>
            <p:nvPr/>
          </p:nvSpPr>
          <p:spPr>
            <a:xfrm>
              <a:off x="0" y="0"/>
              <a:ext cx="1461390" cy="830681"/>
            </a:xfrm>
            <a:custGeom>
              <a:avLst/>
              <a:gdLst/>
              <a:ahLst/>
              <a:cxnLst/>
              <a:rect l="l" t="t" r="r" b="b"/>
              <a:pathLst>
                <a:path w="1461390" h="830681">
                  <a:moveTo>
                    <a:pt x="0" y="0"/>
                  </a:moveTo>
                  <a:lnTo>
                    <a:pt x="1461390" y="0"/>
                  </a:lnTo>
                  <a:lnTo>
                    <a:pt x="1461390" y="830681"/>
                  </a:lnTo>
                  <a:lnTo>
                    <a:pt x="0" y="830681"/>
                  </a:lnTo>
                  <a:close/>
                </a:path>
              </a:pathLst>
            </a:custGeom>
            <a:solidFill>
              <a:srgbClr val="145DA0">
                <a:alpha val="95686"/>
              </a:srgbClr>
            </a:solidFill>
            <a:ln cap="sq">
              <a:noFill/>
              <a:prstDash val="solid"/>
              <a:miter/>
            </a:ln>
          </p:spPr>
          <p:txBody>
            <a:bodyPr/>
            <a:lstStyle/>
            <a:p>
              <a:endParaRPr lang="en-US"/>
            </a:p>
          </p:txBody>
        </p:sp>
        <p:sp>
          <p:nvSpPr>
            <p:cNvPr id="18" name="TextBox 18"/>
            <p:cNvSpPr txBox="1"/>
            <p:nvPr/>
          </p:nvSpPr>
          <p:spPr>
            <a:xfrm>
              <a:off x="0" y="-38100"/>
              <a:ext cx="1461390" cy="86878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1028700" y="8228783"/>
            <a:ext cx="5218837" cy="168641"/>
            <a:chOff x="0" y="0"/>
            <a:chExt cx="1461390" cy="47223"/>
          </a:xfrm>
        </p:grpSpPr>
        <p:sp>
          <p:nvSpPr>
            <p:cNvPr id="20" name="Freeform 20"/>
            <p:cNvSpPr/>
            <p:nvPr/>
          </p:nvSpPr>
          <p:spPr>
            <a:xfrm>
              <a:off x="0" y="0"/>
              <a:ext cx="1461390" cy="47223"/>
            </a:xfrm>
            <a:custGeom>
              <a:avLst/>
              <a:gdLst/>
              <a:ahLst/>
              <a:cxnLst/>
              <a:rect l="l" t="t" r="r" b="b"/>
              <a:pathLst>
                <a:path w="1461390" h="47223">
                  <a:moveTo>
                    <a:pt x="0" y="0"/>
                  </a:moveTo>
                  <a:lnTo>
                    <a:pt x="1461390" y="0"/>
                  </a:lnTo>
                  <a:lnTo>
                    <a:pt x="1461390" y="47223"/>
                  </a:lnTo>
                  <a:lnTo>
                    <a:pt x="0" y="47223"/>
                  </a:lnTo>
                  <a:close/>
                </a:path>
              </a:pathLst>
            </a:custGeom>
            <a:solidFill>
              <a:srgbClr val="145DA0">
                <a:alpha val="48627"/>
              </a:srgbClr>
            </a:solidFill>
            <a:ln cap="sq">
              <a:noFill/>
              <a:prstDash val="solid"/>
              <a:miter/>
            </a:ln>
          </p:spPr>
          <p:txBody>
            <a:bodyPr/>
            <a:lstStyle/>
            <a:p>
              <a:endParaRPr lang="en-US"/>
            </a:p>
          </p:txBody>
        </p:sp>
        <p:sp>
          <p:nvSpPr>
            <p:cNvPr id="21" name="TextBox 21"/>
            <p:cNvSpPr txBox="1"/>
            <p:nvPr/>
          </p:nvSpPr>
          <p:spPr>
            <a:xfrm>
              <a:off x="0" y="-38100"/>
              <a:ext cx="1461390" cy="8532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1089533" y="5877734"/>
            <a:ext cx="5097172" cy="1971184"/>
          </a:xfrm>
          <a:prstGeom prst="rect">
            <a:avLst/>
          </a:prstGeom>
        </p:spPr>
        <p:txBody>
          <a:bodyPr lIns="0" tIns="0" rIns="0" bIns="0" rtlCol="0" anchor="t">
            <a:spAutoFit/>
          </a:bodyPr>
          <a:lstStyle/>
          <a:p>
            <a:pPr marL="0" lvl="0" indent="0" algn="ctr">
              <a:lnSpc>
                <a:spcPts val="7902"/>
              </a:lnSpc>
              <a:spcBef>
                <a:spcPct val="0"/>
              </a:spcBef>
            </a:pPr>
            <a:r>
              <a:rPr lang="en-US" sz="5644" b="1">
                <a:solidFill>
                  <a:srgbClr val="FDFDFD"/>
                </a:solidFill>
                <a:latin typeface="Montserrat Bold"/>
                <a:ea typeface="Montserrat Bold"/>
                <a:cs typeface="Montserrat Bold"/>
                <a:sym typeface="Montserrat Bold"/>
              </a:rPr>
              <a:t>Tối ưu hiệu suất</a:t>
            </a:r>
          </a:p>
        </p:txBody>
      </p:sp>
      <p:sp>
        <p:nvSpPr>
          <p:cNvPr id="23" name="Freeform 23"/>
          <p:cNvSpPr/>
          <p:nvPr/>
        </p:nvSpPr>
        <p:spPr>
          <a:xfrm>
            <a:off x="7072830" y="5832694"/>
            <a:ext cx="10640193" cy="1825694"/>
          </a:xfrm>
          <a:custGeom>
            <a:avLst/>
            <a:gdLst/>
            <a:ahLst/>
            <a:cxnLst/>
            <a:rect l="l" t="t" r="r" b="b"/>
            <a:pathLst>
              <a:path w="10640193" h="1825694">
                <a:moveTo>
                  <a:pt x="0" y="0"/>
                </a:moveTo>
                <a:lnTo>
                  <a:pt x="10640193" y="0"/>
                </a:lnTo>
                <a:lnTo>
                  <a:pt x="10640193" y="1825694"/>
                </a:lnTo>
                <a:lnTo>
                  <a:pt x="0" y="1825694"/>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83153"/>
            <a:ext cx="5218837" cy="2966484"/>
            <a:chOff x="0" y="0"/>
            <a:chExt cx="1461390" cy="830682"/>
          </a:xfrm>
        </p:grpSpPr>
        <p:sp>
          <p:nvSpPr>
            <p:cNvPr id="3" name="Freeform 3"/>
            <p:cNvSpPr/>
            <p:nvPr/>
          </p:nvSpPr>
          <p:spPr>
            <a:xfrm>
              <a:off x="0" y="0"/>
              <a:ext cx="1461390" cy="830681"/>
            </a:xfrm>
            <a:custGeom>
              <a:avLst/>
              <a:gdLst/>
              <a:ahLst/>
              <a:cxnLst/>
              <a:rect l="l" t="t" r="r" b="b"/>
              <a:pathLst>
                <a:path w="1461390" h="830681">
                  <a:moveTo>
                    <a:pt x="0" y="0"/>
                  </a:moveTo>
                  <a:lnTo>
                    <a:pt x="1461390" y="0"/>
                  </a:lnTo>
                  <a:lnTo>
                    <a:pt x="1461390" y="830681"/>
                  </a:lnTo>
                  <a:lnTo>
                    <a:pt x="0" y="830681"/>
                  </a:lnTo>
                  <a:close/>
                </a:path>
              </a:pathLst>
            </a:custGeom>
            <a:solidFill>
              <a:srgbClr val="145DA0">
                <a:alpha val="95686"/>
              </a:srgbClr>
            </a:solidFill>
            <a:ln cap="sq">
              <a:noFill/>
              <a:prstDash val="solid"/>
              <a:miter/>
            </a:ln>
          </p:spPr>
          <p:txBody>
            <a:bodyPr/>
            <a:lstStyle/>
            <a:p>
              <a:endParaRPr lang="en-US"/>
            </a:p>
          </p:txBody>
        </p:sp>
        <p:sp>
          <p:nvSpPr>
            <p:cNvPr id="4" name="TextBox 4"/>
            <p:cNvSpPr txBox="1"/>
            <p:nvPr/>
          </p:nvSpPr>
          <p:spPr>
            <a:xfrm>
              <a:off x="0" y="-38100"/>
              <a:ext cx="1461390" cy="86878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28700" y="4249637"/>
            <a:ext cx="5218837" cy="168641"/>
            <a:chOff x="0" y="0"/>
            <a:chExt cx="1461390" cy="47223"/>
          </a:xfrm>
        </p:grpSpPr>
        <p:sp>
          <p:nvSpPr>
            <p:cNvPr id="6" name="Freeform 6"/>
            <p:cNvSpPr/>
            <p:nvPr/>
          </p:nvSpPr>
          <p:spPr>
            <a:xfrm>
              <a:off x="0" y="0"/>
              <a:ext cx="1461390" cy="47223"/>
            </a:xfrm>
            <a:custGeom>
              <a:avLst/>
              <a:gdLst/>
              <a:ahLst/>
              <a:cxnLst/>
              <a:rect l="l" t="t" r="r" b="b"/>
              <a:pathLst>
                <a:path w="1461390" h="47223">
                  <a:moveTo>
                    <a:pt x="0" y="0"/>
                  </a:moveTo>
                  <a:lnTo>
                    <a:pt x="1461390" y="0"/>
                  </a:lnTo>
                  <a:lnTo>
                    <a:pt x="1461390" y="47223"/>
                  </a:lnTo>
                  <a:lnTo>
                    <a:pt x="0" y="47223"/>
                  </a:lnTo>
                  <a:close/>
                </a:path>
              </a:pathLst>
            </a:custGeom>
            <a:solidFill>
              <a:srgbClr val="145DA0">
                <a:alpha val="48627"/>
              </a:srgbClr>
            </a:solidFill>
            <a:ln cap="sq">
              <a:noFill/>
              <a:prstDash val="solid"/>
              <a:miter/>
            </a:ln>
          </p:spPr>
          <p:txBody>
            <a:bodyPr/>
            <a:lstStyle/>
            <a:p>
              <a:endParaRPr lang="en-US"/>
            </a:p>
          </p:txBody>
        </p:sp>
        <p:sp>
          <p:nvSpPr>
            <p:cNvPr id="7" name="TextBox 7"/>
            <p:cNvSpPr txBox="1"/>
            <p:nvPr/>
          </p:nvSpPr>
          <p:spPr>
            <a:xfrm>
              <a:off x="0" y="-38100"/>
              <a:ext cx="1461390" cy="8532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5238003" y="8290589"/>
            <a:ext cx="7523780" cy="752378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3724222" y="-4507687"/>
            <a:ext cx="5924489" cy="592448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028700" y="6085332"/>
            <a:ext cx="5218837" cy="2966484"/>
            <a:chOff x="0" y="0"/>
            <a:chExt cx="1461390" cy="830682"/>
          </a:xfrm>
        </p:grpSpPr>
        <p:sp>
          <p:nvSpPr>
            <p:cNvPr id="15" name="Freeform 15"/>
            <p:cNvSpPr/>
            <p:nvPr/>
          </p:nvSpPr>
          <p:spPr>
            <a:xfrm>
              <a:off x="0" y="0"/>
              <a:ext cx="1461390" cy="830681"/>
            </a:xfrm>
            <a:custGeom>
              <a:avLst/>
              <a:gdLst/>
              <a:ahLst/>
              <a:cxnLst/>
              <a:rect l="l" t="t" r="r" b="b"/>
              <a:pathLst>
                <a:path w="1461390" h="830681">
                  <a:moveTo>
                    <a:pt x="0" y="0"/>
                  </a:moveTo>
                  <a:lnTo>
                    <a:pt x="1461390" y="0"/>
                  </a:lnTo>
                  <a:lnTo>
                    <a:pt x="1461390" y="830681"/>
                  </a:lnTo>
                  <a:lnTo>
                    <a:pt x="0" y="830681"/>
                  </a:lnTo>
                  <a:close/>
                </a:path>
              </a:pathLst>
            </a:custGeom>
            <a:solidFill>
              <a:srgbClr val="145DA0">
                <a:alpha val="95686"/>
              </a:srgbClr>
            </a:solidFill>
            <a:ln cap="sq">
              <a:noFill/>
              <a:prstDash val="solid"/>
              <a:miter/>
            </a:ln>
          </p:spPr>
          <p:txBody>
            <a:bodyPr/>
            <a:lstStyle/>
            <a:p>
              <a:endParaRPr lang="en-US"/>
            </a:p>
          </p:txBody>
        </p:sp>
        <p:sp>
          <p:nvSpPr>
            <p:cNvPr id="16" name="TextBox 16"/>
            <p:cNvSpPr txBox="1"/>
            <p:nvPr/>
          </p:nvSpPr>
          <p:spPr>
            <a:xfrm>
              <a:off x="0" y="-38100"/>
              <a:ext cx="1461390" cy="86878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028700" y="9051816"/>
            <a:ext cx="5218837" cy="168641"/>
            <a:chOff x="0" y="0"/>
            <a:chExt cx="1461390" cy="47223"/>
          </a:xfrm>
        </p:grpSpPr>
        <p:sp>
          <p:nvSpPr>
            <p:cNvPr id="18" name="Freeform 18"/>
            <p:cNvSpPr/>
            <p:nvPr/>
          </p:nvSpPr>
          <p:spPr>
            <a:xfrm>
              <a:off x="0" y="0"/>
              <a:ext cx="1461390" cy="47223"/>
            </a:xfrm>
            <a:custGeom>
              <a:avLst/>
              <a:gdLst/>
              <a:ahLst/>
              <a:cxnLst/>
              <a:rect l="l" t="t" r="r" b="b"/>
              <a:pathLst>
                <a:path w="1461390" h="47223">
                  <a:moveTo>
                    <a:pt x="0" y="0"/>
                  </a:moveTo>
                  <a:lnTo>
                    <a:pt x="1461390" y="0"/>
                  </a:lnTo>
                  <a:lnTo>
                    <a:pt x="1461390" y="47223"/>
                  </a:lnTo>
                  <a:lnTo>
                    <a:pt x="0" y="47223"/>
                  </a:lnTo>
                  <a:close/>
                </a:path>
              </a:pathLst>
            </a:custGeom>
            <a:solidFill>
              <a:srgbClr val="145DA0">
                <a:alpha val="48627"/>
              </a:srgbClr>
            </a:solidFill>
            <a:ln cap="sq">
              <a:noFill/>
              <a:prstDash val="solid"/>
              <a:miter/>
            </a:ln>
          </p:spPr>
          <p:txBody>
            <a:bodyPr/>
            <a:lstStyle/>
            <a:p>
              <a:endParaRPr lang="en-US"/>
            </a:p>
          </p:txBody>
        </p:sp>
        <p:sp>
          <p:nvSpPr>
            <p:cNvPr id="19" name="TextBox 19"/>
            <p:cNvSpPr txBox="1"/>
            <p:nvPr/>
          </p:nvSpPr>
          <p:spPr>
            <a:xfrm>
              <a:off x="0" y="-38100"/>
              <a:ext cx="1461390" cy="8532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Freeform 20"/>
          <p:cNvSpPr/>
          <p:nvPr/>
        </p:nvSpPr>
        <p:spPr>
          <a:xfrm>
            <a:off x="9282390" y="6839171"/>
            <a:ext cx="5067358" cy="1616312"/>
          </a:xfrm>
          <a:custGeom>
            <a:avLst/>
            <a:gdLst/>
            <a:ahLst/>
            <a:cxnLst/>
            <a:rect l="l" t="t" r="r" b="b"/>
            <a:pathLst>
              <a:path w="5067358" h="1616312">
                <a:moveTo>
                  <a:pt x="0" y="0"/>
                </a:moveTo>
                <a:lnTo>
                  <a:pt x="5067358" y="0"/>
                </a:lnTo>
                <a:lnTo>
                  <a:pt x="5067358" y="1616312"/>
                </a:lnTo>
                <a:lnTo>
                  <a:pt x="0" y="1616312"/>
                </a:lnTo>
                <a:lnTo>
                  <a:pt x="0" y="0"/>
                </a:lnTo>
                <a:close/>
              </a:path>
            </a:pathLst>
          </a:custGeom>
          <a:blipFill>
            <a:blip r:embed="rId5"/>
            <a:stretch>
              <a:fillRect/>
            </a:stretch>
          </a:blipFill>
        </p:spPr>
        <p:txBody>
          <a:bodyPr/>
          <a:lstStyle/>
          <a:p>
            <a:endParaRPr lang="en-US"/>
          </a:p>
        </p:txBody>
      </p:sp>
      <p:pic>
        <p:nvPicPr>
          <p:cNvPr id="21" name="Picture 2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7419471" y="301182"/>
            <a:ext cx="9204027" cy="6180036"/>
          </a:xfrm>
          <a:prstGeom prst="rect">
            <a:avLst/>
          </a:prstGeom>
        </p:spPr>
      </p:pic>
      <p:sp>
        <p:nvSpPr>
          <p:cNvPr id="22" name="TextBox 22"/>
          <p:cNvSpPr txBox="1"/>
          <p:nvPr/>
        </p:nvSpPr>
        <p:spPr>
          <a:xfrm>
            <a:off x="1150365" y="6667450"/>
            <a:ext cx="5097172" cy="1854979"/>
          </a:xfrm>
          <a:prstGeom prst="rect">
            <a:avLst/>
          </a:prstGeom>
        </p:spPr>
        <p:txBody>
          <a:bodyPr lIns="0" tIns="0" rIns="0" bIns="0" rtlCol="0" anchor="t">
            <a:spAutoFit/>
          </a:bodyPr>
          <a:lstStyle/>
          <a:p>
            <a:pPr marL="0" lvl="0" indent="0" algn="ctr">
              <a:lnSpc>
                <a:spcPts val="7482"/>
              </a:lnSpc>
              <a:spcBef>
                <a:spcPct val="0"/>
              </a:spcBef>
            </a:pPr>
            <a:r>
              <a:rPr lang="en-US" sz="5344" b="1">
                <a:solidFill>
                  <a:srgbClr val="FDFDFD"/>
                </a:solidFill>
                <a:latin typeface="Montserrat Bold"/>
                <a:ea typeface="Montserrat Bold"/>
                <a:cs typeface="Montserrat Bold"/>
                <a:sym typeface="Montserrat Bold"/>
              </a:rPr>
              <a:t>Giao tiếp giữa các services</a:t>
            </a:r>
          </a:p>
        </p:txBody>
      </p:sp>
      <p:sp>
        <p:nvSpPr>
          <p:cNvPr id="23" name="TextBox 23"/>
          <p:cNvSpPr txBox="1"/>
          <p:nvPr/>
        </p:nvSpPr>
        <p:spPr>
          <a:xfrm>
            <a:off x="1089533" y="2258006"/>
            <a:ext cx="5097172" cy="912004"/>
          </a:xfrm>
          <a:prstGeom prst="rect">
            <a:avLst/>
          </a:prstGeom>
        </p:spPr>
        <p:txBody>
          <a:bodyPr lIns="0" tIns="0" rIns="0" bIns="0" rtlCol="0" anchor="t">
            <a:spAutoFit/>
          </a:bodyPr>
          <a:lstStyle/>
          <a:p>
            <a:pPr marL="0" lvl="0" indent="0" algn="ctr">
              <a:lnSpc>
                <a:spcPts val="7482"/>
              </a:lnSpc>
              <a:spcBef>
                <a:spcPct val="0"/>
              </a:spcBef>
            </a:pPr>
            <a:r>
              <a:rPr lang="en-US" sz="5344" b="1">
                <a:solidFill>
                  <a:srgbClr val="FDFDFD"/>
                </a:solidFill>
                <a:latin typeface="Montserrat Bold"/>
                <a:ea typeface="Montserrat Bold"/>
                <a:cs typeface="Montserrat Bold"/>
                <a:sym typeface="Montserrat Bold"/>
              </a:rPr>
              <a:t>Kubernetes</a:t>
            </a:r>
          </a:p>
        </p:txBody>
      </p:sp>
    </p:spTree>
  </p:cSld>
  <p:clrMapOvr>
    <a:masterClrMapping/>
  </p:clrMapOvr>
  <p:timing>
    <p:tnLst>
      <p:par>
        <p:cTn id="1" dur="indefinite" restart="never" nodeType="tmRoot">
          <p:childTnLst>
            <p:video>
              <p:cMediaNode vol="0">
                <p:cTn id="2" fill="hold" display="0">
                  <p:stCondLst>
                    <p:cond delay="indefinite"/>
                  </p:stCondLst>
                </p:cTn>
                <p:tgtEl>
                  <p:spTgt spid="2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363308" y="147662"/>
            <a:ext cx="16414540" cy="10759438"/>
          </a:xfrm>
          <a:custGeom>
            <a:avLst/>
            <a:gdLst/>
            <a:ahLst/>
            <a:cxnLst/>
            <a:rect l="l" t="t" r="r" b="b"/>
            <a:pathLst>
              <a:path w="16414540" h="10759438">
                <a:moveTo>
                  <a:pt x="0" y="0"/>
                </a:moveTo>
                <a:lnTo>
                  <a:pt x="16414540" y="0"/>
                </a:lnTo>
                <a:lnTo>
                  <a:pt x="16414540" y="10759437"/>
                </a:lnTo>
                <a:lnTo>
                  <a:pt x="0" y="10759437"/>
                </a:lnTo>
                <a:lnTo>
                  <a:pt x="0" y="0"/>
                </a:lnTo>
                <a:close/>
              </a:path>
            </a:pathLst>
          </a:custGeom>
          <a:blipFill>
            <a:blip r:embed="rId2"/>
            <a:stretch>
              <a:fillRect b="-689"/>
            </a:stretch>
          </a:blipFill>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0ED11-7115-9E4B-73AF-5DCF1F7ECB7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E754F6-15B7-3719-EBB3-AE9CEF582F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Freeform 3">
            <a:extLst>
              <a:ext uri="{FF2B5EF4-FFF2-40B4-BE49-F238E27FC236}">
                <a16:creationId xmlns:a16="http://schemas.microsoft.com/office/drawing/2014/main" id="{3525382D-851E-7CDA-E178-A0909EDF8B21}"/>
              </a:ext>
            </a:extLst>
          </p:cNvPr>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6115DD9F-B420-8728-13CE-018C0164B96D}"/>
              </a:ext>
            </a:extLst>
          </p:cNvPr>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4">
              <a:alphaModFix amt="14000"/>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5" name="Group 5">
            <a:extLst>
              <a:ext uri="{FF2B5EF4-FFF2-40B4-BE49-F238E27FC236}">
                <a16:creationId xmlns:a16="http://schemas.microsoft.com/office/drawing/2014/main" id="{81C6B62C-A067-8A14-EA26-F18BF1278109}"/>
              </a:ext>
            </a:extLst>
          </p:cNvPr>
          <p:cNvGrpSpPr/>
          <p:nvPr/>
        </p:nvGrpSpPr>
        <p:grpSpPr>
          <a:xfrm>
            <a:off x="3061529" y="2937389"/>
            <a:ext cx="12164941" cy="4412223"/>
            <a:chOff x="0" y="0"/>
            <a:chExt cx="3203935" cy="1162067"/>
          </a:xfrm>
        </p:grpSpPr>
        <p:sp>
          <p:nvSpPr>
            <p:cNvPr id="6" name="Freeform 6">
              <a:extLst>
                <a:ext uri="{FF2B5EF4-FFF2-40B4-BE49-F238E27FC236}">
                  <a16:creationId xmlns:a16="http://schemas.microsoft.com/office/drawing/2014/main" id="{2A6275B8-B74C-4C9E-FFFC-68324486DD9B}"/>
                </a:ext>
              </a:extLst>
            </p:cNvPr>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txBody>
            <a:bodyPr/>
            <a:lstStyle/>
            <a:p>
              <a:endParaRPr lang="en-US"/>
            </a:p>
          </p:txBody>
        </p:sp>
        <p:sp>
          <p:nvSpPr>
            <p:cNvPr id="7" name="TextBox 7">
              <a:extLst>
                <a:ext uri="{FF2B5EF4-FFF2-40B4-BE49-F238E27FC236}">
                  <a16:creationId xmlns:a16="http://schemas.microsoft.com/office/drawing/2014/main" id="{13226A43-0C94-B297-4DEC-5C1B1B76AD20}"/>
                </a:ext>
              </a:extLst>
            </p:cNvPr>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7D1C8F5D-10DE-3972-C5D3-CEE5545770F2}"/>
              </a:ext>
            </a:extLst>
          </p:cNvPr>
          <p:cNvSpPr txBox="1"/>
          <p:nvPr/>
        </p:nvSpPr>
        <p:spPr>
          <a:xfrm>
            <a:off x="3332775" y="3671865"/>
            <a:ext cx="11622449" cy="2728824"/>
          </a:xfrm>
          <a:prstGeom prst="rect">
            <a:avLst/>
          </a:prstGeom>
        </p:spPr>
        <p:txBody>
          <a:bodyPr lIns="0" tIns="0" rIns="0" bIns="0" rtlCol="0" anchor="t">
            <a:spAutoFit/>
          </a:bodyPr>
          <a:lstStyle/>
          <a:p>
            <a:pPr marL="0" lvl="0" indent="0" algn="ctr">
              <a:lnSpc>
                <a:spcPts val="11002"/>
              </a:lnSpc>
              <a:spcBef>
                <a:spcPct val="0"/>
              </a:spcBef>
            </a:pPr>
            <a:r>
              <a:rPr lang="en-US" sz="7859">
                <a:solidFill>
                  <a:srgbClr val="FFFFFF"/>
                </a:solidFill>
                <a:latin typeface="Open Sans Extra Bold"/>
                <a:ea typeface="Open Sans Extra Bold"/>
                <a:cs typeface="Open Sans Extra Bold"/>
                <a:sym typeface="Open Sans Extra Bold"/>
              </a:rPr>
              <a:t>HỆ THỐNG GỢI Ý VIỆC LÀM</a:t>
            </a:r>
          </a:p>
        </p:txBody>
      </p:sp>
      <p:sp>
        <p:nvSpPr>
          <p:cNvPr id="9" name="TextBox 9">
            <a:extLst>
              <a:ext uri="{FF2B5EF4-FFF2-40B4-BE49-F238E27FC236}">
                <a16:creationId xmlns:a16="http://schemas.microsoft.com/office/drawing/2014/main" id="{B6CA19B0-56C1-FCC2-D17F-7385AA85801E}"/>
              </a:ext>
            </a:extLst>
          </p:cNvPr>
          <p:cNvSpPr txBox="1"/>
          <p:nvPr/>
        </p:nvSpPr>
        <p:spPr>
          <a:xfrm>
            <a:off x="3310652" y="6372421"/>
            <a:ext cx="11644572" cy="420436"/>
          </a:xfrm>
          <a:prstGeom prst="rect">
            <a:avLst/>
          </a:prstGeom>
        </p:spPr>
        <p:txBody>
          <a:bodyPr wrap="square" lIns="0" tIns="0" rIns="0" bIns="0" rtlCol="0" anchor="t">
            <a:spAutoFit/>
          </a:bodyPr>
          <a:lstStyle/>
          <a:p>
            <a:pPr marL="0" lvl="0" indent="0" algn="ctr">
              <a:lnSpc>
                <a:spcPts val="3512"/>
              </a:lnSpc>
              <a:spcBef>
                <a:spcPct val="0"/>
              </a:spcBef>
            </a:pPr>
            <a:r>
              <a:rPr lang="en-US" sz="2508" b="1" spc="-50">
                <a:solidFill>
                  <a:srgbClr val="FFFFFF"/>
                </a:solidFill>
                <a:latin typeface="Source Sans Pro Bold"/>
                <a:ea typeface="Source Sans Pro Bold"/>
                <a:cs typeface="Source Sans Pro Bold"/>
                <a:sym typeface="Source Sans Pro Bold"/>
              </a:rPr>
              <a:t>Xây dựng mô hình Machine Learning gợi ý việc làm</a:t>
            </a:r>
          </a:p>
        </p:txBody>
      </p:sp>
    </p:spTree>
    <p:extLst>
      <p:ext uri="{BB962C8B-B14F-4D97-AF65-F5344CB8AC3E}">
        <p14:creationId xmlns:p14="http://schemas.microsoft.com/office/powerpoint/2010/main" val="2463527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1C5B6-97EA-1F64-40A3-CAB476DCB7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F356B33-32D0-FB7A-6BB1-0559E24E115E}"/>
              </a:ext>
            </a:extLst>
          </p:cNvPr>
          <p:cNvGrpSpPr/>
          <p:nvPr/>
        </p:nvGrpSpPr>
        <p:grpSpPr>
          <a:xfrm>
            <a:off x="0" y="0"/>
            <a:ext cx="18288000" cy="2192421"/>
            <a:chOff x="0" y="0"/>
            <a:chExt cx="4816593" cy="577428"/>
          </a:xfrm>
        </p:grpSpPr>
        <p:sp>
          <p:nvSpPr>
            <p:cNvPr id="3" name="Freeform 3">
              <a:extLst>
                <a:ext uri="{FF2B5EF4-FFF2-40B4-BE49-F238E27FC236}">
                  <a16:creationId xmlns:a16="http://schemas.microsoft.com/office/drawing/2014/main" id="{0683D572-1489-5819-47A4-459D4E16B0B1}"/>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6B2A2BB5-F9F7-D9D8-C423-F76D84850E32}"/>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DF38C225-45C4-727E-8690-C99005741D95}"/>
              </a:ext>
            </a:extLst>
          </p:cNvPr>
          <p:cNvSpPr txBox="1"/>
          <p:nvPr/>
        </p:nvSpPr>
        <p:spPr>
          <a:xfrm>
            <a:off x="0" y="480354"/>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Bối cảnh và mục tiêu</a:t>
            </a:r>
          </a:p>
        </p:txBody>
      </p:sp>
      <p:sp>
        <p:nvSpPr>
          <p:cNvPr id="8" name="TextBox 7">
            <a:extLst>
              <a:ext uri="{FF2B5EF4-FFF2-40B4-BE49-F238E27FC236}">
                <a16:creationId xmlns:a16="http://schemas.microsoft.com/office/drawing/2014/main" id="{F15590B1-C830-F858-5BFE-0812A84F88A4}"/>
              </a:ext>
            </a:extLst>
          </p:cNvPr>
          <p:cNvSpPr txBox="1"/>
          <p:nvPr/>
        </p:nvSpPr>
        <p:spPr>
          <a:xfrm>
            <a:off x="1142998" y="3695700"/>
            <a:ext cx="16002000" cy="4046429"/>
          </a:xfrm>
          <a:prstGeom prst="rect">
            <a:avLst/>
          </a:prstGeom>
          <a:noFill/>
        </p:spPr>
        <p:txBody>
          <a:bodyPr wrap="square">
            <a:spAutoFit/>
          </a:bodyPr>
          <a:lstStyle/>
          <a:p>
            <a:pPr lvl="1">
              <a:lnSpc>
                <a:spcPct val="150000"/>
              </a:lnSpc>
            </a:pPr>
            <a:r>
              <a:rPr lang="en-US" sz="4400" kern="0">
                <a:effectLst/>
                <a:latin typeface="Times New Roman" panose="02020603050405020304" pitchFamily="18" charset="0"/>
                <a:ea typeface="Times New Roman" panose="02020603050405020304" pitchFamily="18" charset="0"/>
              </a:rPr>
              <a:t>-   Các bộ phận tuyển dụng sẽ mất thời gian đọc CV </a:t>
            </a:r>
          </a:p>
          <a:p>
            <a:pPr lvl="1">
              <a:lnSpc>
                <a:spcPct val="150000"/>
              </a:lnSpc>
            </a:pPr>
            <a:r>
              <a:rPr lang="en-US" sz="4400" kern="0">
                <a:latin typeface="Times New Roman" panose="02020603050405020304" pitchFamily="18" charset="0"/>
              </a:rPr>
              <a:t>-   CV ứng viên không phù hợp với công việc </a:t>
            </a:r>
          </a:p>
          <a:p>
            <a:pPr marL="1028700" lvl="1" indent="-571500">
              <a:lnSpc>
                <a:spcPct val="150000"/>
              </a:lnSpc>
              <a:buFontTx/>
              <a:buChar char="-"/>
            </a:pPr>
            <a:r>
              <a:rPr lang="en-US" sz="4400" kern="0">
                <a:latin typeface="Times New Roman" panose="02020603050405020304" pitchFamily="18" charset="0"/>
              </a:rPr>
              <a:t>Chi phí tuyển dụng các ứng viên khá cao  </a:t>
            </a:r>
          </a:p>
          <a:p>
            <a:pPr marL="1028700" lvl="1" indent="-571500">
              <a:lnSpc>
                <a:spcPct val="150000"/>
              </a:lnSpc>
              <a:buFontTx/>
              <a:buChar char="-"/>
            </a:pPr>
            <a:r>
              <a:rPr lang="en-US" sz="4400" kern="0">
                <a:latin typeface="Times New Roman" panose="02020603050405020304" pitchFamily="18" charset="0"/>
              </a:rPr>
              <a:t>Đánh giá thủ công dễ bị ảnh hưởng bởi yếu tố chủ quan</a:t>
            </a:r>
            <a:endParaRPr lang="en-US" sz="4400"/>
          </a:p>
        </p:txBody>
      </p:sp>
    </p:spTree>
    <p:extLst>
      <p:ext uri="{BB962C8B-B14F-4D97-AF65-F5344CB8AC3E}">
        <p14:creationId xmlns:p14="http://schemas.microsoft.com/office/powerpoint/2010/main" val="3162739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6B7F-ADBA-7ED1-5F72-E074623860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487A3D1-6335-CCFA-C4F8-CFDF26649BC3}"/>
              </a:ext>
            </a:extLst>
          </p:cNvPr>
          <p:cNvGrpSpPr/>
          <p:nvPr/>
        </p:nvGrpSpPr>
        <p:grpSpPr>
          <a:xfrm>
            <a:off x="0" y="0"/>
            <a:ext cx="18288000" cy="2192421"/>
            <a:chOff x="0" y="0"/>
            <a:chExt cx="4816593" cy="577428"/>
          </a:xfrm>
        </p:grpSpPr>
        <p:sp>
          <p:nvSpPr>
            <p:cNvPr id="3" name="Freeform 3">
              <a:extLst>
                <a:ext uri="{FF2B5EF4-FFF2-40B4-BE49-F238E27FC236}">
                  <a16:creationId xmlns:a16="http://schemas.microsoft.com/office/drawing/2014/main" id="{5371841C-820C-9482-4D67-54255E697A63}"/>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B5DDC160-0983-0A89-F726-21073CE91CA0}"/>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EF7080A5-AA39-478A-3A63-24B2BD5F2ADA}"/>
              </a:ext>
            </a:extLst>
          </p:cNvPr>
          <p:cNvSpPr txBox="1"/>
          <p:nvPr/>
        </p:nvSpPr>
        <p:spPr>
          <a:xfrm>
            <a:off x="0" y="480354"/>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Machine Leaning</a:t>
            </a:r>
          </a:p>
        </p:txBody>
      </p:sp>
      <p:sp>
        <p:nvSpPr>
          <p:cNvPr id="8" name="TextBox 7">
            <a:extLst>
              <a:ext uri="{FF2B5EF4-FFF2-40B4-BE49-F238E27FC236}">
                <a16:creationId xmlns:a16="http://schemas.microsoft.com/office/drawing/2014/main" id="{2B98B1F6-B638-6E3A-2D3C-5AD7785D1E48}"/>
              </a:ext>
            </a:extLst>
          </p:cNvPr>
          <p:cNvSpPr txBox="1"/>
          <p:nvPr/>
        </p:nvSpPr>
        <p:spPr>
          <a:xfrm>
            <a:off x="762000" y="3404562"/>
            <a:ext cx="9372600" cy="5062091"/>
          </a:xfrm>
          <a:prstGeom prst="rect">
            <a:avLst/>
          </a:prstGeom>
          <a:noFill/>
        </p:spPr>
        <p:txBody>
          <a:bodyPr wrap="square">
            <a:spAutoFit/>
          </a:bodyPr>
          <a:lstStyle/>
          <a:p>
            <a:pPr>
              <a:lnSpc>
                <a:spcPct val="150000"/>
              </a:lnSpc>
            </a:pPr>
            <a:r>
              <a:rPr lang="vi-VN" sz="4400" kern="0">
                <a:effectLst/>
                <a:latin typeface="Times New Roman" panose="02020603050405020304" pitchFamily="18" charset="0"/>
                <a:ea typeface="Times New Roman" panose="02020603050405020304" pitchFamily="18" charset="0"/>
              </a:rPr>
              <a:t> </a:t>
            </a:r>
            <a:r>
              <a:rPr lang="vi-VN" sz="4400" b="1" kern="0">
                <a:effectLst/>
                <a:latin typeface="Times New Roman" panose="02020603050405020304" pitchFamily="18" charset="0"/>
                <a:ea typeface="Times New Roman" panose="02020603050405020304" pitchFamily="18" charset="0"/>
              </a:rPr>
              <a:t>Machine Learning (ML)</a:t>
            </a:r>
            <a:r>
              <a:rPr lang="vi-VN" sz="4400" kern="0">
                <a:effectLst/>
                <a:latin typeface="Times New Roman" panose="02020603050405020304" pitchFamily="18" charset="0"/>
                <a:ea typeface="Times New Roman" panose="02020603050405020304" pitchFamily="18" charset="0"/>
              </a:rPr>
              <a:t> – một nhánh của trí tuệ nhân tạo (AI), cho phép máy tính học từ dữ liệu đầu vào và cải thiện hiệu suất theo thời gian mà không cần lập trình cụ thể cho từng trường hợp</a:t>
            </a:r>
            <a:endParaRPr lang="en-US" sz="4400"/>
          </a:p>
        </p:txBody>
      </p:sp>
      <p:pic>
        <p:nvPicPr>
          <p:cNvPr id="10" name="Picture 9">
            <a:extLst>
              <a:ext uri="{FF2B5EF4-FFF2-40B4-BE49-F238E27FC236}">
                <a16:creationId xmlns:a16="http://schemas.microsoft.com/office/drawing/2014/main" id="{D3EECC31-F70D-2AB1-2A4D-ADE827526764}"/>
              </a:ext>
            </a:extLst>
          </p:cNvPr>
          <p:cNvPicPr>
            <a:picLocks noChangeAspect="1"/>
          </p:cNvPicPr>
          <p:nvPr/>
        </p:nvPicPr>
        <p:blipFill>
          <a:blip r:embed="rId3"/>
          <a:stretch>
            <a:fillRect/>
          </a:stretch>
        </p:blipFill>
        <p:spPr>
          <a:xfrm>
            <a:off x="10668000" y="3705775"/>
            <a:ext cx="6602394" cy="4459664"/>
          </a:xfrm>
          <a:prstGeom prst="rect">
            <a:avLst/>
          </a:prstGeom>
        </p:spPr>
      </p:pic>
    </p:spTree>
    <p:extLst>
      <p:ext uri="{BB962C8B-B14F-4D97-AF65-F5344CB8AC3E}">
        <p14:creationId xmlns:p14="http://schemas.microsoft.com/office/powerpoint/2010/main" val="2745071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CCDD2-1833-1EFD-FDF6-AE64FB8961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C3559BD-F020-29A7-77F6-0F3F51832B87}"/>
              </a:ext>
            </a:extLst>
          </p:cNvPr>
          <p:cNvGrpSpPr/>
          <p:nvPr/>
        </p:nvGrpSpPr>
        <p:grpSpPr>
          <a:xfrm>
            <a:off x="0" y="0"/>
            <a:ext cx="18288000" cy="2192421"/>
            <a:chOff x="0" y="0"/>
            <a:chExt cx="4816593" cy="577428"/>
          </a:xfrm>
        </p:grpSpPr>
        <p:sp>
          <p:nvSpPr>
            <p:cNvPr id="3" name="Freeform 3">
              <a:extLst>
                <a:ext uri="{FF2B5EF4-FFF2-40B4-BE49-F238E27FC236}">
                  <a16:creationId xmlns:a16="http://schemas.microsoft.com/office/drawing/2014/main" id="{942799B7-21FD-174C-76A6-74BEFAA64D8D}"/>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A9AA861C-605A-542A-D6D3-6D5C55D84828}"/>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0792E723-CE0B-D2C6-7AA6-7E8209AC0325}"/>
              </a:ext>
            </a:extLst>
          </p:cNvPr>
          <p:cNvSpPr txBox="1"/>
          <p:nvPr/>
        </p:nvSpPr>
        <p:spPr>
          <a:xfrm>
            <a:off x="0" y="480354"/>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Machine Leaning</a:t>
            </a:r>
          </a:p>
        </p:txBody>
      </p:sp>
      <p:sp>
        <p:nvSpPr>
          <p:cNvPr id="8" name="TextBox 7">
            <a:extLst>
              <a:ext uri="{FF2B5EF4-FFF2-40B4-BE49-F238E27FC236}">
                <a16:creationId xmlns:a16="http://schemas.microsoft.com/office/drawing/2014/main" id="{8BD01501-DAC2-7CA5-D755-CCC1EEB2E767}"/>
              </a:ext>
            </a:extLst>
          </p:cNvPr>
          <p:cNvSpPr txBox="1"/>
          <p:nvPr/>
        </p:nvSpPr>
        <p:spPr>
          <a:xfrm>
            <a:off x="4229098" y="2672775"/>
            <a:ext cx="9829800" cy="5062091"/>
          </a:xfrm>
          <a:prstGeom prst="rect">
            <a:avLst/>
          </a:prstGeom>
          <a:noFill/>
        </p:spPr>
        <p:txBody>
          <a:bodyPr wrap="square">
            <a:spAutoFit/>
          </a:bodyPr>
          <a:lstStyle/>
          <a:p>
            <a:pPr>
              <a:lnSpc>
                <a:spcPct val="150000"/>
              </a:lnSpc>
            </a:pPr>
            <a:r>
              <a:rPr lang="en-US" sz="4400" kern="0">
                <a:latin typeface="Times New Roman" panose="02020603050405020304" pitchFamily="18" charset="0"/>
              </a:rPr>
              <a:t>Các thuật toán Machine learning áp dụng: </a:t>
            </a:r>
          </a:p>
          <a:p>
            <a:pPr marL="571500" indent="-571500">
              <a:lnSpc>
                <a:spcPct val="150000"/>
              </a:lnSpc>
              <a:buFontTx/>
              <a:buChar char="-"/>
            </a:pPr>
            <a:r>
              <a:rPr lang="en-US" sz="4400" b="1" kern="0">
                <a:latin typeface="Times New Roman" panose="02020603050405020304" pitchFamily="18" charset="0"/>
              </a:rPr>
              <a:t>Logistic Regression </a:t>
            </a:r>
          </a:p>
          <a:p>
            <a:pPr marL="571500" indent="-571500">
              <a:lnSpc>
                <a:spcPct val="150000"/>
              </a:lnSpc>
              <a:buFontTx/>
              <a:buChar char="-"/>
            </a:pPr>
            <a:r>
              <a:rPr lang="en-US" sz="4400" b="1" kern="0">
                <a:latin typeface="Times New Roman" panose="02020603050405020304" pitchFamily="18" charset="0"/>
              </a:rPr>
              <a:t>Random Forest</a:t>
            </a:r>
          </a:p>
          <a:p>
            <a:pPr marL="571500" indent="-571500">
              <a:lnSpc>
                <a:spcPct val="150000"/>
              </a:lnSpc>
              <a:buFontTx/>
              <a:buChar char="-"/>
            </a:pPr>
            <a:r>
              <a:rPr lang="en-US" sz="4400" b="1" kern="0">
                <a:latin typeface="Times New Roman" panose="02020603050405020304" pitchFamily="18" charset="0"/>
              </a:rPr>
              <a:t>Ada Boost </a:t>
            </a:r>
          </a:p>
          <a:p>
            <a:pPr marL="571500" indent="-571500">
              <a:lnSpc>
                <a:spcPct val="150000"/>
              </a:lnSpc>
              <a:buFontTx/>
              <a:buChar char="-"/>
            </a:pPr>
            <a:r>
              <a:rPr lang="en-US" sz="4400" b="1" kern="0">
                <a:latin typeface="Times New Roman" panose="02020603050405020304" pitchFamily="18" charset="0"/>
              </a:rPr>
              <a:t>XG Boost </a:t>
            </a:r>
            <a:endParaRPr lang="en-US" sz="4400" b="1"/>
          </a:p>
        </p:txBody>
      </p:sp>
    </p:spTree>
    <p:extLst>
      <p:ext uri="{BB962C8B-B14F-4D97-AF65-F5344CB8AC3E}">
        <p14:creationId xmlns:p14="http://schemas.microsoft.com/office/powerpoint/2010/main" val="3802070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8531-B445-FFEF-5BC8-C45A7BD5EB6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84871E7-A82D-1A2C-5142-385912681FE6}"/>
              </a:ext>
            </a:extLst>
          </p:cNvPr>
          <p:cNvGrpSpPr/>
          <p:nvPr/>
        </p:nvGrpSpPr>
        <p:grpSpPr>
          <a:xfrm>
            <a:off x="0" y="1"/>
            <a:ext cx="18288000" cy="1472270"/>
            <a:chOff x="0" y="0"/>
            <a:chExt cx="4816593" cy="577428"/>
          </a:xfrm>
        </p:grpSpPr>
        <p:sp>
          <p:nvSpPr>
            <p:cNvPr id="3" name="Freeform 3">
              <a:extLst>
                <a:ext uri="{FF2B5EF4-FFF2-40B4-BE49-F238E27FC236}">
                  <a16:creationId xmlns:a16="http://schemas.microsoft.com/office/drawing/2014/main" id="{2916262D-81D4-7FAF-82A4-3C5A81442905}"/>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89A77B10-6B12-E380-D04A-0342DA049BB7}"/>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FBE621E9-D3D9-4594-C2B1-344E3059779A}"/>
              </a:ext>
            </a:extLst>
          </p:cNvPr>
          <p:cNvSpPr txBox="1"/>
          <p:nvPr/>
        </p:nvSpPr>
        <p:spPr>
          <a:xfrm>
            <a:off x="-304800" y="191606"/>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Dataset</a:t>
            </a:r>
          </a:p>
        </p:txBody>
      </p:sp>
      <p:graphicFrame>
        <p:nvGraphicFramePr>
          <p:cNvPr id="5" name="Table 4">
            <a:extLst>
              <a:ext uri="{FF2B5EF4-FFF2-40B4-BE49-F238E27FC236}">
                <a16:creationId xmlns:a16="http://schemas.microsoft.com/office/drawing/2014/main" id="{973BBE60-A6FF-8206-FF69-CAF477A2BBF9}"/>
              </a:ext>
            </a:extLst>
          </p:cNvPr>
          <p:cNvGraphicFramePr>
            <a:graphicFrameLocks noGrp="1"/>
          </p:cNvGraphicFramePr>
          <p:nvPr>
            <p:extLst>
              <p:ext uri="{D42A27DB-BD31-4B8C-83A1-F6EECF244321}">
                <p14:modId xmlns:p14="http://schemas.microsoft.com/office/powerpoint/2010/main" val="913372658"/>
              </p:ext>
            </p:extLst>
          </p:nvPr>
        </p:nvGraphicFramePr>
        <p:xfrm>
          <a:off x="1371600" y="1601652"/>
          <a:ext cx="5410200" cy="8190048"/>
        </p:xfrm>
        <a:graphic>
          <a:graphicData uri="http://schemas.openxmlformats.org/drawingml/2006/table">
            <a:tbl>
              <a:tblPr firstRow="1" firstCol="1" bandRow="1">
                <a:tableStyleId>{5C22544A-7EE6-4342-B048-85BDC9FD1C3A}</a:tableStyleId>
              </a:tblPr>
              <a:tblGrid>
                <a:gridCol w="2217295">
                  <a:extLst>
                    <a:ext uri="{9D8B030D-6E8A-4147-A177-3AD203B41FA5}">
                      <a16:colId xmlns:a16="http://schemas.microsoft.com/office/drawing/2014/main" val="2470849066"/>
                    </a:ext>
                  </a:extLst>
                </a:gridCol>
                <a:gridCol w="3192905">
                  <a:extLst>
                    <a:ext uri="{9D8B030D-6E8A-4147-A177-3AD203B41FA5}">
                      <a16:colId xmlns:a16="http://schemas.microsoft.com/office/drawing/2014/main" val="2966965131"/>
                    </a:ext>
                  </a:extLst>
                </a:gridCol>
              </a:tblGrid>
              <a:tr h="682504">
                <a:tc>
                  <a:txBody>
                    <a:bodyPr/>
                    <a:lstStyle/>
                    <a:p>
                      <a:pPr marL="0" marR="0" algn="ctr">
                        <a:lnSpc>
                          <a:spcPct val="150000"/>
                        </a:lnSpc>
                        <a:buNone/>
                      </a:pPr>
                      <a:r>
                        <a:rPr lang="vi-VN" sz="2000" kern="100">
                          <a:effectLst/>
                        </a:rPr>
                        <a:t>Dataset JD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2000" kern="100">
                          <a:effectLst/>
                        </a:rPr>
                        <a:t>Mô tả</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46081264"/>
                  </a:ext>
                </a:extLst>
              </a:tr>
              <a:tr h="682504">
                <a:tc>
                  <a:txBody>
                    <a:bodyPr/>
                    <a:lstStyle/>
                    <a:p>
                      <a:pPr marL="0" marR="0" algn="ctr">
                        <a:lnSpc>
                          <a:spcPct val="150000"/>
                        </a:lnSpc>
                        <a:buNone/>
                      </a:pPr>
                      <a:r>
                        <a:rPr lang="vi-VN" sz="2000" kern="100">
                          <a:effectLst/>
                        </a:rPr>
                        <a:t>id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Mã id của ID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14787928"/>
                  </a:ext>
                </a:extLst>
              </a:tr>
              <a:tr h="682504">
                <a:tc>
                  <a:txBody>
                    <a:bodyPr/>
                    <a:lstStyle/>
                    <a:p>
                      <a:pPr marL="0" marR="0" algn="ctr">
                        <a:lnSpc>
                          <a:spcPct val="150000"/>
                        </a:lnSpc>
                        <a:buNone/>
                      </a:pPr>
                      <a:r>
                        <a:rPr lang="vi-VN" sz="2000" kern="100">
                          <a:effectLst/>
                        </a:rPr>
                        <a:t>Tittle</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Tên công việc</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97583697"/>
                  </a:ext>
                </a:extLst>
              </a:tr>
              <a:tr h="682504">
                <a:tc>
                  <a:txBody>
                    <a:bodyPr/>
                    <a:lstStyle/>
                    <a:p>
                      <a:pPr marL="0" marR="0" algn="ctr">
                        <a:lnSpc>
                          <a:spcPct val="150000"/>
                        </a:lnSpc>
                        <a:buNone/>
                      </a:pPr>
                      <a:r>
                        <a:rPr lang="vi-VN" sz="2000" kern="100">
                          <a:effectLst/>
                        </a:rPr>
                        <a:t>Company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Tên công ty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18743493"/>
                  </a:ext>
                </a:extLst>
              </a:tr>
              <a:tr h="682504">
                <a:tc>
                  <a:txBody>
                    <a:bodyPr/>
                    <a:lstStyle/>
                    <a:p>
                      <a:pPr marL="0" marR="0" algn="ctr">
                        <a:lnSpc>
                          <a:spcPct val="150000"/>
                        </a:lnSpc>
                        <a:buNone/>
                      </a:pPr>
                      <a:r>
                        <a:rPr lang="vi-VN" sz="2000" kern="100">
                          <a:effectLst/>
                        </a:rPr>
                        <a:t>Location</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Tên công ty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96981710"/>
                  </a:ext>
                </a:extLst>
              </a:tr>
              <a:tr h="682504">
                <a:tc>
                  <a:txBody>
                    <a:bodyPr/>
                    <a:lstStyle/>
                    <a:p>
                      <a:pPr marL="0" marR="0" algn="ctr">
                        <a:lnSpc>
                          <a:spcPct val="150000"/>
                        </a:lnSpc>
                        <a:buNone/>
                      </a:pPr>
                      <a:r>
                        <a:rPr lang="vi-VN" sz="2000" kern="100">
                          <a:effectLst/>
                        </a:rPr>
                        <a:t>Salary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Lương</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99943931"/>
                  </a:ext>
                </a:extLst>
              </a:tr>
              <a:tr h="682504">
                <a:tc>
                  <a:txBody>
                    <a:bodyPr/>
                    <a:lstStyle/>
                    <a:p>
                      <a:pPr marL="0" marR="0" algn="ctr">
                        <a:lnSpc>
                          <a:spcPct val="150000"/>
                        </a:lnSpc>
                        <a:buNone/>
                      </a:pPr>
                      <a:r>
                        <a:rPr lang="vi-VN" sz="2000" kern="100">
                          <a:effectLst/>
                        </a:rPr>
                        <a:t>Work_type</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Loại hình làm việc</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25355682"/>
                  </a:ext>
                </a:extLst>
              </a:tr>
              <a:tr h="682504">
                <a:tc>
                  <a:txBody>
                    <a:bodyPr/>
                    <a:lstStyle/>
                    <a:p>
                      <a:pPr marL="0" marR="0" algn="ctr">
                        <a:lnSpc>
                          <a:spcPct val="150000"/>
                        </a:lnSpc>
                        <a:buNone/>
                      </a:pPr>
                      <a:r>
                        <a:rPr lang="vi-VN" sz="2000" kern="100">
                          <a:effectLst/>
                        </a:rPr>
                        <a:t>Description</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Mô tả công việc</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80616893"/>
                  </a:ext>
                </a:extLst>
              </a:tr>
              <a:tr h="682504">
                <a:tc>
                  <a:txBody>
                    <a:bodyPr/>
                    <a:lstStyle/>
                    <a:p>
                      <a:pPr marL="0" marR="0" algn="ctr">
                        <a:lnSpc>
                          <a:spcPct val="150000"/>
                        </a:lnSpc>
                        <a:buNone/>
                      </a:pPr>
                      <a:r>
                        <a:rPr lang="vi-VN" sz="2000" kern="100">
                          <a:effectLst/>
                        </a:rPr>
                        <a:t>Requirements</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Yêu cầu về công việc</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03052596"/>
                  </a:ext>
                </a:extLst>
              </a:tr>
              <a:tr h="682504">
                <a:tc>
                  <a:txBody>
                    <a:bodyPr/>
                    <a:lstStyle/>
                    <a:p>
                      <a:pPr marL="0" marR="0" algn="ctr">
                        <a:lnSpc>
                          <a:spcPct val="150000"/>
                        </a:lnSpc>
                        <a:buNone/>
                      </a:pPr>
                      <a:r>
                        <a:rPr lang="vi-VN" sz="2000" kern="100">
                          <a:effectLst/>
                        </a:rPr>
                        <a:t>Skills</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Các kỹ năng công việc</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68166576"/>
                  </a:ext>
                </a:extLst>
              </a:tr>
              <a:tr h="682504">
                <a:tc>
                  <a:txBody>
                    <a:bodyPr/>
                    <a:lstStyle/>
                    <a:p>
                      <a:pPr marL="0" marR="0" algn="ctr">
                        <a:lnSpc>
                          <a:spcPct val="150000"/>
                        </a:lnSpc>
                        <a:buNone/>
                      </a:pPr>
                      <a:r>
                        <a:rPr lang="vi-VN" sz="2000" kern="100">
                          <a:effectLst/>
                        </a:rPr>
                        <a:t>Số dòng</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2513</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95109996"/>
                  </a:ext>
                </a:extLst>
              </a:tr>
              <a:tr h="682504">
                <a:tc>
                  <a:txBody>
                    <a:bodyPr/>
                    <a:lstStyle/>
                    <a:p>
                      <a:pPr marL="0" marR="0" algn="ctr">
                        <a:lnSpc>
                          <a:spcPct val="150000"/>
                        </a:lnSpc>
                        <a:buNone/>
                      </a:pPr>
                      <a:r>
                        <a:rPr lang="vi-VN" sz="2000" kern="100">
                          <a:effectLst/>
                        </a:rPr>
                        <a:t>Số thuộc tính</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9</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34896303"/>
                  </a:ext>
                </a:extLst>
              </a:tr>
            </a:tbl>
          </a:graphicData>
        </a:graphic>
      </p:graphicFrame>
      <p:graphicFrame>
        <p:nvGraphicFramePr>
          <p:cNvPr id="9" name="Table 8">
            <a:extLst>
              <a:ext uri="{FF2B5EF4-FFF2-40B4-BE49-F238E27FC236}">
                <a16:creationId xmlns:a16="http://schemas.microsoft.com/office/drawing/2014/main" id="{D0C4BC4D-C95F-C6A2-F20A-0B0C37A3A732}"/>
              </a:ext>
            </a:extLst>
          </p:cNvPr>
          <p:cNvGraphicFramePr>
            <a:graphicFrameLocks noGrp="1"/>
          </p:cNvGraphicFramePr>
          <p:nvPr>
            <p:extLst>
              <p:ext uri="{D42A27DB-BD31-4B8C-83A1-F6EECF244321}">
                <p14:modId xmlns:p14="http://schemas.microsoft.com/office/powerpoint/2010/main" val="231259226"/>
              </p:ext>
            </p:extLst>
          </p:nvPr>
        </p:nvGraphicFramePr>
        <p:xfrm>
          <a:off x="8382000" y="2773837"/>
          <a:ext cx="7086600" cy="4739326"/>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3949982834"/>
                    </a:ext>
                  </a:extLst>
                </a:gridCol>
                <a:gridCol w="4648200">
                  <a:extLst>
                    <a:ext uri="{9D8B030D-6E8A-4147-A177-3AD203B41FA5}">
                      <a16:colId xmlns:a16="http://schemas.microsoft.com/office/drawing/2014/main" val="2256815860"/>
                    </a:ext>
                  </a:extLst>
                </a:gridCol>
              </a:tblGrid>
              <a:tr h="1161225">
                <a:tc>
                  <a:txBody>
                    <a:bodyPr/>
                    <a:lstStyle/>
                    <a:p>
                      <a:pPr marL="0" marR="0" algn="ctr">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Dataset CR</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Mô tả</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49659382"/>
                  </a:ext>
                </a:extLst>
              </a:tr>
              <a:tr h="834902">
                <a:tc>
                  <a:txBody>
                    <a:bodyPr/>
                    <a:lstStyle/>
                    <a:p>
                      <a:pPr marL="0" marR="0" algn="ctr">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Category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Tên loại công việc của úng viên</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091911"/>
                  </a:ext>
                </a:extLst>
              </a:tr>
              <a:tr h="819974">
                <a:tc>
                  <a:txBody>
                    <a:bodyPr/>
                    <a:lstStyle/>
                    <a:p>
                      <a:pPr marL="0" marR="0" algn="ctr">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Resume</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Nội dung thôn tin ứng tuyển của ứng viên</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07899348"/>
                  </a:ext>
                </a:extLst>
              </a:tr>
              <a:tr h="762000">
                <a:tc>
                  <a:txBody>
                    <a:bodyPr/>
                    <a:lstStyle/>
                    <a:p>
                      <a:pPr marL="0" marR="0" algn="ctr">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Số dòng</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962</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53158428"/>
                  </a:ext>
                </a:extLst>
              </a:tr>
              <a:tr h="1161225">
                <a:tc>
                  <a:txBody>
                    <a:bodyPr/>
                    <a:lstStyle/>
                    <a:p>
                      <a:pPr marL="0" marR="0" algn="ctr">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Số thuộc tính</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8347764"/>
                  </a:ext>
                </a:extLst>
              </a:tr>
            </a:tbl>
          </a:graphicData>
        </a:graphic>
      </p:graphicFrame>
    </p:spTree>
    <p:extLst>
      <p:ext uri="{BB962C8B-B14F-4D97-AF65-F5344CB8AC3E}">
        <p14:creationId xmlns:p14="http://schemas.microsoft.com/office/powerpoint/2010/main" val="3601361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CB2E6-66EC-7628-9FBF-FF470B4D88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05A427-A950-B4F2-27D2-F530D19A3DEF}"/>
              </a:ext>
            </a:extLst>
          </p:cNvPr>
          <p:cNvGrpSpPr/>
          <p:nvPr/>
        </p:nvGrpSpPr>
        <p:grpSpPr>
          <a:xfrm>
            <a:off x="0" y="0"/>
            <a:ext cx="18288000" cy="2192421"/>
            <a:chOff x="0" y="0"/>
            <a:chExt cx="4816593" cy="577428"/>
          </a:xfrm>
        </p:grpSpPr>
        <p:sp>
          <p:nvSpPr>
            <p:cNvPr id="3" name="Freeform 3">
              <a:extLst>
                <a:ext uri="{FF2B5EF4-FFF2-40B4-BE49-F238E27FC236}">
                  <a16:creationId xmlns:a16="http://schemas.microsoft.com/office/drawing/2014/main" id="{009B490A-9518-080E-0815-27A9E831E01F}"/>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D7592B26-98B1-6093-13EC-EF6F846CDB7A}"/>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76CD07DB-3AE8-7A1B-A494-B0704F3009F1}"/>
              </a:ext>
            </a:extLst>
          </p:cNvPr>
          <p:cNvSpPr txBox="1"/>
          <p:nvPr/>
        </p:nvSpPr>
        <p:spPr>
          <a:xfrm>
            <a:off x="0" y="480354"/>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Machine Leaning</a:t>
            </a:r>
          </a:p>
        </p:txBody>
      </p:sp>
      <p:sp>
        <p:nvSpPr>
          <p:cNvPr id="8" name="TextBox 7">
            <a:extLst>
              <a:ext uri="{FF2B5EF4-FFF2-40B4-BE49-F238E27FC236}">
                <a16:creationId xmlns:a16="http://schemas.microsoft.com/office/drawing/2014/main" id="{0FF6CC97-9603-AEE8-542D-5138BEEB4AFF}"/>
              </a:ext>
            </a:extLst>
          </p:cNvPr>
          <p:cNvSpPr txBox="1"/>
          <p:nvPr/>
        </p:nvSpPr>
        <p:spPr>
          <a:xfrm>
            <a:off x="2743200" y="5040603"/>
            <a:ext cx="10363200" cy="5049011"/>
          </a:xfrm>
          <a:prstGeom prst="rect">
            <a:avLst/>
          </a:prstGeom>
          <a:noFill/>
        </p:spPr>
        <p:txBody>
          <a:bodyPr wrap="square">
            <a:spAutoFit/>
          </a:bodyPr>
          <a:lstStyle/>
          <a:p>
            <a:pPr>
              <a:lnSpc>
                <a:spcPct val="150000"/>
              </a:lnSpc>
            </a:pPr>
            <a:r>
              <a:rPr lang="en-US" sz="4400" kern="0">
                <a:latin typeface="Times New Roman" panose="02020603050405020304" pitchFamily="18" charset="0"/>
              </a:rPr>
              <a:t>Tiếp cận kết hợp tính điểm Jaccard Simarity:</a:t>
            </a:r>
          </a:p>
          <a:p>
            <a:pPr marL="571500" indent="-571500">
              <a:lnSpc>
                <a:spcPct val="150000"/>
              </a:lnSpc>
              <a:buFontTx/>
              <a:buChar char="-"/>
            </a:pPr>
            <a:r>
              <a:rPr lang="en-US" sz="4400" b="1" kern="0">
                <a:latin typeface="Times New Roman" panose="02020603050405020304" pitchFamily="18" charset="0"/>
              </a:rPr>
              <a:t>Primary skills </a:t>
            </a:r>
            <a:r>
              <a:rPr lang="en-US" sz="4400" kern="0">
                <a:latin typeface="Times New Roman" panose="02020603050405020304" pitchFamily="18" charset="0"/>
              </a:rPr>
              <a:t>( kỹ năng chính)</a:t>
            </a:r>
          </a:p>
          <a:p>
            <a:pPr marL="571500" indent="-571500">
              <a:lnSpc>
                <a:spcPct val="150000"/>
              </a:lnSpc>
              <a:buFontTx/>
              <a:buChar char="-"/>
            </a:pPr>
            <a:r>
              <a:rPr lang="en-US" sz="4400" b="1" kern="0">
                <a:latin typeface="Times New Roman" panose="02020603050405020304" pitchFamily="18" charset="0"/>
              </a:rPr>
              <a:t>Secondary skills </a:t>
            </a:r>
            <a:r>
              <a:rPr lang="en-US" sz="4400" kern="0">
                <a:latin typeface="Times New Roman" panose="02020603050405020304" pitchFamily="18" charset="0"/>
              </a:rPr>
              <a:t>( kỹ năng phụ) </a:t>
            </a:r>
          </a:p>
          <a:p>
            <a:pPr marL="571500" indent="-571500">
              <a:lnSpc>
                <a:spcPct val="150000"/>
              </a:lnSpc>
              <a:buFontTx/>
              <a:buChar char="-"/>
            </a:pPr>
            <a:r>
              <a:rPr lang="en-US" sz="4400" b="1" kern="0">
                <a:latin typeface="Times New Roman" panose="02020603050405020304" pitchFamily="18" charset="0"/>
              </a:rPr>
              <a:t>Adj </a:t>
            </a:r>
            <a:r>
              <a:rPr lang="en-US" sz="4400" kern="0">
                <a:latin typeface="Times New Roman" panose="02020603050405020304" pitchFamily="18" charset="0"/>
              </a:rPr>
              <a:t>( Các tính từ )</a:t>
            </a:r>
          </a:p>
          <a:p>
            <a:pPr marL="571500" indent="-571500">
              <a:lnSpc>
                <a:spcPct val="150000"/>
              </a:lnSpc>
              <a:buFontTx/>
              <a:buChar char="-"/>
            </a:pPr>
            <a:r>
              <a:rPr lang="en-US" sz="4400" b="1" kern="0">
                <a:latin typeface="Times New Roman" panose="02020603050405020304" pitchFamily="18" charset="0"/>
              </a:rPr>
              <a:t>Adv</a:t>
            </a:r>
            <a:r>
              <a:rPr lang="en-US" sz="4400" kern="0">
                <a:latin typeface="Times New Roman" panose="02020603050405020304" pitchFamily="18" charset="0"/>
              </a:rPr>
              <a:t> ( Các trạng từ) </a:t>
            </a:r>
          </a:p>
        </p:txBody>
      </p:sp>
      <p:pic>
        <p:nvPicPr>
          <p:cNvPr id="7" name="Picture 6">
            <a:extLst>
              <a:ext uri="{FF2B5EF4-FFF2-40B4-BE49-F238E27FC236}">
                <a16:creationId xmlns:a16="http://schemas.microsoft.com/office/drawing/2014/main" id="{238B17CD-AC8C-2229-48B2-9983A2873DE3}"/>
              </a:ext>
            </a:extLst>
          </p:cNvPr>
          <p:cNvPicPr>
            <a:picLocks noChangeAspect="1"/>
          </p:cNvPicPr>
          <p:nvPr/>
        </p:nvPicPr>
        <p:blipFill>
          <a:blip r:embed="rId3"/>
          <a:stretch>
            <a:fillRect/>
          </a:stretch>
        </p:blipFill>
        <p:spPr>
          <a:xfrm>
            <a:off x="3449636" y="2254492"/>
            <a:ext cx="10113964" cy="2786111"/>
          </a:xfrm>
          <a:prstGeom prst="rect">
            <a:avLst/>
          </a:prstGeom>
        </p:spPr>
      </p:pic>
    </p:spTree>
    <p:extLst>
      <p:ext uri="{BB962C8B-B14F-4D97-AF65-F5344CB8AC3E}">
        <p14:creationId xmlns:p14="http://schemas.microsoft.com/office/powerpoint/2010/main" val="34416387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46B97-D0DC-882B-C260-1C966960AC2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76AB175-CFD6-298B-6C09-0900BF868EEF}"/>
              </a:ext>
            </a:extLst>
          </p:cNvPr>
          <p:cNvGrpSpPr/>
          <p:nvPr/>
        </p:nvGrpSpPr>
        <p:grpSpPr>
          <a:xfrm>
            <a:off x="0" y="1"/>
            <a:ext cx="18288000" cy="1638300"/>
            <a:chOff x="0" y="0"/>
            <a:chExt cx="4816593" cy="577428"/>
          </a:xfrm>
        </p:grpSpPr>
        <p:sp>
          <p:nvSpPr>
            <p:cNvPr id="3" name="Freeform 3">
              <a:extLst>
                <a:ext uri="{FF2B5EF4-FFF2-40B4-BE49-F238E27FC236}">
                  <a16:creationId xmlns:a16="http://schemas.microsoft.com/office/drawing/2014/main" id="{00ED3E63-13F2-8397-B24D-03CBED8C3B74}"/>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4D6BF3AA-5FD6-47D3-65A6-2AA6CAF09CEF}"/>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C28B807D-2198-1933-C550-C0C63246E099}"/>
              </a:ext>
            </a:extLst>
          </p:cNvPr>
          <p:cNvSpPr txBox="1"/>
          <p:nvPr/>
        </p:nvSpPr>
        <p:spPr>
          <a:xfrm>
            <a:off x="0" y="190500"/>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Suitability Score</a:t>
            </a:r>
          </a:p>
        </p:txBody>
      </p:sp>
      <p:pic>
        <p:nvPicPr>
          <p:cNvPr id="7" name="Picture 6">
            <a:extLst>
              <a:ext uri="{FF2B5EF4-FFF2-40B4-BE49-F238E27FC236}">
                <a16:creationId xmlns:a16="http://schemas.microsoft.com/office/drawing/2014/main" id="{3815E725-9A4C-BB2F-B863-3ABD74B0EE49}"/>
              </a:ext>
            </a:extLst>
          </p:cNvPr>
          <p:cNvPicPr>
            <a:picLocks noChangeAspect="1"/>
          </p:cNvPicPr>
          <p:nvPr/>
        </p:nvPicPr>
        <p:blipFill>
          <a:blip r:embed="rId3"/>
          <a:stretch>
            <a:fillRect/>
          </a:stretch>
        </p:blipFill>
        <p:spPr>
          <a:xfrm>
            <a:off x="152400" y="5134708"/>
            <a:ext cx="17461281" cy="1181439"/>
          </a:xfrm>
          <a:prstGeom prst="rect">
            <a:avLst/>
          </a:prstGeom>
        </p:spPr>
      </p:pic>
    </p:spTree>
    <p:extLst>
      <p:ext uri="{BB962C8B-B14F-4D97-AF65-F5344CB8AC3E}">
        <p14:creationId xmlns:p14="http://schemas.microsoft.com/office/powerpoint/2010/main" val="2870039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D8C13-092E-60B8-102B-FF92E175EB4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D4202F-52A2-3CA2-6034-66A3047E4B8A}"/>
              </a:ext>
            </a:extLst>
          </p:cNvPr>
          <p:cNvGrpSpPr/>
          <p:nvPr/>
        </p:nvGrpSpPr>
        <p:grpSpPr>
          <a:xfrm>
            <a:off x="0" y="1"/>
            <a:ext cx="18288000" cy="1638300"/>
            <a:chOff x="0" y="0"/>
            <a:chExt cx="4816593" cy="577428"/>
          </a:xfrm>
        </p:grpSpPr>
        <p:sp>
          <p:nvSpPr>
            <p:cNvPr id="3" name="Freeform 3">
              <a:extLst>
                <a:ext uri="{FF2B5EF4-FFF2-40B4-BE49-F238E27FC236}">
                  <a16:creationId xmlns:a16="http://schemas.microsoft.com/office/drawing/2014/main" id="{F994F43C-BBA4-34B2-5B86-B4FEE53881F6}"/>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F3CC923C-DEFC-A69F-6625-8C5F0073BD31}"/>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8CBD9772-513F-61BB-820A-9A8BCC8F81A9}"/>
              </a:ext>
            </a:extLst>
          </p:cNvPr>
          <p:cNvSpPr txBox="1"/>
          <p:nvPr/>
        </p:nvSpPr>
        <p:spPr>
          <a:xfrm>
            <a:off x="0" y="190500"/>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Suitability Score</a:t>
            </a:r>
          </a:p>
        </p:txBody>
      </p:sp>
      <p:pic>
        <p:nvPicPr>
          <p:cNvPr id="8" name="Picture 7">
            <a:extLst>
              <a:ext uri="{FF2B5EF4-FFF2-40B4-BE49-F238E27FC236}">
                <a16:creationId xmlns:a16="http://schemas.microsoft.com/office/drawing/2014/main" id="{78A178AE-76FF-ADE6-D821-0C08EAEAF6A4}"/>
              </a:ext>
            </a:extLst>
          </p:cNvPr>
          <p:cNvPicPr>
            <a:picLocks noChangeAspect="1"/>
          </p:cNvPicPr>
          <p:nvPr/>
        </p:nvPicPr>
        <p:blipFill>
          <a:blip r:embed="rId3"/>
          <a:stretch>
            <a:fillRect/>
          </a:stretch>
        </p:blipFill>
        <p:spPr>
          <a:xfrm>
            <a:off x="1905000" y="1746400"/>
            <a:ext cx="14097000" cy="8383678"/>
          </a:xfrm>
          <a:prstGeom prst="rect">
            <a:avLst/>
          </a:prstGeom>
        </p:spPr>
      </p:pic>
    </p:spTree>
    <p:extLst>
      <p:ext uri="{BB962C8B-B14F-4D97-AF65-F5344CB8AC3E}">
        <p14:creationId xmlns:p14="http://schemas.microsoft.com/office/powerpoint/2010/main" val="381213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C52A6-11A8-4AF9-6890-DFB84E06ED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83AD562-41D6-1DAE-9C6E-544700997234}"/>
              </a:ext>
            </a:extLst>
          </p:cNvPr>
          <p:cNvGrpSpPr/>
          <p:nvPr/>
        </p:nvGrpSpPr>
        <p:grpSpPr>
          <a:xfrm>
            <a:off x="0" y="1"/>
            <a:ext cx="18288000" cy="1638300"/>
            <a:chOff x="0" y="0"/>
            <a:chExt cx="4816593" cy="577428"/>
          </a:xfrm>
        </p:grpSpPr>
        <p:sp>
          <p:nvSpPr>
            <p:cNvPr id="3" name="Freeform 3">
              <a:extLst>
                <a:ext uri="{FF2B5EF4-FFF2-40B4-BE49-F238E27FC236}">
                  <a16:creationId xmlns:a16="http://schemas.microsoft.com/office/drawing/2014/main" id="{26AF9410-DB2F-0E04-0F55-870689CDB4CB}"/>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D939A6A3-7A7F-FBA1-C658-4196E3B33DE2}"/>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8C886B7C-5AAC-E509-09D8-BE30F72E96DB}"/>
              </a:ext>
            </a:extLst>
          </p:cNvPr>
          <p:cNvSpPr txBox="1"/>
          <p:nvPr/>
        </p:nvSpPr>
        <p:spPr>
          <a:xfrm>
            <a:off x="0" y="190500"/>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Suitability Score</a:t>
            </a:r>
          </a:p>
        </p:txBody>
      </p:sp>
      <p:pic>
        <p:nvPicPr>
          <p:cNvPr id="5" name="Picture 4" descr="A pie chart with different colored circles&#10;&#10;AI-generated content may be incorrect.">
            <a:extLst>
              <a:ext uri="{FF2B5EF4-FFF2-40B4-BE49-F238E27FC236}">
                <a16:creationId xmlns:a16="http://schemas.microsoft.com/office/drawing/2014/main" id="{753DC6A0-5B83-9D6F-8A8A-DF1014194BFD}"/>
              </a:ext>
            </a:extLst>
          </p:cNvPr>
          <p:cNvPicPr>
            <a:picLocks noChangeAspect="1"/>
          </p:cNvPicPr>
          <p:nvPr/>
        </p:nvPicPr>
        <p:blipFill>
          <a:blip r:embed="rId3"/>
          <a:stretch>
            <a:fillRect/>
          </a:stretch>
        </p:blipFill>
        <p:spPr>
          <a:xfrm>
            <a:off x="2971800" y="1658816"/>
            <a:ext cx="10363200" cy="8533082"/>
          </a:xfrm>
          <a:prstGeom prst="rect">
            <a:avLst/>
          </a:prstGeom>
        </p:spPr>
      </p:pic>
    </p:spTree>
    <p:extLst>
      <p:ext uri="{BB962C8B-B14F-4D97-AF65-F5344CB8AC3E}">
        <p14:creationId xmlns:p14="http://schemas.microsoft.com/office/powerpoint/2010/main" val="4094726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C56D6-4C54-ACAA-8541-628F42D96C4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2FF73AB-3F71-A811-EC2D-A8697425E362}"/>
              </a:ext>
            </a:extLst>
          </p:cNvPr>
          <p:cNvGrpSpPr/>
          <p:nvPr/>
        </p:nvGrpSpPr>
        <p:grpSpPr>
          <a:xfrm>
            <a:off x="0" y="1"/>
            <a:ext cx="18288000" cy="1472270"/>
            <a:chOff x="0" y="0"/>
            <a:chExt cx="4816593" cy="577428"/>
          </a:xfrm>
        </p:grpSpPr>
        <p:sp>
          <p:nvSpPr>
            <p:cNvPr id="3" name="Freeform 3">
              <a:extLst>
                <a:ext uri="{FF2B5EF4-FFF2-40B4-BE49-F238E27FC236}">
                  <a16:creationId xmlns:a16="http://schemas.microsoft.com/office/drawing/2014/main" id="{3B622948-05A4-7676-A49D-47FB9756AE74}"/>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1047CEC0-FC97-4AD8-1FEF-04ABE5E920AE}"/>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C30BD8B9-CC53-FF79-2585-7B79761B4666}"/>
              </a:ext>
            </a:extLst>
          </p:cNvPr>
          <p:cNvSpPr txBox="1"/>
          <p:nvPr/>
        </p:nvSpPr>
        <p:spPr>
          <a:xfrm>
            <a:off x="0" y="191606"/>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Quy trình thu thập và xử lý dữ liệu</a:t>
            </a:r>
          </a:p>
        </p:txBody>
      </p:sp>
      <p:pic>
        <p:nvPicPr>
          <p:cNvPr id="11" name="Picture 10" descr="A diagram of a data flow&#10;&#10;AI-generated content may be incorrect.">
            <a:extLst>
              <a:ext uri="{FF2B5EF4-FFF2-40B4-BE49-F238E27FC236}">
                <a16:creationId xmlns:a16="http://schemas.microsoft.com/office/drawing/2014/main" id="{65379A75-8B21-3BDD-6BEE-7C04886D9B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81161" y="1459571"/>
            <a:ext cx="13125674" cy="8814728"/>
          </a:xfrm>
          <a:prstGeom prst="rect">
            <a:avLst/>
          </a:prstGeom>
          <a:noFill/>
          <a:ln>
            <a:noFill/>
          </a:ln>
        </p:spPr>
      </p:pic>
    </p:spTree>
    <p:extLst>
      <p:ext uri="{BB962C8B-B14F-4D97-AF65-F5344CB8AC3E}">
        <p14:creationId xmlns:p14="http://schemas.microsoft.com/office/powerpoint/2010/main" val="1632012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6E14B-7F0D-E8D9-2E3A-D10B4100640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F1DB84-73F4-FD83-B515-CB903AA679E0}"/>
              </a:ext>
            </a:extLst>
          </p:cNvPr>
          <p:cNvGrpSpPr/>
          <p:nvPr/>
        </p:nvGrpSpPr>
        <p:grpSpPr>
          <a:xfrm>
            <a:off x="17585" y="-24373"/>
            <a:ext cx="18288000" cy="1183521"/>
            <a:chOff x="0" y="0"/>
            <a:chExt cx="4816593" cy="577428"/>
          </a:xfrm>
        </p:grpSpPr>
        <p:sp>
          <p:nvSpPr>
            <p:cNvPr id="3" name="Freeform 3">
              <a:extLst>
                <a:ext uri="{FF2B5EF4-FFF2-40B4-BE49-F238E27FC236}">
                  <a16:creationId xmlns:a16="http://schemas.microsoft.com/office/drawing/2014/main" id="{11542DD5-3955-90C6-B7A1-E3F9E0DC4A3B}"/>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B7A2A784-934C-79C9-DD00-BF4E3697E978}"/>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6E0870DD-B2AF-ECCF-E2BB-7DC5CC45B394}"/>
              </a:ext>
            </a:extLst>
          </p:cNvPr>
          <p:cNvSpPr txBox="1"/>
          <p:nvPr/>
        </p:nvSpPr>
        <p:spPr>
          <a:xfrm>
            <a:off x="0" y="191479"/>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Dataset final and traing</a:t>
            </a:r>
          </a:p>
        </p:txBody>
      </p:sp>
      <p:graphicFrame>
        <p:nvGraphicFramePr>
          <p:cNvPr id="5" name="Table 4">
            <a:extLst>
              <a:ext uri="{FF2B5EF4-FFF2-40B4-BE49-F238E27FC236}">
                <a16:creationId xmlns:a16="http://schemas.microsoft.com/office/drawing/2014/main" id="{C859D312-4A30-401F-6868-4567E02D6537}"/>
              </a:ext>
            </a:extLst>
          </p:cNvPr>
          <p:cNvGraphicFramePr>
            <a:graphicFrameLocks noGrp="1"/>
          </p:cNvGraphicFramePr>
          <p:nvPr>
            <p:extLst>
              <p:ext uri="{D42A27DB-BD31-4B8C-83A1-F6EECF244321}">
                <p14:modId xmlns:p14="http://schemas.microsoft.com/office/powerpoint/2010/main" val="2977181832"/>
              </p:ext>
            </p:extLst>
          </p:nvPr>
        </p:nvGraphicFramePr>
        <p:xfrm>
          <a:off x="8763000" y="1714500"/>
          <a:ext cx="7312026" cy="5439141"/>
        </p:xfrm>
        <a:graphic>
          <a:graphicData uri="http://schemas.openxmlformats.org/drawingml/2006/table">
            <a:tbl>
              <a:tblPr firstRow="1" firstCol="1" bandRow="1">
                <a:tableStyleId>{5C22544A-7EE6-4342-B048-85BDC9FD1C3A}</a:tableStyleId>
              </a:tblPr>
              <a:tblGrid>
                <a:gridCol w="4187826">
                  <a:extLst>
                    <a:ext uri="{9D8B030D-6E8A-4147-A177-3AD203B41FA5}">
                      <a16:colId xmlns:a16="http://schemas.microsoft.com/office/drawing/2014/main" val="491262967"/>
                    </a:ext>
                  </a:extLst>
                </a:gridCol>
                <a:gridCol w="3124200">
                  <a:extLst>
                    <a:ext uri="{9D8B030D-6E8A-4147-A177-3AD203B41FA5}">
                      <a16:colId xmlns:a16="http://schemas.microsoft.com/office/drawing/2014/main" val="829887"/>
                    </a:ext>
                  </a:extLst>
                </a:gridCol>
              </a:tblGrid>
              <a:tr h="953765">
                <a:tc>
                  <a:txBody>
                    <a:bodyPr/>
                    <a:lstStyle/>
                    <a:p>
                      <a:pPr marL="0" marR="0">
                        <a:lnSpc>
                          <a:spcPct val="150000"/>
                        </a:lnSpc>
                        <a:buNone/>
                      </a:pPr>
                      <a:r>
                        <a:rPr lang="vi-VN" sz="3000" kern="100">
                          <a:effectLst/>
                        </a:rPr>
                        <a:t>Thuộc tính </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3000" kern="100">
                          <a:effectLst/>
                        </a:rPr>
                        <a:t>Mô tả</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8371009"/>
                  </a:ext>
                </a:extLst>
              </a:tr>
              <a:tr h="953765">
                <a:tc>
                  <a:txBody>
                    <a:bodyPr/>
                    <a:lstStyle/>
                    <a:p>
                      <a:pPr marL="0" marR="0">
                        <a:lnSpc>
                          <a:spcPct val="150000"/>
                        </a:lnSpc>
                        <a:buNone/>
                      </a:pPr>
                      <a:r>
                        <a:rPr lang="vi-VN" sz="3000" kern="100">
                          <a:effectLst/>
                        </a:rPr>
                        <a:t>Số lượng dữ liệu</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3000" kern="100">
                          <a:effectLst/>
                        </a:rPr>
                        <a:t>32.996 dòng</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82660789"/>
                  </a:ext>
                </a:extLst>
              </a:tr>
              <a:tr h="953765">
                <a:tc>
                  <a:txBody>
                    <a:bodyPr/>
                    <a:lstStyle/>
                    <a:p>
                      <a:pPr marL="0" marR="0">
                        <a:lnSpc>
                          <a:spcPct val="150000"/>
                        </a:lnSpc>
                        <a:buNone/>
                      </a:pPr>
                      <a:r>
                        <a:rPr lang="vi-VN" sz="3000" kern="100">
                          <a:effectLst/>
                        </a:rPr>
                        <a:t>Số lượng dữ liệu huấn luyện</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3000" kern="100">
                          <a:effectLst/>
                        </a:rPr>
                        <a:t>26.396 dòng</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8352024"/>
                  </a:ext>
                </a:extLst>
              </a:tr>
              <a:tr h="993130">
                <a:tc>
                  <a:txBody>
                    <a:bodyPr/>
                    <a:lstStyle/>
                    <a:p>
                      <a:pPr marL="0" marR="0">
                        <a:lnSpc>
                          <a:spcPct val="150000"/>
                        </a:lnSpc>
                        <a:buNone/>
                      </a:pPr>
                      <a:r>
                        <a:rPr lang="vi-VN" sz="3000" kern="100">
                          <a:effectLst/>
                        </a:rPr>
                        <a:t>Số lượng dữ liệu để kiểm thử</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3000" kern="100">
                          <a:effectLst/>
                        </a:rPr>
                        <a:t>6.600 dòng</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73816655"/>
                  </a:ext>
                </a:extLst>
              </a:tr>
              <a:tr h="953765">
                <a:tc>
                  <a:txBody>
                    <a:bodyPr/>
                    <a:lstStyle/>
                    <a:p>
                      <a:pPr marL="0" marR="0">
                        <a:lnSpc>
                          <a:spcPct val="150000"/>
                        </a:lnSpc>
                        <a:buNone/>
                      </a:pPr>
                      <a:r>
                        <a:rPr lang="vi-VN" sz="3000" kern="100">
                          <a:effectLst/>
                        </a:rPr>
                        <a:t>Tài nguyên</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3000" kern="100">
                          <a:effectLst/>
                        </a:rPr>
                        <a:t>cpu</a:t>
                      </a:r>
                      <a:endParaRPr lang="en-US" sz="3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4262225"/>
                  </a:ext>
                </a:extLst>
              </a:tr>
            </a:tbl>
          </a:graphicData>
        </a:graphic>
      </p:graphicFrame>
      <p:graphicFrame>
        <p:nvGraphicFramePr>
          <p:cNvPr id="9" name="Table 8">
            <a:extLst>
              <a:ext uri="{FF2B5EF4-FFF2-40B4-BE49-F238E27FC236}">
                <a16:creationId xmlns:a16="http://schemas.microsoft.com/office/drawing/2014/main" id="{0B2B4B74-F0E4-C4AB-91E8-55AF402A120D}"/>
              </a:ext>
            </a:extLst>
          </p:cNvPr>
          <p:cNvGraphicFramePr>
            <a:graphicFrameLocks noGrp="1"/>
          </p:cNvGraphicFramePr>
          <p:nvPr>
            <p:extLst>
              <p:ext uri="{D42A27DB-BD31-4B8C-83A1-F6EECF244321}">
                <p14:modId xmlns:p14="http://schemas.microsoft.com/office/powerpoint/2010/main" val="1045262991"/>
              </p:ext>
            </p:extLst>
          </p:nvPr>
        </p:nvGraphicFramePr>
        <p:xfrm>
          <a:off x="17581" y="1132771"/>
          <a:ext cx="7312026" cy="8893059"/>
        </p:xfrm>
        <a:graphic>
          <a:graphicData uri="http://schemas.openxmlformats.org/drawingml/2006/table">
            <a:tbl>
              <a:tblPr firstRow="1" firstCol="1" bandRow="1">
                <a:tableStyleId>{5C22544A-7EE6-4342-B048-85BDC9FD1C3A}</a:tableStyleId>
              </a:tblPr>
              <a:tblGrid>
                <a:gridCol w="4187826">
                  <a:extLst>
                    <a:ext uri="{9D8B030D-6E8A-4147-A177-3AD203B41FA5}">
                      <a16:colId xmlns:a16="http://schemas.microsoft.com/office/drawing/2014/main" val="491262967"/>
                    </a:ext>
                  </a:extLst>
                </a:gridCol>
                <a:gridCol w="3124200">
                  <a:extLst>
                    <a:ext uri="{9D8B030D-6E8A-4147-A177-3AD203B41FA5}">
                      <a16:colId xmlns:a16="http://schemas.microsoft.com/office/drawing/2014/main" val="829887"/>
                    </a:ext>
                  </a:extLst>
                </a:gridCol>
              </a:tblGrid>
              <a:tr h="429329">
                <a:tc>
                  <a:txBody>
                    <a:bodyPr/>
                    <a:lstStyle/>
                    <a:p>
                      <a:pPr marL="0" marR="0">
                        <a:lnSpc>
                          <a:spcPct val="150000"/>
                        </a:lnSpc>
                        <a:buNone/>
                      </a:pPr>
                      <a:r>
                        <a:rPr lang="vi-VN" sz="2000" kern="100">
                          <a:effectLst/>
                        </a:rPr>
                        <a:t>Thuộc tính </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vi-VN" sz="2000" kern="100">
                          <a:effectLst/>
                        </a:rPr>
                        <a:t>Mô tả</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8371009"/>
                  </a:ext>
                </a:extLst>
              </a:tr>
              <a:tr h="457200">
                <a:tc>
                  <a:txBody>
                    <a:bodyPr/>
                    <a:lstStyle/>
                    <a:p>
                      <a:pPr marL="0" marR="0">
                        <a:lnSpc>
                          <a:spcPct val="150000"/>
                        </a:lnSpc>
                        <a:buNone/>
                      </a:pPr>
                      <a:r>
                        <a:rPr lang="vi-VN" sz="2000" kern="100">
                          <a:effectLst/>
                        </a:rPr>
                        <a:t>cr_id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CR id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82660789"/>
                  </a:ext>
                </a:extLst>
              </a:tr>
              <a:tr h="381000">
                <a:tc>
                  <a:txBody>
                    <a:bodyPr/>
                    <a:lstStyle/>
                    <a:p>
                      <a:pPr marL="0" marR="0">
                        <a:lnSpc>
                          <a:spcPct val="150000"/>
                        </a:lnSpc>
                        <a:buNone/>
                      </a:pPr>
                      <a:r>
                        <a:rPr lang="vi-VN" sz="2000" kern="100">
                          <a:effectLst/>
                        </a:rPr>
                        <a:t>jd_id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JD id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8352024"/>
                  </a:ext>
                </a:extLst>
              </a:tr>
              <a:tr h="359918">
                <a:tc>
                  <a:txBody>
                    <a:bodyPr/>
                    <a:lstStyle/>
                    <a:p>
                      <a:pPr marL="0" marR="0">
                        <a:lnSpc>
                          <a:spcPct val="150000"/>
                        </a:lnSpc>
                        <a:buNone/>
                      </a:pPr>
                      <a:r>
                        <a:rPr lang="vi-VN" sz="2000" kern="100">
                          <a:effectLst/>
                        </a:rPr>
                        <a:t>cr_category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Loại công việc của CR</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73816655"/>
                  </a:ext>
                </a:extLst>
              </a:tr>
              <a:tr h="415036">
                <a:tc>
                  <a:txBody>
                    <a:bodyPr/>
                    <a:lstStyle/>
                    <a:p>
                      <a:pPr marL="0" marR="0">
                        <a:lnSpc>
                          <a:spcPct val="150000"/>
                        </a:lnSpc>
                        <a:buNone/>
                      </a:pPr>
                      <a:r>
                        <a:rPr lang="vi-VN" sz="2000" kern="100">
                          <a:effectLst/>
                        </a:rPr>
                        <a:t>jd_name</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Tên công việc của JD</a:t>
                      </a:r>
                    </a:p>
                  </a:txBody>
                  <a:tcPr marL="68580" marR="68580" marT="0" marB="0"/>
                </a:tc>
                <a:extLst>
                  <a:ext uri="{0D108BD9-81ED-4DB2-BD59-A6C34878D82A}">
                    <a16:rowId xmlns:a16="http://schemas.microsoft.com/office/drawing/2014/main" val="554262225"/>
                  </a:ext>
                </a:extLst>
              </a:tr>
              <a:tr h="381000">
                <a:tc>
                  <a:txBody>
                    <a:bodyPr/>
                    <a:lstStyle/>
                    <a:p>
                      <a:pPr marL="0" marR="0">
                        <a:lnSpc>
                          <a:spcPct val="150000"/>
                        </a:lnSpc>
                        <a:buNone/>
                      </a:pPr>
                      <a:r>
                        <a:rPr lang="vi-VN" sz="2000" kern="100">
                          <a:effectLst/>
                        </a:rPr>
                        <a:t>primary_skills_jd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Kỹ năng chính của JD</a:t>
                      </a:r>
                    </a:p>
                  </a:txBody>
                  <a:tcPr marL="68580" marR="68580" marT="0" marB="0"/>
                </a:tc>
                <a:extLst>
                  <a:ext uri="{0D108BD9-81ED-4DB2-BD59-A6C34878D82A}">
                    <a16:rowId xmlns:a16="http://schemas.microsoft.com/office/drawing/2014/main" val="2085808727"/>
                  </a:ext>
                </a:extLst>
              </a:tr>
              <a:tr h="428244">
                <a:tc>
                  <a:txBody>
                    <a:bodyPr/>
                    <a:lstStyle/>
                    <a:p>
                      <a:pPr marL="0" marR="0">
                        <a:lnSpc>
                          <a:spcPct val="150000"/>
                        </a:lnSpc>
                        <a:buNone/>
                      </a:pPr>
                      <a:r>
                        <a:rPr lang="vi-VN" sz="2000" kern="100">
                          <a:effectLst/>
                        </a:rPr>
                        <a:t>secondary_skills_jd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Kỹ năng phụ của JD</a:t>
                      </a:r>
                    </a:p>
                  </a:txBody>
                  <a:tcPr marL="68580" marR="68580" marT="0" marB="0"/>
                </a:tc>
                <a:extLst>
                  <a:ext uri="{0D108BD9-81ED-4DB2-BD59-A6C34878D82A}">
                    <a16:rowId xmlns:a16="http://schemas.microsoft.com/office/drawing/2014/main" val="1454040567"/>
                  </a:ext>
                </a:extLst>
              </a:tr>
              <a:tr h="381000">
                <a:tc>
                  <a:txBody>
                    <a:bodyPr/>
                    <a:lstStyle/>
                    <a:p>
                      <a:pPr marL="0" marR="0">
                        <a:lnSpc>
                          <a:spcPct val="150000"/>
                        </a:lnSpc>
                        <a:buNone/>
                      </a:pPr>
                      <a:r>
                        <a:rPr lang="vi-VN" sz="2000" kern="100">
                          <a:effectLst/>
                        </a:rPr>
                        <a:t>adjectives_jd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Tính từ của JD</a:t>
                      </a:r>
                    </a:p>
                  </a:txBody>
                  <a:tcPr marL="68580" marR="68580" marT="0" marB="0"/>
                </a:tc>
                <a:extLst>
                  <a:ext uri="{0D108BD9-81ED-4DB2-BD59-A6C34878D82A}">
                    <a16:rowId xmlns:a16="http://schemas.microsoft.com/office/drawing/2014/main" val="1852088519"/>
                  </a:ext>
                </a:extLst>
              </a:tr>
              <a:tr h="428244">
                <a:tc>
                  <a:txBody>
                    <a:bodyPr/>
                    <a:lstStyle/>
                    <a:p>
                      <a:pPr marL="0" marR="0">
                        <a:lnSpc>
                          <a:spcPct val="150000"/>
                        </a:lnSpc>
                        <a:buNone/>
                      </a:pPr>
                      <a:r>
                        <a:rPr lang="vi-VN" sz="2000" kern="100">
                          <a:effectLst/>
                        </a:rPr>
                        <a:t>adverbs_jd</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Trạng từ của CR</a:t>
                      </a:r>
                    </a:p>
                  </a:txBody>
                  <a:tcPr marL="68580" marR="68580" marT="0" marB="0"/>
                </a:tc>
                <a:extLst>
                  <a:ext uri="{0D108BD9-81ED-4DB2-BD59-A6C34878D82A}">
                    <a16:rowId xmlns:a16="http://schemas.microsoft.com/office/drawing/2014/main" val="1763605071"/>
                  </a:ext>
                </a:extLst>
              </a:tr>
              <a:tr h="228600">
                <a:tc>
                  <a:txBody>
                    <a:bodyPr/>
                    <a:lstStyle/>
                    <a:p>
                      <a:pPr marL="0" marR="0">
                        <a:lnSpc>
                          <a:spcPct val="150000"/>
                        </a:lnSpc>
                        <a:buNone/>
                      </a:pPr>
                      <a:r>
                        <a:rPr lang="vi-VN" sz="2000" kern="100">
                          <a:effectLst/>
                        </a:rPr>
                        <a:t>primary_skills_cr</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Kỹ năng chính của CR</a:t>
                      </a:r>
                    </a:p>
                  </a:txBody>
                  <a:tcPr marL="68580" marR="68580" marT="0" marB="0"/>
                </a:tc>
                <a:extLst>
                  <a:ext uri="{0D108BD9-81ED-4DB2-BD59-A6C34878D82A}">
                    <a16:rowId xmlns:a16="http://schemas.microsoft.com/office/drawing/2014/main" val="2313240174"/>
                  </a:ext>
                </a:extLst>
              </a:tr>
              <a:tr h="275844">
                <a:tc>
                  <a:txBody>
                    <a:bodyPr/>
                    <a:lstStyle/>
                    <a:p>
                      <a:pPr marL="0" marR="0">
                        <a:lnSpc>
                          <a:spcPct val="150000"/>
                        </a:lnSpc>
                        <a:buNone/>
                      </a:pPr>
                      <a:r>
                        <a:rPr lang="vi-VN" sz="2000" kern="100">
                          <a:effectLst/>
                        </a:rPr>
                        <a:t>secondary_skills_cr</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Kỹ năng phụ của CR</a:t>
                      </a:r>
                    </a:p>
                  </a:txBody>
                  <a:tcPr marL="68580" marR="68580" marT="0" marB="0"/>
                </a:tc>
                <a:extLst>
                  <a:ext uri="{0D108BD9-81ED-4DB2-BD59-A6C34878D82A}">
                    <a16:rowId xmlns:a16="http://schemas.microsoft.com/office/drawing/2014/main" val="2931951716"/>
                  </a:ext>
                </a:extLst>
              </a:tr>
              <a:tr h="170688">
                <a:tc>
                  <a:txBody>
                    <a:bodyPr/>
                    <a:lstStyle/>
                    <a:p>
                      <a:pPr marL="0" marR="0">
                        <a:lnSpc>
                          <a:spcPct val="150000"/>
                        </a:lnSpc>
                        <a:buNone/>
                      </a:pPr>
                      <a:r>
                        <a:rPr lang="vi-VN" sz="2000" kern="100">
                          <a:effectLst/>
                        </a:rPr>
                        <a:t>adjectives_cr</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Tính từ của CR</a:t>
                      </a:r>
                    </a:p>
                  </a:txBody>
                  <a:tcPr marL="68580" marR="68580" marT="0" marB="0"/>
                </a:tc>
                <a:extLst>
                  <a:ext uri="{0D108BD9-81ED-4DB2-BD59-A6C34878D82A}">
                    <a16:rowId xmlns:a16="http://schemas.microsoft.com/office/drawing/2014/main" val="2458144067"/>
                  </a:ext>
                </a:extLst>
              </a:tr>
              <a:tr h="483577">
                <a:tc>
                  <a:txBody>
                    <a:bodyPr/>
                    <a:lstStyle/>
                    <a:p>
                      <a:pPr marL="0" marR="0">
                        <a:lnSpc>
                          <a:spcPct val="150000"/>
                        </a:lnSpc>
                        <a:buNone/>
                      </a:pPr>
                      <a:r>
                        <a:rPr lang="vi-VN" sz="2000" kern="100">
                          <a:effectLst/>
                        </a:rPr>
                        <a:t>adverbs_c</a:t>
                      </a:r>
                      <a:r>
                        <a:rPr lang="en-US" sz="2000" kern="100">
                          <a:effectLst/>
                        </a:rPr>
                        <a:t>r</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Trạng từ của CR</a:t>
                      </a:r>
                    </a:p>
                  </a:txBody>
                  <a:tcPr marL="68580" marR="68580" marT="0" marB="0"/>
                </a:tc>
                <a:extLst>
                  <a:ext uri="{0D108BD9-81ED-4DB2-BD59-A6C34878D82A}">
                    <a16:rowId xmlns:a16="http://schemas.microsoft.com/office/drawing/2014/main" val="1774728241"/>
                  </a:ext>
                </a:extLst>
              </a:tr>
              <a:tr h="483577">
                <a:tc>
                  <a:txBody>
                    <a:bodyPr/>
                    <a:lstStyle/>
                    <a:p>
                      <a:pPr marL="0" marR="0">
                        <a:lnSpc>
                          <a:spcPct val="150000"/>
                        </a:lnSpc>
                        <a:buNone/>
                      </a:pPr>
                      <a:r>
                        <a:rPr lang="vi-VN" sz="2000" kern="100">
                          <a:effectLst/>
                        </a:rPr>
                        <a:t>adjectives_weight_cr</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Trọng số tính từ của CR</a:t>
                      </a:r>
                    </a:p>
                  </a:txBody>
                  <a:tcPr marL="68580" marR="68580" marT="0" marB="0"/>
                </a:tc>
                <a:extLst>
                  <a:ext uri="{0D108BD9-81ED-4DB2-BD59-A6C34878D82A}">
                    <a16:rowId xmlns:a16="http://schemas.microsoft.com/office/drawing/2014/main" val="3513633463"/>
                  </a:ext>
                </a:extLst>
              </a:tr>
              <a:tr h="483577">
                <a:tc>
                  <a:txBody>
                    <a:bodyPr/>
                    <a:lstStyle/>
                    <a:p>
                      <a:pPr marL="0" marR="0">
                        <a:lnSpc>
                          <a:spcPct val="150000"/>
                        </a:lnSpc>
                        <a:buNone/>
                      </a:pPr>
                      <a:r>
                        <a:rPr lang="vi-VN" sz="2000" kern="100">
                          <a:effectLst/>
                        </a:rPr>
                        <a:t>primary_sim</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Điểm Jaccard của PS</a:t>
                      </a:r>
                    </a:p>
                  </a:txBody>
                  <a:tcPr marL="68580" marR="68580" marT="0" marB="0"/>
                </a:tc>
                <a:extLst>
                  <a:ext uri="{0D108BD9-81ED-4DB2-BD59-A6C34878D82A}">
                    <a16:rowId xmlns:a16="http://schemas.microsoft.com/office/drawing/2014/main" val="3836990896"/>
                  </a:ext>
                </a:extLst>
              </a:tr>
              <a:tr h="483577">
                <a:tc>
                  <a:txBody>
                    <a:bodyPr/>
                    <a:lstStyle/>
                    <a:p>
                      <a:pPr marL="0" marR="0">
                        <a:lnSpc>
                          <a:spcPct val="150000"/>
                        </a:lnSpc>
                        <a:buNone/>
                      </a:pPr>
                      <a:r>
                        <a:rPr lang="vi-VN" sz="2000" kern="100">
                          <a:effectLst/>
                        </a:rPr>
                        <a:t>secondary_sim</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Điểm Jaccard của SS</a:t>
                      </a:r>
                    </a:p>
                  </a:txBody>
                  <a:tcPr marL="68580" marR="68580" marT="0" marB="0"/>
                </a:tc>
                <a:extLst>
                  <a:ext uri="{0D108BD9-81ED-4DB2-BD59-A6C34878D82A}">
                    <a16:rowId xmlns:a16="http://schemas.microsoft.com/office/drawing/2014/main" val="246561414"/>
                  </a:ext>
                </a:extLst>
              </a:tr>
              <a:tr h="483577">
                <a:tc>
                  <a:txBody>
                    <a:bodyPr/>
                    <a:lstStyle/>
                    <a:p>
                      <a:pPr marL="0" marR="0">
                        <a:lnSpc>
                          <a:spcPct val="150000"/>
                        </a:lnSpc>
                        <a:buNone/>
                      </a:pPr>
                      <a:r>
                        <a:rPr lang="vi-VN" sz="2000" kern="100">
                          <a:effectLst/>
                        </a:rPr>
                        <a:t>adj_sim</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Điểm jacarrd của tính từ </a:t>
                      </a:r>
                    </a:p>
                  </a:txBody>
                  <a:tcPr marL="68580" marR="68580" marT="0" marB="0"/>
                </a:tc>
                <a:extLst>
                  <a:ext uri="{0D108BD9-81ED-4DB2-BD59-A6C34878D82A}">
                    <a16:rowId xmlns:a16="http://schemas.microsoft.com/office/drawing/2014/main" val="3931085783"/>
                  </a:ext>
                </a:extLst>
              </a:tr>
              <a:tr h="483577">
                <a:tc>
                  <a:txBody>
                    <a:bodyPr/>
                    <a:lstStyle/>
                    <a:p>
                      <a:pPr marL="0" marR="0">
                        <a:lnSpc>
                          <a:spcPct val="150000"/>
                        </a:lnSpc>
                        <a:buNone/>
                      </a:pPr>
                      <a:r>
                        <a:rPr lang="vi-VN" sz="2000" kern="100">
                          <a:effectLst/>
                        </a:rPr>
                        <a:t>adj_weight</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Số lượng tính từ</a:t>
                      </a:r>
                    </a:p>
                  </a:txBody>
                  <a:tcPr marL="68580" marR="68580" marT="0" marB="0"/>
                </a:tc>
                <a:extLst>
                  <a:ext uri="{0D108BD9-81ED-4DB2-BD59-A6C34878D82A}">
                    <a16:rowId xmlns:a16="http://schemas.microsoft.com/office/drawing/2014/main" val="827252697"/>
                  </a:ext>
                </a:extLst>
              </a:tr>
              <a:tr h="483577">
                <a:tc>
                  <a:txBody>
                    <a:bodyPr/>
                    <a:lstStyle/>
                    <a:p>
                      <a:pPr marL="0" marR="0">
                        <a:lnSpc>
                          <a:spcPct val="150000"/>
                        </a:lnSpc>
                        <a:buNone/>
                      </a:pPr>
                      <a:r>
                        <a:rPr lang="vi-VN" sz="2000" kern="100">
                          <a:effectLst/>
                        </a:rPr>
                        <a:t>total_similarity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Điểm tổng suitability</a:t>
                      </a:r>
                    </a:p>
                  </a:txBody>
                  <a:tcPr marL="68580" marR="68580" marT="0" marB="0"/>
                </a:tc>
                <a:extLst>
                  <a:ext uri="{0D108BD9-81ED-4DB2-BD59-A6C34878D82A}">
                    <a16:rowId xmlns:a16="http://schemas.microsoft.com/office/drawing/2014/main" val="603187131"/>
                  </a:ext>
                </a:extLst>
              </a:tr>
              <a:tr h="483577">
                <a:tc>
                  <a:txBody>
                    <a:bodyPr/>
                    <a:lstStyle/>
                    <a:p>
                      <a:pPr marL="0" marR="0">
                        <a:lnSpc>
                          <a:spcPct val="150000"/>
                        </a:lnSpc>
                        <a:buNone/>
                      </a:pPr>
                      <a:r>
                        <a:rPr lang="vi-VN" sz="2000" kern="100">
                          <a:effectLst/>
                        </a:rPr>
                        <a:t>suitability</a:t>
                      </a:r>
                      <a:endParaRPr lang="en-US"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buNone/>
                      </a:pPr>
                      <a:r>
                        <a:rPr lang="en-US" sz="2000" kern="100">
                          <a:effectLst/>
                        </a:rPr>
                        <a:t>Class (MOS,MDS,NOT)</a:t>
                      </a:r>
                    </a:p>
                  </a:txBody>
                  <a:tcPr marL="68580" marR="68580" marT="0" marB="0"/>
                </a:tc>
                <a:extLst>
                  <a:ext uri="{0D108BD9-81ED-4DB2-BD59-A6C34878D82A}">
                    <a16:rowId xmlns:a16="http://schemas.microsoft.com/office/drawing/2014/main" val="3263494371"/>
                  </a:ext>
                </a:extLst>
              </a:tr>
            </a:tbl>
          </a:graphicData>
        </a:graphic>
      </p:graphicFrame>
    </p:spTree>
    <p:extLst>
      <p:ext uri="{BB962C8B-B14F-4D97-AF65-F5344CB8AC3E}">
        <p14:creationId xmlns:p14="http://schemas.microsoft.com/office/powerpoint/2010/main" val="1546938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7BB0A-AD27-F57A-C7D5-1973C5CCFD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FDA8E01-80F2-628C-BA61-B07D06522884}"/>
              </a:ext>
            </a:extLst>
          </p:cNvPr>
          <p:cNvGrpSpPr/>
          <p:nvPr/>
        </p:nvGrpSpPr>
        <p:grpSpPr>
          <a:xfrm>
            <a:off x="17585" y="-24373"/>
            <a:ext cx="18288000" cy="1183521"/>
            <a:chOff x="0" y="0"/>
            <a:chExt cx="4816593" cy="577428"/>
          </a:xfrm>
        </p:grpSpPr>
        <p:sp>
          <p:nvSpPr>
            <p:cNvPr id="3" name="Freeform 3">
              <a:extLst>
                <a:ext uri="{FF2B5EF4-FFF2-40B4-BE49-F238E27FC236}">
                  <a16:creationId xmlns:a16="http://schemas.microsoft.com/office/drawing/2014/main" id="{31DA88D6-2F82-6F99-C3B8-1DE24325FD0A}"/>
                </a:ext>
              </a:extLst>
            </p:cNvPr>
            <p:cNvSpPr/>
            <p:nvPr/>
          </p:nvSpPr>
          <p:spPr>
            <a:xfrm>
              <a:off x="0" y="0"/>
              <a:ext cx="4816592" cy="577428"/>
            </a:xfrm>
            <a:custGeom>
              <a:avLst/>
              <a:gdLst/>
              <a:ahLst/>
              <a:cxnLst/>
              <a:rect l="l" t="t" r="r" b="b"/>
              <a:pathLst>
                <a:path w="4816592" h="577428">
                  <a:moveTo>
                    <a:pt x="0" y="0"/>
                  </a:moveTo>
                  <a:lnTo>
                    <a:pt x="4816592" y="0"/>
                  </a:lnTo>
                  <a:lnTo>
                    <a:pt x="4816592" y="577428"/>
                  </a:lnTo>
                  <a:lnTo>
                    <a:pt x="0" y="577428"/>
                  </a:lnTo>
                  <a:close/>
                </a:path>
              </a:pathLst>
            </a:custGeom>
            <a:solidFill>
              <a:srgbClr val="145DA0"/>
            </a:solidFill>
            <a:ln cap="sq">
              <a:noFill/>
              <a:prstDash val="solid"/>
              <a:miter/>
            </a:ln>
          </p:spPr>
          <p:txBody>
            <a:bodyPr/>
            <a:lstStyle/>
            <a:p>
              <a:endParaRPr lang="en-US"/>
            </a:p>
          </p:txBody>
        </p:sp>
        <p:sp>
          <p:nvSpPr>
            <p:cNvPr id="4" name="TextBox 4">
              <a:extLst>
                <a:ext uri="{FF2B5EF4-FFF2-40B4-BE49-F238E27FC236}">
                  <a16:creationId xmlns:a16="http://schemas.microsoft.com/office/drawing/2014/main" id="{7BE3D680-88B7-FE14-A35D-0BC36D047526}"/>
                </a:ext>
              </a:extLst>
            </p:cNvPr>
            <p:cNvSpPr txBox="1"/>
            <p:nvPr/>
          </p:nvSpPr>
          <p:spPr>
            <a:xfrm>
              <a:off x="0" y="-38100"/>
              <a:ext cx="4816593" cy="61552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a:extLst>
              <a:ext uri="{FF2B5EF4-FFF2-40B4-BE49-F238E27FC236}">
                <a16:creationId xmlns:a16="http://schemas.microsoft.com/office/drawing/2014/main" id="{FBE4E431-80A2-5BE8-886A-96E1849196C3}"/>
              </a:ext>
            </a:extLst>
          </p:cNvPr>
          <p:cNvSpPr txBox="1"/>
          <p:nvPr/>
        </p:nvSpPr>
        <p:spPr>
          <a:xfrm>
            <a:off x="0" y="191479"/>
            <a:ext cx="18288000" cy="991916"/>
          </a:xfrm>
          <a:prstGeom prst="rect">
            <a:avLst/>
          </a:prstGeom>
        </p:spPr>
        <p:txBody>
          <a:bodyPr lIns="0" tIns="0" rIns="0" bIns="0" rtlCol="0" anchor="t">
            <a:spAutoFit/>
          </a:bodyPr>
          <a:lstStyle/>
          <a:p>
            <a:pPr marL="0" lvl="0" indent="0" algn="ctr">
              <a:lnSpc>
                <a:spcPts val="8195"/>
              </a:lnSpc>
              <a:spcBef>
                <a:spcPct val="0"/>
              </a:spcBef>
            </a:pPr>
            <a:r>
              <a:rPr lang="en-US" sz="5854">
                <a:solidFill>
                  <a:srgbClr val="FDFDFD"/>
                </a:solidFill>
                <a:latin typeface="Open Sans Extra Bold"/>
                <a:ea typeface="Open Sans Extra Bold"/>
                <a:cs typeface="Open Sans Extra Bold"/>
                <a:sym typeface="Open Sans Extra Bold"/>
              </a:rPr>
              <a:t>Dataset final and traing</a:t>
            </a:r>
          </a:p>
        </p:txBody>
      </p:sp>
      <p:graphicFrame>
        <p:nvGraphicFramePr>
          <p:cNvPr id="7" name="Table 6">
            <a:extLst>
              <a:ext uri="{FF2B5EF4-FFF2-40B4-BE49-F238E27FC236}">
                <a16:creationId xmlns:a16="http://schemas.microsoft.com/office/drawing/2014/main" id="{36E9C9E5-F0C5-5E4F-FAFB-E24503F551A9}"/>
              </a:ext>
            </a:extLst>
          </p:cNvPr>
          <p:cNvGraphicFramePr>
            <a:graphicFrameLocks noGrp="1"/>
          </p:cNvGraphicFramePr>
          <p:nvPr>
            <p:extLst>
              <p:ext uri="{D42A27DB-BD31-4B8C-83A1-F6EECF244321}">
                <p14:modId xmlns:p14="http://schemas.microsoft.com/office/powerpoint/2010/main" val="388125897"/>
              </p:ext>
            </p:extLst>
          </p:nvPr>
        </p:nvGraphicFramePr>
        <p:xfrm>
          <a:off x="877887" y="1943100"/>
          <a:ext cx="16532225" cy="6734812"/>
        </p:xfrm>
        <a:graphic>
          <a:graphicData uri="http://schemas.openxmlformats.org/drawingml/2006/table">
            <a:tbl>
              <a:tblPr firstRow="1" firstCol="1" bandRow="1">
                <a:tableStyleId>{5C22544A-7EE6-4342-B048-85BDC9FD1C3A}</a:tableStyleId>
              </a:tblPr>
              <a:tblGrid>
                <a:gridCol w="4128636">
                  <a:extLst>
                    <a:ext uri="{9D8B030D-6E8A-4147-A177-3AD203B41FA5}">
                      <a16:colId xmlns:a16="http://schemas.microsoft.com/office/drawing/2014/main" val="4201715118"/>
                    </a:ext>
                  </a:extLst>
                </a:gridCol>
                <a:gridCol w="2864406">
                  <a:extLst>
                    <a:ext uri="{9D8B030D-6E8A-4147-A177-3AD203B41FA5}">
                      <a16:colId xmlns:a16="http://schemas.microsoft.com/office/drawing/2014/main" val="2193546438"/>
                    </a:ext>
                  </a:extLst>
                </a:gridCol>
                <a:gridCol w="2926293">
                  <a:extLst>
                    <a:ext uri="{9D8B030D-6E8A-4147-A177-3AD203B41FA5}">
                      <a16:colId xmlns:a16="http://schemas.microsoft.com/office/drawing/2014/main" val="2812623006"/>
                    </a:ext>
                  </a:extLst>
                </a:gridCol>
                <a:gridCol w="3306445">
                  <a:extLst>
                    <a:ext uri="{9D8B030D-6E8A-4147-A177-3AD203B41FA5}">
                      <a16:colId xmlns:a16="http://schemas.microsoft.com/office/drawing/2014/main" val="1275811158"/>
                    </a:ext>
                  </a:extLst>
                </a:gridCol>
                <a:gridCol w="3306445">
                  <a:extLst>
                    <a:ext uri="{9D8B030D-6E8A-4147-A177-3AD203B41FA5}">
                      <a16:colId xmlns:a16="http://schemas.microsoft.com/office/drawing/2014/main" val="2690623814"/>
                    </a:ext>
                  </a:extLst>
                </a:gridCol>
              </a:tblGrid>
              <a:tr h="1677838">
                <a:tc>
                  <a:txBody>
                    <a:bodyPr/>
                    <a:lstStyle/>
                    <a:p>
                      <a:pPr marL="0" marR="0" algn="ctr">
                        <a:lnSpc>
                          <a:spcPct val="150000"/>
                        </a:lnSpc>
                        <a:buNone/>
                      </a:pPr>
                      <a:r>
                        <a:rPr lang="vi-VN" sz="4000" kern="100">
                          <a:effectLst/>
                        </a:rPr>
                        <a:t>Model</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Accuracy</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Precision</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Recall</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F1-Score</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85661824"/>
                  </a:ext>
                </a:extLst>
              </a:tr>
              <a:tr h="1745530">
                <a:tc>
                  <a:txBody>
                    <a:bodyPr/>
                    <a:lstStyle/>
                    <a:p>
                      <a:pPr marL="0" marR="0" algn="ctr">
                        <a:lnSpc>
                          <a:spcPct val="150000"/>
                        </a:lnSpc>
                        <a:buNone/>
                      </a:pPr>
                      <a:r>
                        <a:rPr lang="vi-VN" sz="4000" kern="100">
                          <a:effectLst/>
                        </a:rPr>
                        <a:t>Logistic Regression</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0.968788</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0.968749</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0.968788</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0.968729</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37283741"/>
                  </a:ext>
                </a:extLst>
              </a:tr>
              <a:tr h="1677838">
                <a:tc>
                  <a:txBody>
                    <a:bodyPr/>
                    <a:lstStyle/>
                    <a:p>
                      <a:pPr marL="0" marR="0">
                        <a:lnSpc>
                          <a:spcPct val="150000"/>
                        </a:lnSpc>
                        <a:buNone/>
                      </a:pPr>
                      <a:r>
                        <a:rPr lang="vi-VN" sz="4000" kern="100">
                          <a:effectLst/>
                        </a:rPr>
                        <a:t>Random Forest</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0.986970</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0.987001</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0.986970</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0.986968</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67294333"/>
                  </a:ext>
                </a:extLst>
              </a:tr>
              <a:tr h="816803">
                <a:tc>
                  <a:txBody>
                    <a:bodyPr/>
                    <a:lstStyle/>
                    <a:p>
                      <a:pPr marL="0" marR="0">
                        <a:lnSpc>
                          <a:spcPct val="150000"/>
                        </a:lnSpc>
                        <a:buNone/>
                      </a:pPr>
                      <a:r>
                        <a:rPr lang="vi-VN" sz="4000" kern="100">
                          <a:effectLst/>
                        </a:rPr>
                        <a:t>Ada Boost</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0.866970</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0.868428</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0.866970</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0.867334</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20540535"/>
                  </a:ext>
                </a:extLst>
              </a:tr>
              <a:tr h="816803">
                <a:tc>
                  <a:txBody>
                    <a:bodyPr/>
                    <a:lstStyle/>
                    <a:p>
                      <a:pPr marL="0" marR="0">
                        <a:lnSpc>
                          <a:spcPct val="150000"/>
                        </a:lnSpc>
                        <a:buNone/>
                      </a:pPr>
                      <a:r>
                        <a:rPr lang="vi-VN" sz="4000" kern="100">
                          <a:effectLst/>
                        </a:rPr>
                        <a:t>XG Boost</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0.989394</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0.989433</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0.989394</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vi-VN" sz="4000" kern="100">
                          <a:effectLst/>
                        </a:rPr>
                        <a:t>0.989401</a:t>
                      </a:r>
                      <a:endParaRPr lang="en-US" sz="4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36565887"/>
                  </a:ext>
                </a:extLst>
              </a:tr>
            </a:tbl>
          </a:graphicData>
        </a:graphic>
      </p:graphicFrame>
    </p:spTree>
    <p:extLst>
      <p:ext uri="{BB962C8B-B14F-4D97-AF65-F5344CB8AC3E}">
        <p14:creationId xmlns:p14="http://schemas.microsoft.com/office/powerpoint/2010/main" val="4055533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3061529" y="2937389"/>
            <a:ext cx="12164941" cy="4412223"/>
            <a:chOff x="0" y="0"/>
            <a:chExt cx="3203935" cy="1162067"/>
          </a:xfrm>
        </p:grpSpPr>
        <p:sp>
          <p:nvSpPr>
            <p:cNvPr id="6" name="Freeform 6"/>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txBody>
            <a:bodyPr/>
            <a:lstStyle/>
            <a:p>
              <a:endParaRPr lang="en-US"/>
            </a:p>
          </p:txBody>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332775" y="4293790"/>
            <a:ext cx="11622449" cy="1343315"/>
          </a:xfrm>
          <a:prstGeom prst="rect">
            <a:avLst/>
          </a:prstGeom>
        </p:spPr>
        <p:txBody>
          <a:bodyPr lIns="0" tIns="0" rIns="0" bIns="0" rtlCol="0" anchor="t">
            <a:spAutoFit/>
          </a:bodyPr>
          <a:lstStyle/>
          <a:p>
            <a:pPr marL="0" lvl="0" indent="0" algn="ctr">
              <a:lnSpc>
                <a:spcPts val="11002"/>
              </a:lnSpc>
              <a:spcBef>
                <a:spcPct val="0"/>
              </a:spcBef>
            </a:pPr>
            <a:r>
              <a:rPr lang="en-US" sz="7859">
                <a:solidFill>
                  <a:srgbClr val="FFFFFF"/>
                </a:solidFill>
                <a:latin typeface="Open Sans Extra Bold"/>
                <a:ea typeface="Open Sans Extra Bold"/>
                <a:cs typeface="Open Sans Extra Bold"/>
                <a:sym typeface="Open Sans Extra Bold"/>
              </a:rPr>
              <a:t>DEMO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3061529" y="2937389"/>
            <a:ext cx="12164941" cy="4412223"/>
            <a:chOff x="0" y="0"/>
            <a:chExt cx="3203935" cy="1162067"/>
          </a:xfrm>
        </p:grpSpPr>
        <p:sp>
          <p:nvSpPr>
            <p:cNvPr id="6" name="Freeform 6"/>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txBody>
            <a:bodyPr/>
            <a:lstStyle/>
            <a:p>
              <a:endParaRPr lang="en-US"/>
            </a:p>
          </p:txBody>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332775" y="4395586"/>
            <a:ext cx="11622449" cy="1343429"/>
          </a:xfrm>
          <a:prstGeom prst="rect">
            <a:avLst/>
          </a:prstGeom>
        </p:spPr>
        <p:txBody>
          <a:bodyPr lIns="0" tIns="0" rIns="0" bIns="0" rtlCol="0" anchor="t">
            <a:spAutoFit/>
          </a:bodyPr>
          <a:lstStyle/>
          <a:p>
            <a:pPr marL="0" lvl="0" indent="0" algn="ctr">
              <a:lnSpc>
                <a:spcPts val="11002"/>
              </a:lnSpc>
              <a:spcBef>
                <a:spcPct val="0"/>
              </a:spcBef>
            </a:pPr>
            <a:r>
              <a:rPr lang="en-US" sz="7859">
                <a:solidFill>
                  <a:srgbClr val="FFFFFF"/>
                </a:solidFill>
                <a:latin typeface="Open Sans Extra Bold"/>
                <a:ea typeface="Open Sans Extra Bold"/>
                <a:cs typeface="Open Sans Extra Bold"/>
                <a:sym typeface="Open Sans Extra Bold"/>
              </a:rPr>
              <a:t>KẾT LUẬN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646718" y="1013951"/>
            <a:ext cx="7922504" cy="771523"/>
          </a:xfrm>
          <a:prstGeom prst="rect">
            <a:avLst/>
          </a:prstGeom>
        </p:spPr>
        <p:txBody>
          <a:bodyPr lIns="0" tIns="0" rIns="0" bIns="0" rtlCol="0" anchor="t">
            <a:spAutoFit/>
          </a:bodyPr>
          <a:lstStyle/>
          <a:p>
            <a:pPr marL="0" lvl="0" indent="0" algn="l">
              <a:lnSpc>
                <a:spcPts val="6300"/>
              </a:lnSpc>
              <a:spcBef>
                <a:spcPct val="0"/>
              </a:spcBef>
            </a:pPr>
            <a:r>
              <a:rPr lang="en-US" sz="4500" b="1">
                <a:solidFill>
                  <a:srgbClr val="051D40"/>
                </a:solidFill>
                <a:latin typeface="Montserrat Bold"/>
                <a:ea typeface="Montserrat Bold"/>
                <a:cs typeface="Montserrat Bold"/>
                <a:sym typeface="Montserrat Bold"/>
              </a:rPr>
              <a:t>Kết quả đạt được</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966307" y="300249"/>
            <a:ext cx="8027935" cy="9598729"/>
            <a:chOff x="0" y="0"/>
            <a:chExt cx="8603361" cy="10286746"/>
          </a:xfrm>
        </p:grpSpPr>
        <p:sp>
          <p:nvSpPr>
            <p:cNvPr id="10" name="Freeform 10"/>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l="-28002" r="-51461"/>
              </a:stretch>
            </a:blipFill>
          </p:spPr>
          <p:txBody>
            <a:bodyPr/>
            <a:lstStyle/>
            <a:p>
              <a:endParaRPr lang="en-US"/>
            </a:p>
          </p:txBody>
        </p:sp>
      </p:grpSp>
      <p:grpSp>
        <p:nvGrpSpPr>
          <p:cNvPr id="11" name="Group 11"/>
          <p:cNvGrpSpPr/>
          <p:nvPr/>
        </p:nvGrpSpPr>
        <p:grpSpPr>
          <a:xfrm>
            <a:off x="14700679" y="7074186"/>
            <a:ext cx="5946973" cy="59469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527730" y="8071003"/>
            <a:ext cx="15838729" cy="988145"/>
          </a:xfrm>
          <a:custGeom>
            <a:avLst/>
            <a:gdLst/>
            <a:ahLst/>
            <a:cxnLst/>
            <a:rect l="l" t="t" r="r" b="b"/>
            <a:pathLst>
              <a:path w="15838729" h="988145">
                <a:moveTo>
                  <a:pt x="0" y="0"/>
                </a:moveTo>
                <a:lnTo>
                  <a:pt x="15838729" y="0"/>
                </a:lnTo>
                <a:lnTo>
                  <a:pt x="15838729" y="988146"/>
                </a:lnTo>
                <a:lnTo>
                  <a:pt x="0" y="988146"/>
                </a:lnTo>
                <a:lnTo>
                  <a:pt x="0" y="0"/>
                </a:lnTo>
                <a:close/>
              </a:path>
            </a:pathLst>
          </a:custGeom>
          <a:blipFill>
            <a:blip r:embed="rId3"/>
            <a:stretch>
              <a:fillRect t="-216567"/>
            </a:stretch>
          </a:blipFill>
        </p:spPr>
        <p:txBody>
          <a:bodyPr/>
          <a:lstStyle/>
          <a:p>
            <a:endParaRPr lang="en-US"/>
          </a:p>
        </p:txBody>
      </p:sp>
      <p:grpSp>
        <p:nvGrpSpPr>
          <p:cNvPr id="15" name="Group 15"/>
          <p:cNvGrpSpPr/>
          <p:nvPr/>
        </p:nvGrpSpPr>
        <p:grpSpPr>
          <a:xfrm>
            <a:off x="548507" y="3532196"/>
            <a:ext cx="15817952" cy="4582253"/>
            <a:chOff x="0" y="0"/>
            <a:chExt cx="2999100" cy="868800"/>
          </a:xfrm>
        </p:grpSpPr>
        <p:sp>
          <p:nvSpPr>
            <p:cNvPr id="16" name="Freeform 16"/>
            <p:cNvSpPr/>
            <p:nvPr/>
          </p:nvSpPr>
          <p:spPr>
            <a:xfrm>
              <a:off x="0" y="0"/>
              <a:ext cx="2999100" cy="868800"/>
            </a:xfrm>
            <a:custGeom>
              <a:avLst/>
              <a:gdLst/>
              <a:ahLst/>
              <a:cxnLst/>
              <a:rect l="l" t="t" r="r" b="b"/>
              <a:pathLst>
                <a:path w="2999100" h="868800">
                  <a:moveTo>
                    <a:pt x="6852" y="0"/>
                  </a:moveTo>
                  <a:lnTo>
                    <a:pt x="2992248" y="0"/>
                  </a:lnTo>
                  <a:cubicBezTo>
                    <a:pt x="2996032" y="0"/>
                    <a:pt x="2999100" y="3068"/>
                    <a:pt x="2999100" y="6852"/>
                  </a:cubicBezTo>
                  <a:lnTo>
                    <a:pt x="2999100" y="861948"/>
                  </a:lnTo>
                  <a:cubicBezTo>
                    <a:pt x="2999100" y="865732"/>
                    <a:pt x="2996032" y="868800"/>
                    <a:pt x="2992248" y="868800"/>
                  </a:cubicBezTo>
                  <a:lnTo>
                    <a:pt x="6852" y="868800"/>
                  </a:lnTo>
                  <a:cubicBezTo>
                    <a:pt x="3068" y="868800"/>
                    <a:pt x="0" y="865732"/>
                    <a:pt x="0" y="861948"/>
                  </a:cubicBezTo>
                  <a:lnTo>
                    <a:pt x="0" y="6852"/>
                  </a:lnTo>
                  <a:cubicBezTo>
                    <a:pt x="0" y="3068"/>
                    <a:pt x="3068" y="0"/>
                    <a:pt x="6852" y="0"/>
                  </a:cubicBezTo>
                  <a:close/>
                </a:path>
              </a:pathLst>
            </a:custGeom>
            <a:solidFill>
              <a:srgbClr val="00569E"/>
            </a:solidFill>
          </p:spPr>
          <p:txBody>
            <a:bodyPr/>
            <a:lstStyle/>
            <a:p>
              <a:endParaRPr lang="en-US"/>
            </a:p>
          </p:txBody>
        </p:sp>
        <p:sp>
          <p:nvSpPr>
            <p:cNvPr id="17" name="TextBox 17"/>
            <p:cNvSpPr txBox="1"/>
            <p:nvPr/>
          </p:nvSpPr>
          <p:spPr>
            <a:xfrm>
              <a:off x="0" y="-38100"/>
              <a:ext cx="2999100" cy="9069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446505" y="3075865"/>
            <a:ext cx="3850816" cy="952301"/>
            <a:chOff x="0" y="0"/>
            <a:chExt cx="1013291" cy="250585"/>
          </a:xfrm>
        </p:grpSpPr>
        <p:sp>
          <p:nvSpPr>
            <p:cNvPr id="19" name="Freeform 19"/>
            <p:cNvSpPr/>
            <p:nvPr/>
          </p:nvSpPr>
          <p:spPr>
            <a:xfrm>
              <a:off x="0" y="0"/>
              <a:ext cx="1013291" cy="250585"/>
            </a:xfrm>
            <a:custGeom>
              <a:avLst/>
              <a:gdLst/>
              <a:ahLst/>
              <a:cxnLst/>
              <a:rect l="l" t="t" r="r" b="b"/>
              <a:pathLst>
                <a:path w="1013291" h="250585">
                  <a:moveTo>
                    <a:pt x="92481" y="0"/>
                  </a:moveTo>
                  <a:lnTo>
                    <a:pt x="920810" y="0"/>
                  </a:lnTo>
                  <a:cubicBezTo>
                    <a:pt x="945337" y="0"/>
                    <a:pt x="968860" y="9744"/>
                    <a:pt x="986204" y="27087"/>
                  </a:cubicBezTo>
                  <a:cubicBezTo>
                    <a:pt x="1003548" y="44431"/>
                    <a:pt x="1013291" y="67954"/>
                    <a:pt x="1013291" y="92481"/>
                  </a:cubicBezTo>
                  <a:lnTo>
                    <a:pt x="1013291" y="158104"/>
                  </a:lnTo>
                  <a:cubicBezTo>
                    <a:pt x="1013291" y="209180"/>
                    <a:pt x="971886" y="250585"/>
                    <a:pt x="920810" y="250585"/>
                  </a:cubicBezTo>
                  <a:lnTo>
                    <a:pt x="92481" y="250585"/>
                  </a:lnTo>
                  <a:cubicBezTo>
                    <a:pt x="41405" y="250585"/>
                    <a:pt x="0" y="209180"/>
                    <a:pt x="0" y="158104"/>
                  </a:cubicBezTo>
                  <a:lnTo>
                    <a:pt x="0" y="92481"/>
                  </a:lnTo>
                  <a:cubicBezTo>
                    <a:pt x="0" y="41405"/>
                    <a:pt x="41405" y="0"/>
                    <a:pt x="92481"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0" name="TextBox 20"/>
            <p:cNvSpPr txBox="1"/>
            <p:nvPr/>
          </p:nvSpPr>
          <p:spPr>
            <a:xfrm>
              <a:off x="0" y="-66675"/>
              <a:ext cx="1013291" cy="317260"/>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Poppins Bold"/>
                  <a:ea typeface="Poppins Bold"/>
                  <a:cs typeface="Poppins Bold"/>
                  <a:sym typeface="Poppins Bold"/>
                </a:rPr>
                <a:t>Kiến thức</a:t>
              </a:r>
            </a:p>
          </p:txBody>
        </p:sp>
      </p:grpSp>
      <p:grpSp>
        <p:nvGrpSpPr>
          <p:cNvPr id="21" name="Group 21"/>
          <p:cNvGrpSpPr/>
          <p:nvPr/>
        </p:nvGrpSpPr>
        <p:grpSpPr>
          <a:xfrm>
            <a:off x="6526180" y="3075865"/>
            <a:ext cx="3850816" cy="952301"/>
            <a:chOff x="0" y="0"/>
            <a:chExt cx="1013291" cy="250585"/>
          </a:xfrm>
        </p:grpSpPr>
        <p:sp>
          <p:nvSpPr>
            <p:cNvPr id="22" name="Freeform 22"/>
            <p:cNvSpPr/>
            <p:nvPr/>
          </p:nvSpPr>
          <p:spPr>
            <a:xfrm>
              <a:off x="0" y="0"/>
              <a:ext cx="1013291" cy="250585"/>
            </a:xfrm>
            <a:custGeom>
              <a:avLst/>
              <a:gdLst/>
              <a:ahLst/>
              <a:cxnLst/>
              <a:rect l="l" t="t" r="r" b="b"/>
              <a:pathLst>
                <a:path w="1013291" h="250585">
                  <a:moveTo>
                    <a:pt x="92481" y="0"/>
                  </a:moveTo>
                  <a:lnTo>
                    <a:pt x="920810" y="0"/>
                  </a:lnTo>
                  <a:cubicBezTo>
                    <a:pt x="945337" y="0"/>
                    <a:pt x="968860" y="9744"/>
                    <a:pt x="986204" y="27087"/>
                  </a:cubicBezTo>
                  <a:cubicBezTo>
                    <a:pt x="1003548" y="44431"/>
                    <a:pt x="1013291" y="67954"/>
                    <a:pt x="1013291" y="92481"/>
                  </a:cubicBezTo>
                  <a:lnTo>
                    <a:pt x="1013291" y="158104"/>
                  </a:lnTo>
                  <a:cubicBezTo>
                    <a:pt x="1013291" y="209180"/>
                    <a:pt x="971886" y="250585"/>
                    <a:pt x="920810" y="250585"/>
                  </a:cubicBezTo>
                  <a:lnTo>
                    <a:pt x="92481" y="250585"/>
                  </a:lnTo>
                  <a:cubicBezTo>
                    <a:pt x="41405" y="250585"/>
                    <a:pt x="0" y="209180"/>
                    <a:pt x="0" y="158104"/>
                  </a:cubicBezTo>
                  <a:lnTo>
                    <a:pt x="0" y="92481"/>
                  </a:lnTo>
                  <a:cubicBezTo>
                    <a:pt x="0" y="41405"/>
                    <a:pt x="41405" y="0"/>
                    <a:pt x="92481"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3" name="TextBox 23"/>
            <p:cNvSpPr txBox="1"/>
            <p:nvPr/>
          </p:nvSpPr>
          <p:spPr>
            <a:xfrm>
              <a:off x="0" y="-66675"/>
              <a:ext cx="1013291" cy="317260"/>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Poppins Bold"/>
                  <a:ea typeface="Poppins Bold"/>
                  <a:cs typeface="Poppins Bold"/>
                  <a:sym typeface="Poppins Bold"/>
                </a:rPr>
                <a:t>Sản phẩm</a:t>
              </a:r>
            </a:p>
          </p:txBody>
        </p:sp>
      </p:grpSp>
      <p:grpSp>
        <p:nvGrpSpPr>
          <p:cNvPr id="24" name="Group 24"/>
          <p:cNvGrpSpPr/>
          <p:nvPr/>
        </p:nvGrpSpPr>
        <p:grpSpPr>
          <a:xfrm>
            <a:off x="11605855" y="3075865"/>
            <a:ext cx="3709115" cy="952301"/>
            <a:chOff x="0" y="0"/>
            <a:chExt cx="976004" cy="250585"/>
          </a:xfrm>
        </p:grpSpPr>
        <p:sp>
          <p:nvSpPr>
            <p:cNvPr id="25" name="Freeform 25"/>
            <p:cNvSpPr/>
            <p:nvPr/>
          </p:nvSpPr>
          <p:spPr>
            <a:xfrm>
              <a:off x="0" y="0"/>
              <a:ext cx="976004" cy="250585"/>
            </a:xfrm>
            <a:custGeom>
              <a:avLst/>
              <a:gdLst/>
              <a:ahLst/>
              <a:cxnLst/>
              <a:rect l="l" t="t" r="r" b="b"/>
              <a:pathLst>
                <a:path w="976004" h="250585">
                  <a:moveTo>
                    <a:pt x="96014" y="0"/>
                  </a:moveTo>
                  <a:lnTo>
                    <a:pt x="879990" y="0"/>
                  </a:lnTo>
                  <a:cubicBezTo>
                    <a:pt x="905455" y="0"/>
                    <a:pt x="929876" y="10116"/>
                    <a:pt x="947882" y="28122"/>
                  </a:cubicBezTo>
                  <a:cubicBezTo>
                    <a:pt x="965889" y="46128"/>
                    <a:pt x="976004" y="70550"/>
                    <a:pt x="976004" y="96014"/>
                  </a:cubicBezTo>
                  <a:lnTo>
                    <a:pt x="976004" y="154571"/>
                  </a:lnTo>
                  <a:cubicBezTo>
                    <a:pt x="976004" y="207598"/>
                    <a:pt x="933017" y="250585"/>
                    <a:pt x="879990" y="250585"/>
                  </a:cubicBezTo>
                  <a:lnTo>
                    <a:pt x="96014" y="250585"/>
                  </a:lnTo>
                  <a:cubicBezTo>
                    <a:pt x="42987" y="250585"/>
                    <a:pt x="0" y="207598"/>
                    <a:pt x="0" y="154571"/>
                  </a:cubicBezTo>
                  <a:lnTo>
                    <a:pt x="0" y="96014"/>
                  </a:lnTo>
                  <a:cubicBezTo>
                    <a:pt x="0" y="42987"/>
                    <a:pt x="42987" y="0"/>
                    <a:pt x="96014"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6" name="TextBox 26"/>
            <p:cNvSpPr txBox="1"/>
            <p:nvPr/>
          </p:nvSpPr>
          <p:spPr>
            <a:xfrm>
              <a:off x="0" y="-66675"/>
              <a:ext cx="976004" cy="317260"/>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Poppins Bold"/>
                  <a:ea typeface="Poppins Bold"/>
                  <a:cs typeface="Poppins Bold"/>
                  <a:sym typeface="Poppins Bold"/>
                </a:rPr>
                <a:t>Hiệu suất hệ thống</a:t>
              </a:r>
            </a:p>
          </p:txBody>
        </p:sp>
      </p:grpSp>
      <p:sp>
        <p:nvSpPr>
          <p:cNvPr id="27" name="TextBox 27"/>
          <p:cNvSpPr txBox="1"/>
          <p:nvPr/>
        </p:nvSpPr>
        <p:spPr>
          <a:xfrm>
            <a:off x="1582656" y="4975252"/>
            <a:ext cx="3697083" cy="1638991"/>
          </a:xfrm>
          <a:prstGeom prst="rect">
            <a:avLst/>
          </a:prstGeom>
        </p:spPr>
        <p:txBody>
          <a:bodyPr lIns="0" tIns="0" rIns="0" bIns="0" rtlCol="0" anchor="t">
            <a:spAutoFit/>
          </a:bodyPr>
          <a:lstStyle/>
          <a:p>
            <a:pPr algn="ctr">
              <a:lnSpc>
                <a:spcPts val="3242"/>
              </a:lnSpc>
              <a:spcBef>
                <a:spcPct val="0"/>
              </a:spcBef>
            </a:pPr>
            <a:r>
              <a:rPr lang="en-US" sz="2315" spc="-46">
                <a:solidFill>
                  <a:srgbClr val="FDFDFD"/>
                </a:solidFill>
                <a:latin typeface="Poppins"/>
                <a:ea typeface="Poppins"/>
                <a:cs typeface="Poppins"/>
                <a:sym typeface="Poppins"/>
              </a:rPr>
              <a:t>Nắm được kiến thức về Microservices và cách xây dựng hệ thống và các công nghệ áp dụng</a:t>
            </a:r>
          </a:p>
        </p:txBody>
      </p:sp>
      <p:sp>
        <p:nvSpPr>
          <p:cNvPr id="28" name="TextBox 28"/>
          <p:cNvSpPr txBox="1"/>
          <p:nvPr/>
        </p:nvSpPr>
        <p:spPr>
          <a:xfrm>
            <a:off x="6677856" y="4565086"/>
            <a:ext cx="3697083" cy="3279655"/>
          </a:xfrm>
          <a:prstGeom prst="rect">
            <a:avLst/>
          </a:prstGeom>
        </p:spPr>
        <p:txBody>
          <a:bodyPr lIns="0" tIns="0" rIns="0" bIns="0" rtlCol="0" anchor="t">
            <a:spAutoFit/>
          </a:bodyPr>
          <a:lstStyle/>
          <a:p>
            <a:pPr algn="ctr">
              <a:lnSpc>
                <a:spcPts val="3242"/>
              </a:lnSpc>
            </a:pPr>
            <a:r>
              <a:rPr lang="en-US" sz="2315" spc="-46">
                <a:solidFill>
                  <a:srgbClr val="FDFDFD"/>
                </a:solidFill>
                <a:latin typeface="Poppins"/>
                <a:ea typeface="Poppins"/>
                <a:cs typeface="Poppins"/>
                <a:sym typeface="Poppins"/>
              </a:rPr>
              <a:t>Đảm bảo các chức năng dành cho người dùng, người quản trị và người bán.</a:t>
            </a:r>
          </a:p>
          <a:p>
            <a:pPr algn="ctr">
              <a:lnSpc>
                <a:spcPts val="3242"/>
              </a:lnSpc>
            </a:pPr>
            <a:r>
              <a:rPr lang="en-US" sz="2315" spc="-46">
                <a:solidFill>
                  <a:srgbClr val="FDFDFD"/>
                </a:solidFill>
                <a:latin typeface="Poppins"/>
                <a:ea typeface="Poppins"/>
                <a:cs typeface="Poppins"/>
                <a:sym typeface="Poppins"/>
              </a:rPr>
              <a:t>Đảm bảo các nghiệp vụ cơ bản của một sàn thương mại điện tử </a:t>
            </a:r>
          </a:p>
          <a:p>
            <a:pPr marL="0" lvl="0" indent="0" algn="ctr">
              <a:lnSpc>
                <a:spcPts val="3242"/>
              </a:lnSpc>
              <a:spcBef>
                <a:spcPct val="0"/>
              </a:spcBef>
            </a:pPr>
            <a:endParaRPr lang="en-US" sz="2315" spc="-46">
              <a:solidFill>
                <a:srgbClr val="FDFDFD"/>
              </a:solidFill>
              <a:latin typeface="Poppins"/>
              <a:ea typeface="Poppins"/>
              <a:cs typeface="Poppins"/>
              <a:sym typeface="Poppins"/>
            </a:endParaRPr>
          </a:p>
        </p:txBody>
      </p:sp>
      <p:sp>
        <p:nvSpPr>
          <p:cNvPr id="29" name="TextBox 29"/>
          <p:cNvSpPr txBox="1"/>
          <p:nvPr/>
        </p:nvSpPr>
        <p:spPr>
          <a:xfrm>
            <a:off x="11773056" y="4235639"/>
            <a:ext cx="3697083" cy="3689821"/>
          </a:xfrm>
          <a:prstGeom prst="rect">
            <a:avLst/>
          </a:prstGeom>
        </p:spPr>
        <p:txBody>
          <a:bodyPr lIns="0" tIns="0" rIns="0" bIns="0" rtlCol="0" anchor="t">
            <a:spAutoFit/>
          </a:bodyPr>
          <a:lstStyle/>
          <a:p>
            <a:pPr algn="ctr">
              <a:lnSpc>
                <a:spcPts val="3242"/>
              </a:lnSpc>
            </a:pPr>
            <a:r>
              <a:rPr lang="en-US" sz="2315" spc="-46">
                <a:solidFill>
                  <a:srgbClr val="FDFDFD"/>
                </a:solidFill>
                <a:latin typeface="Poppins"/>
                <a:ea typeface="Poppins"/>
                <a:cs typeface="Poppins"/>
                <a:sym typeface="Poppins"/>
              </a:rPr>
              <a:t> Triển khai mô hình microservice, bao gồm việc phân tải, mở rộng thu nhỏ service tự động. </a:t>
            </a:r>
          </a:p>
          <a:p>
            <a:pPr algn="ctr">
              <a:lnSpc>
                <a:spcPts val="3242"/>
              </a:lnSpc>
            </a:pPr>
            <a:r>
              <a:rPr lang="en-US" sz="2315" spc="-46">
                <a:solidFill>
                  <a:srgbClr val="FDFDFD"/>
                </a:solidFill>
                <a:latin typeface="Poppins"/>
                <a:ea typeface="Poppins"/>
                <a:cs typeface="Poppins"/>
                <a:sym typeface="Poppins"/>
              </a:rPr>
              <a:t>Sử dụng kỹ thuật redis, background job và cron job để tối ưu hóa truy vấn dữ liệu với MySQL.</a:t>
            </a:r>
          </a:p>
          <a:p>
            <a:pPr marL="0" lvl="0" indent="0" algn="ctr">
              <a:lnSpc>
                <a:spcPts val="3242"/>
              </a:lnSpc>
              <a:spcBef>
                <a:spcPct val="0"/>
              </a:spcBef>
            </a:pPr>
            <a:endParaRPr lang="en-US" sz="2315" spc="-46">
              <a:solidFill>
                <a:srgbClr val="FDFDFD"/>
              </a:solidFill>
              <a:latin typeface="Poppins"/>
              <a:ea typeface="Poppins"/>
              <a:cs typeface="Poppins"/>
              <a:sym typeface="Poppi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646718" y="1013951"/>
            <a:ext cx="7922504" cy="771523"/>
          </a:xfrm>
          <a:prstGeom prst="rect">
            <a:avLst/>
          </a:prstGeom>
        </p:spPr>
        <p:txBody>
          <a:bodyPr lIns="0" tIns="0" rIns="0" bIns="0" rtlCol="0" anchor="t">
            <a:spAutoFit/>
          </a:bodyPr>
          <a:lstStyle/>
          <a:p>
            <a:pPr marL="0" lvl="0" indent="0" algn="l">
              <a:lnSpc>
                <a:spcPts val="6300"/>
              </a:lnSpc>
              <a:spcBef>
                <a:spcPct val="0"/>
              </a:spcBef>
            </a:pPr>
            <a:r>
              <a:rPr lang="en-US" sz="4500" b="1">
                <a:solidFill>
                  <a:srgbClr val="051D40"/>
                </a:solidFill>
                <a:latin typeface="Montserrat Bold"/>
                <a:ea typeface="Montserrat Bold"/>
                <a:cs typeface="Montserrat Bold"/>
                <a:sym typeface="Montserrat Bold"/>
              </a:rPr>
              <a:t>Hạn chế</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966307" y="300249"/>
            <a:ext cx="8027935" cy="9598729"/>
            <a:chOff x="0" y="0"/>
            <a:chExt cx="8603361" cy="10286746"/>
          </a:xfrm>
        </p:grpSpPr>
        <p:sp>
          <p:nvSpPr>
            <p:cNvPr id="10" name="Freeform 10"/>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l="-28002" r="-51461"/>
              </a:stretch>
            </a:blipFill>
          </p:spPr>
          <p:txBody>
            <a:bodyPr/>
            <a:lstStyle/>
            <a:p>
              <a:endParaRPr lang="en-US"/>
            </a:p>
          </p:txBody>
        </p:sp>
      </p:grpSp>
      <p:grpSp>
        <p:nvGrpSpPr>
          <p:cNvPr id="11" name="Group 11"/>
          <p:cNvGrpSpPr/>
          <p:nvPr/>
        </p:nvGrpSpPr>
        <p:grpSpPr>
          <a:xfrm>
            <a:off x="14700679" y="7074186"/>
            <a:ext cx="5946973" cy="59469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527730" y="8071003"/>
            <a:ext cx="15838729" cy="988145"/>
          </a:xfrm>
          <a:custGeom>
            <a:avLst/>
            <a:gdLst/>
            <a:ahLst/>
            <a:cxnLst/>
            <a:rect l="l" t="t" r="r" b="b"/>
            <a:pathLst>
              <a:path w="15838729" h="988145">
                <a:moveTo>
                  <a:pt x="0" y="0"/>
                </a:moveTo>
                <a:lnTo>
                  <a:pt x="15838729" y="0"/>
                </a:lnTo>
                <a:lnTo>
                  <a:pt x="15838729" y="988146"/>
                </a:lnTo>
                <a:lnTo>
                  <a:pt x="0" y="988146"/>
                </a:lnTo>
                <a:lnTo>
                  <a:pt x="0" y="0"/>
                </a:lnTo>
                <a:close/>
              </a:path>
            </a:pathLst>
          </a:custGeom>
          <a:blipFill>
            <a:blip r:embed="rId3"/>
            <a:stretch>
              <a:fillRect t="-216567"/>
            </a:stretch>
          </a:blipFill>
        </p:spPr>
        <p:txBody>
          <a:bodyPr/>
          <a:lstStyle/>
          <a:p>
            <a:endParaRPr lang="en-US"/>
          </a:p>
        </p:txBody>
      </p:sp>
      <p:grpSp>
        <p:nvGrpSpPr>
          <p:cNvPr id="15" name="Group 15"/>
          <p:cNvGrpSpPr/>
          <p:nvPr/>
        </p:nvGrpSpPr>
        <p:grpSpPr>
          <a:xfrm>
            <a:off x="548507" y="3532196"/>
            <a:ext cx="15817952" cy="4582253"/>
            <a:chOff x="0" y="0"/>
            <a:chExt cx="2999100" cy="868800"/>
          </a:xfrm>
        </p:grpSpPr>
        <p:sp>
          <p:nvSpPr>
            <p:cNvPr id="16" name="Freeform 16"/>
            <p:cNvSpPr/>
            <p:nvPr/>
          </p:nvSpPr>
          <p:spPr>
            <a:xfrm>
              <a:off x="0" y="0"/>
              <a:ext cx="2999100" cy="868800"/>
            </a:xfrm>
            <a:custGeom>
              <a:avLst/>
              <a:gdLst/>
              <a:ahLst/>
              <a:cxnLst/>
              <a:rect l="l" t="t" r="r" b="b"/>
              <a:pathLst>
                <a:path w="2999100" h="868800">
                  <a:moveTo>
                    <a:pt x="6852" y="0"/>
                  </a:moveTo>
                  <a:lnTo>
                    <a:pt x="2992248" y="0"/>
                  </a:lnTo>
                  <a:cubicBezTo>
                    <a:pt x="2996032" y="0"/>
                    <a:pt x="2999100" y="3068"/>
                    <a:pt x="2999100" y="6852"/>
                  </a:cubicBezTo>
                  <a:lnTo>
                    <a:pt x="2999100" y="861948"/>
                  </a:lnTo>
                  <a:cubicBezTo>
                    <a:pt x="2999100" y="865732"/>
                    <a:pt x="2996032" y="868800"/>
                    <a:pt x="2992248" y="868800"/>
                  </a:cubicBezTo>
                  <a:lnTo>
                    <a:pt x="6852" y="868800"/>
                  </a:lnTo>
                  <a:cubicBezTo>
                    <a:pt x="3068" y="868800"/>
                    <a:pt x="0" y="865732"/>
                    <a:pt x="0" y="861948"/>
                  </a:cubicBezTo>
                  <a:lnTo>
                    <a:pt x="0" y="6852"/>
                  </a:lnTo>
                  <a:cubicBezTo>
                    <a:pt x="0" y="3068"/>
                    <a:pt x="3068" y="0"/>
                    <a:pt x="6852" y="0"/>
                  </a:cubicBezTo>
                  <a:close/>
                </a:path>
              </a:pathLst>
            </a:custGeom>
            <a:solidFill>
              <a:srgbClr val="00569E"/>
            </a:solidFill>
          </p:spPr>
          <p:txBody>
            <a:bodyPr/>
            <a:lstStyle/>
            <a:p>
              <a:endParaRPr lang="en-US"/>
            </a:p>
          </p:txBody>
        </p:sp>
        <p:sp>
          <p:nvSpPr>
            <p:cNvPr id="17" name="TextBox 17"/>
            <p:cNvSpPr txBox="1"/>
            <p:nvPr/>
          </p:nvSpPr>
          <p:spPr>
            <a:xfrm>
              <a:off x="0" y="-38100"/>
              <a:ext cx="2999100" cy="9069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446505" y="3075865"/>
            <a:ext cx="3850816" cy="952301"/>
            <a:chOff x="0" y="0"/>
            <a:chExt cx="1013291" cy="250585"/>
          </a:xfrm>
        </p:grpSpPr>
        <p:sp>
          <p:nvSpPr>
            <p:cNvPr id="19" name="Freeform 19"/>
            <p:cNvSpPr/>
            <p:nvPr/>
          </p:nvSpPr>
          <p:spPr>
            <a:xfrm>
              <a:off x="0" y="0"/>
              <a:ext cx="1013291" cy="250585"/>
            </a:xfrm>
            <a:custGeom>
              <a:avLst/>
              <a:gdLst/>
              <a:ahLst/>
              <a:cxnLst/>
              <a:rect l="l" t="t" r="r" b="b"/>
              <a:pathLst>
                <a:path w="1013291" h="250585">
                  <a:moveTo>
                    <a:pt x="92481" y="0"/>
                  </a:moveTo>
                  <a:lnTo>
                    <a:pt x="920810" y="0"/>
                  </a:lnTo>
                  <a:cubicBezTo>
                    <a:pt x="945337" y="0"/>
                    <a:pt x="968860" y="9744"/>
                    <a:pt x="986204" y="27087"/>
                  </a:cubicBezTo>
                  <a:cubicBezTo>
                    <a:pt x="1003548" y="44431"/>
                    <a:pt x="1013291" y="67954"/>
                    <a:pt x="1013291" y="92481"/>
                  </a:cubicBezTo>
                  <a:lnTo>
                    <a:pt x="1013291" y="158104"/>
                  </a:lnTo>
                  <a:cubicBezTo>
                    <a:pt x="1013291" y="209180"/>
                    <a:pt x="971886" y="250585"/>
                    <a:pt x="920810" y="250585"/>
                  </a:cubicBezTo>
                  <a:lnTo>
                    <a:pt x="92481" y="250585"/>
                  </a:lnTo>
                  <a:cubicBezTo>
                    <a:pt x="41405" y="250585"/>
                    <a:pt x="0" y="209180"/>
                    <a:pt x="0" y="158104"/>
                  </a:cubicBezTo>
                  <a:lnTo>
                    <a:pt x="0" y="92481"/>
                  </a:lnTo>
                  <a:cubicBezTo>
                    <a:pt x="0" y="41405"/>
                    <a:pt x="41405" y="0"/>
                    <a:pt x="92481"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0" name="TextBox 20"/>
            <p:cNvSpPr txBox="1"/>
            <p:nvPr/>
          </p:nvSpPr>
          <p:spPr>
            <a:xfrm>
              <a:off x="0" y="-66675"/>
              <a:ext cx="1013291" cy="317260"/>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Poppins Bold"/>
                  <a:ea typeface="Poppins Bold"/>
                  <a:cs typeface="Poppins Bold"/>
                  <a:sym typeface="Poppins Bold"/>
                </a:rPr>
                <a:t>Chức năng</a:t>
              </a:r>
            </a:p>
          </p:txBody>
        </p:sp>
      </p:grpSp>
      <p:grpSp>
        <p:nvGrpSpPr>
          <p:cNvPr id="21" name="Group 21"/>
          <p:cNvGrpSpPr/>
          <p:nvPr/>
        </p:nvGrpSpPr>
        <p:grpSpPr>
          <a:xfrm>
            <a:off x="6526180" y="3075865"/>
            <a:ext cx="3850816" cy="952301"/>
            <a:chOff x="0" y="0"/>
            <a:chExt cx="1013291" cy="250585"/>
          </a:xfrm>
        </p:grpSpPr>
        <p:sp>
          <p:nvSpPr>
            <p:cNvPr id="22" name="Freeform 22"/>
            <p:cNvSpPr/>
            <p:nvPr/>
          </p:nvSpPr>
          <p:spPr>
            <a:xfrm>
              <a:off x="0" y="0"/>
              <a:ext cx="1013291" cy="250585"/>
            </a:xfrm>
            <a:custGeom>
              <a:avLst/>
              <a:gdLst/>
              <a:ahLst/>
              <a:cxnLst/>
              <a:rect l="l" t="t" r="r" b="b"/>
              <a:pathLst>
                <a:path w="1013291" h="250585">
                  <a:moveTo>
                    <a:pt x="92481" y="0"/>
                  </a:moveTo>
                  <a:lnTo>
                    <a:pt x="920810" y="0"/>
                  </a:lnTo>
                  <a:cubicBezTo>
                    <a:pt x="945337" y="0"/>
                    <a:pt x="968860" y="9744"/>
                    <a:pt x="986204" y="27087"/>
                  </a:cubicBezTo>
                  <a:cubicBezTo>
                    <a:pt x="1003548" y="44431"/>
                    <a:pt x="1013291" y="67954"/>
                    <a:pt x="1013291" y="92481"/>
                  </a:cubicBezTo>
                  <a:lnTo>
                    <a:pt x="1013291" y="158104"/>
                  </a:lnTo>
                  <a:cubicBezTo>
                    <a:pt x="1013291" y="209180"/>
                    <a:pt x="971886" y="250585"/>
                    <a:pt x="920810" y="250585"/>
                  </a:cubicBezTo>
                  <a:lnTo>
                    <a:pt x="92481" y="250585"/>
                  </a:lnTo>
                  <a:cubicBezTo>
                    <a:pt x="41405" y="250585"/>
                    <a:pt x="0" y="209180"/>
                    <a:pt x="0" y="158104"/>
                  </a:cubicBezTo>
                  <a:lnTo>
                    <a:pt x="0" y="92481"/>
                  </a:lnTo>
                  <a:cubicBezTo>
                    <a:pt x="0" y="41405"/>
                    <a:pt x="41405" y="0"/>
                    <a:pt x="92481"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3" name="TextBox 23"/>
            <p:cNvSpPr txBox="1"/>
            <p:nvPr/>
          </p:nvSpPr>
          <p:spPr>
            <a:xfrm>
              <a:off x="0" y="-66675"/>
              <a:ext cx="1013291" cy="317260"/>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Poppins Bold"/>
                  <a:ea typeface="Poppins Bold"/>
                  <a:cs typeface="Poppins Bold"/>
                  <a:sym typeface="Poppins Bold"/>
                </a:rPr>
                <a:t>Kiến thức</a:t>
              </a:r>
            </a:p>
          </p:txBody>
        </p:sp>
      </p:grpSp>
      <p:grpSp>
        <p:nvGrpSpPr>
          <p:cNvPr id="24" name="Group 24"/>
          <p:cNvGrpSpPr/>
          <p:nvPr/>
        </p:nvGrpSpPr>
        <p:grpSpPr>
          <a:xfrm>
            <a:off x="11777129" y="3075865"/>
            <a:ext cx="3709115" cy="952301"/>
            <a:chOff x="0" y="0"/>
            <a:chExt cx="976004" cy="250585"/>
          </a:xfrm>
        </p:grpSpPr>
        <p:sp>
          <p:nvSpPr>
            <p:cNvPr id="25" name="Freeform 25"/>
            <p:cNvSpPr/>
            <p:nvPr/>
          </p:nvSpPr>
          <p:spPr>
            <a:xfrm>
              <a:off x="0" y="0"/>
              <a:ext cx="976004" cy="250585"/>
            </a:xfrm>
            <a:custGeom>
              <a:avLst/>
              <a:gdLst/>
              <a:ahLst/>
              <a:cxnLst/>
              <a:rect l="l" t="t" r="r" b="b"/>
              <a:pathLst>
                <a:path w="976004" h="250585">
                  <a:moveTo>
                    <a:pt x="96014" y="0"/>
                  </a:moveTo>
                  <a:lnTo>
                    <a:pt x="879990" y="0"/>
                  </a:lnTo>
                  <a:cubicBezTo>
                    <a:pt x="905455" y="0"/>
                    <a:pt x="929876" y="10116"/>
                    <a:pt x="947882" y="28122"/>
                  </a:cubicBezTo>
                  <a:cubicBezTo>
                    <a:pt x="965889" y="46128"/>
                    <a:pt x="976004" y="70550"/>
                    <a:pt x="976004" y="96014"/>
                  </a:cubicBezTo>
                  <a:lnTo>
                    <a:pt x="976004" y="154571"/>
                  </a:lnTo>
                  <a:cubicBezTo>
                    <a:pt x="976004" y="207598"/>
                    <a:pt x="933017" y="250585"/>
                    <a:pt x="879990" y="250585"/>
                  </a:cubicBezTo>
                  <a:lnTo>
                    <a:pt x="96014" y="250585"/>
                  </a:lnTo>
                  <a:cubicBezTo>
                    <a:pt x="42987" y="250585"/>
                    <a:pt x="0" y="207598"/>
                    <a:pt x="0" y="154571"/>
                  </a:cubicBezTo>
                  <a:lnTo>
                    <a:pt x="0" y="96014"/>
                  </a:lnTo>
                  <a:cubicBezTo>
                    <a:pt x="0" y="42987"/>
                    <a:pt x="42987" y="0"/>
                    <a:pt x="96014"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6" name="TextBox 26"/>
            <p:cNvSpPr txBox="1"/>
            <p:nvPr/>
          </p:nvSpPr>
          <p:spPr>
            <a:xfrm>
              <a:off x="0" y="-66675"/>
              <a:ext cx="976004" cy="317260"/>
            </a:xfrm>
            <a:prstGeom prst="rect">
              <a:avLst/>
            </a:prstGeom>
          </p:spPr>
          <p:txBody>
            <a:bodyPr lIns="0" tIns="0" rIns="0" bIns="0" rtlCol="0" anchor="ctr"/>
            <a:lstStyle/>
            <a:p>
              <a:pPr marL="0" lvl="0" indent="0" algn="ctr">
                <a:lnSpc>
                  <a:spcPts val="3480"/>
                </a:lnSpc>
                <a:spcBef>
                  <a:spcPct val="0"/>
                </a:spcBef>
              </a:pPr>
              <a:r>
                <a:rPr lang="en-US" sz="2486" b="1">
                  <a:solidFill>
                    <a:srgbClr val="FFFFFF"/>
                  </a:solidFill>
                  <a:latin typeface="Poppins Bold"/>
                  <a:ea typeface="Poppins Bold"/>
                  <a:cs typeface="Poppins Bold"/>
                  <a:sym typeface="Poppins Bold"/>
                </a:rPr>
                <a:t>Triển khai</a:t>
              </a:r>
            </a:p>
          </p:txBody>
        </p:sp>
      </p:grpSp>
      <p:sp>
        <p:nvSpPr>
          <p:cNvPr id="27" name="TextBox 27"/>
          <p:cNvSpPr txBox="1"/>
          <p:nvPr/>
        </p:nvSpPr>
        <p:spPr>
          <a:xfrm>
            <a:off x="1523371" y="4565086"/>
            <a:ext cx="3697083" cy="2459323"/>
          </a:xfrm>
          <a:prstGeom prst="rect">
            <a:avLst/>
          </a:prstGeom>
        </p:spPr>
        <p:txBody>
          <a:bodyPr lIns="0" tIns="0" rIns="0" bIns="0" rtlCol="0" anchor="t">
            <a:spAutoFit/>
          </a:bodyPr>
          <a:lstStyle/>
          <a:p>
            <a:pPr algn="ctr">
              <a:lnSpc>
                <a:spcPts val="3242"/>
              </a:lnSpc>
              <a:spcBef>
                <a:spcPct val="0"/>
              </a:spcBef>
            </a:pPr>
            <a:r>
              <a:rPr lang="en-US" sz="2315" spc="-46">
                <a:solidFill>
                  <a:srgbClr val="FDFDFD"/>
                </a:solidFill>
                <a:latin typeface="Poppins"/>
                <a:ea typeface="Poppins"/>
                <a:cs typeface="Poppins"/>
                <a:sym typeface="Poppins"/>
              </a:rPr>
              <a:t>Chưa tối ưu được các yêu cầu dành cho doanh nghiệp cũng như về các tiêu chí để đáp ứng những nghiệp vụ chuyên sâu.</a:t>
            </a:r>
          </a:p>
        </p:txBody>
      </p:sp>
      <p:sp>
        <p:nvSpPr>
          <p:cNvPr id="28" name="TextBox 28"/>
          <p:cNvSpPr txBox="1"/>
          <p:nvPr/>
        </p:nvSpPr>
        <p:spPr>
          <a:xfrm>
            <a:off x="11696674" y="4824167"/>
            <a:ext cx="3697083" cy="2459323"/>
          </a:xfrm>
          <a:prstGeom prst="rect">
            <a:avLst/>
          </a:prstGeom>
        </p:spPr>
        <p:txBody>
          <a:bodyPr lIns="0" tIns="0" rIns="0" bIns="0" rtlCol="0" anchor="t">
            <a:spAutoFit/>
          </a:bodyPr>
          <a:lstStyle/>
          <a:p>
            <a:pPr algn="ctr">
              <a:lnSpc>
                <a:spcPts val="3242"/>
              </a:lnSpc>
            </a:pPr>
            <a:r>
              <a:rPr lang="en-US" sz="2315" spc="-46">
                <a:solidFill>
                  <a:srgbClr val="FDFDFD"/>
                </a:solidFill>
                <a:latin typeface="Poppins"/>
                <a:ea typeface="Poppins"/>
                <a:cs typeface="Poppins"/>
                <a:sym typeface="Poppins"/>
              </a:rPr>
              <a:t>Khó khăn trong việc phân chia các dịch vụ, quản lý giao tiếp giữa chúng và đảm bảo tính nhất quán của dữ liệu </a:t>
            </a:r>
          </a:p>
          <a:p>
            <a:pPr marL="0" lvl="0" indent="0" algn="ctr">
              <a:lnSpc>
                <a:spcPts val="3242"/>
              </a:lnSpc>
              <a:spcBef>
                <a:spcPct val="0"/>
              </a:spcBef>
            </a:pPr>
            <a:endParaRPr lang="en-US" sz="2315" spc="-46">
              <a:solidFill>
                <a:srgbClr val="FDFDFD"/>
              </a:solidFill>
              <a:latin typeface="Poppins"/>
              <a:ea typeface="Poppins"/>
              <a:cs typeface="Poppins"/>
              <a:sym typeface="Poppins"/>
            </a:endParaRPr>
          </a:p>
        </p:txBody>
      </p:sp>
      <p:sp>
        <p:nvSpPr>
          <p:cNvPr id="29" name="TextBox 29"/>
          <p:cNvSpPr txBox="1"/>
          <p:nvPr/>
        </p:nvSpPr>
        <p:spPr>
          <a:xfrm>
            <a:off x="6608941" y="4824167"/>
            <a:ext cx="3697083" cy="2048899"/>
          </a:xfrm>
          <a:prstGeom prst="rect">
            <a:avLst/>
          </a:prstGeom>
        </p:spPr>
        <p:txBody>
          <a:bodyPr lIns="0" tIns="0" rIns="0" bIns="0" rtlCol="0" anchor="t">
            <a:spAutoFit/>
          </a:bodyPr>
          <a:lstStyle/>
          <a:p>
            <a:pPr marL="0" lvl="0" indent="0" algn="ctr">
              <a:lnSpc>
                <a:spcPts val="3242"/>
              </a:lnSpc>
              <a:spcBef>
                <a:spcPct val="0"/>
              </a:spcBef>
            </a:pPr>
            <a:r>
              <a:rPr lang="en-US" sz="2315" spc="-46">
                <a:solidFill>
                  <a:srgbClr val="FDFDFD"/>
                </a:solidFill>
                <a:latin typeface="Poppins"/>
                <a:ea typeface="Poppins"/>
                <a:cs typeface="Poppins"/>
                <a:sym typeface="Poppins"/>
              </a:rPr>
              <a:t>Nhiều công nghệ mới và nhiều mô hình mới là một rào cản lớn trong việc tìm hiểu, áp dụng và khai thác công nghệ</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3061529" y="2937389"/>
            <a:ext cx="12164941" cy="4412223"/>
            <a:chOff x="0" y="0"/>
            <a:chExt cx="3203935" cy="1162067"/>
          </a:xfrm>
        </p:grpSpPr>
        <p:sp>
          <p:nvSpPr>
            <p:cNvPr id="6" name="Freeform 6"/>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txBody>
            <a:bodyPr/>
            <a:lstStyle/>
            <a:p>
              <a:endParaRPr lang="en-US"/>
            </a:p>
          </p:txBody>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332775" y="4395586"/>
            <a:ext cx="11622449" cy="1343429"/>
          </a:xfrm>
          <a:prstGeom prst="rect">
            <a:avLst/>
          </a:prstGeom>
        </p:spPr>
        <p:txBody>
          <a:bodyPr lIns="0" tIns="0" rIns="0" bIns="0" rtlCol="0" anchor="t">
            <a:spAutoFit/>
          </a:bodyPr>
          <a:lstStyle/>
          <a:p>
            <a:pPr marL="0" lvl="0" indent="0" algn="ctr">
              <a:lnSpc>
                <a:spcPts val="11002"/>
              </a:lnSpc>
              <a:spcBef>
                <a:spcPct val="0"/>
              </a:spcBef>
            </a:pPr>
            <a:r>
              <a:rPr lang="en-US" sz="7859">
                <a:solidFill>
                  <a:srgbClr val="FFFFFF"/>
                </a:solidFill>
                <a:latin typeface="Open Sans Extra Bold"/>
                <a:ea typeface="Open Sans Extra Bold"/>
                <a:cs typeface="Open Sans Extra Bold"/>
                <a:sym typeface="Open Sans Extra Bold"/>
              </a:rPr>
              <a:t>HƯỚNG PHÁT TRIỂN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757570" y="2299670"/>
            <a:ext cx="8280793" cy="1571326"/>
          </a:xfrm>
          <a:prstGeom prst="rect">
            <a:avLst/>
          </a:prstGeom>
        </p:spPr>
        <p:txBody>
          <a:bodyPr lIns="0" tIns="0" rIns="0" bIns="0" rtlCol="0" anchor="t">
            <a:spAutoFit/>
          </a:bodyPr>
          <a:lstStyle/>
          <a:p>
            <a:pPr marL="0" lvl="0" indent="0" algn="l">
              <a:lnSpc>
                <a:spcPts val="6300"/>
              </a:lnSpc>
              <a:spcBef>
                <a:spcPct val="0"/>
              </a:spcBef>
            </a:pPr>
            <a:r>
              <a:rPr lang="en-US" sz="4500">
                <a:solidFill>
                  <a:srgbClr val="051D40"/>
                </a:solidFill>
                <a:latin typeface="Open Sans Extra Bold"/>
                <a:ea typeface="Open Sans Extra Bold"/>
                <a:cs typeface="Open Sans Extra Bold"/>
                <a:sym typeface="Open Sans Extra Bold"/>
              </a:rPr>
              <a:t>Áp dụng AI và Machine Learning</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563459" y="4125528"/>
            <a:ext cx="9006427" cy="2845283"/>
          </a:xfrm>
          <a:prstGeom prst="rect">
            <a:avLst/>
          </a:prstGeom>
        </p:spPr>
        <p:txBody>
          <a:bodyPr lIns="0" tIns="0" rIns="0" bIns="0" rtlCol="0" anchor="t">
            <a:spAutoFit/>
          </a:bodyPr>
          <a:lstStyle/>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Phân tích đánh giá của người dùng, cải thiện dịch vụ</a:t>
            </a:r>
          </a:p>
          <a:p>
            <a:pPr algn="l">
              <a:lnSpc>
                <a:spcPts val="3823"/>
              </a:lnSpc>
            </a:pPr>
            <a:endParaRPr lang="en-US" sz="2730" spc="-54">
              <a:solidFill>
                <a:srgbClr val="051D40"/>
              </a:solidFill>
              <a:latin typeface="Montserrat"/>
              <a:ea typeface="Montserrat"/>
              <a:cs typeface="Montserrat"/>
              <a:sym typeface="Montserrat"/>
            </a:endParaRPr>
          </a:p>
          <a:p>
            <a:pPr marL="589616" lvl="1" indent="-294808" algn="l">
              <a:lnSpc>
                <a:spcPts val="3823"/>
              </a:lnSpc>
              <a:buFont typeface="Arial"/>
              <a:buChar char="•"/>
            </a:pPr>
            <a:r>
              <a:rPr lang="en-US" sz="2730" spc="-54">
                <a:solidFill>
                  <a:srgbClr val="051D40"/>
                </a:solidFill>
                <a:latin typeface="Montserrat"/>
                <a:ea typeface="Montserrat"/>
                <a:cs typeface="Montserrat"/>
                <a:sym typeface="Montserrat"/>
              </a:rPr>
              <a:t>Vector Database =&gt; đề xuất sản phẩm phù hợp với nhu cầu của người dùng.</a:t>
            </a:r>
          </a:p>
          <a:p>
            <a:pPr marL="0" lvl="0" indent="0" algn="l">
              <a:lnSpc>
                <a:spcPts val="3823"/>
              </a:lnSpc>
              <a:spcBef>
                <a:spcPct val="0"/>
              </a:spcBef>
            </a:pPr>
            <a:endParaRPr lang="en-US" sz="2730" spc="-54">
              <a:solidFill>
                <a:srgbClr val="051D40"/>
              </a:solidFill>
              <a:latin typeface="Montserrat"/>
              <a:ea typeface="Montserrat"/>
              <a:cs typeface="Montserrat"/>
              <a:sym typeface="Montserrat"/>
            </a:endParaRPr>
          </a:p>
        </p:txBody>
      </p:sp>
      <p:grpSp>
        <p:nvGrpSpPr>
          <p:cNvPr id="10" name="Group 10"/>
          <p:cNvGrpSpPr/>
          <p:nvPr/>
        </p:nvGrpSpPr>
        <p:grpSpPr>
          <a:xfrm>
            <a:off x="9966307" y="300249"/>
            <a:ext cx="8027935" cy="9598729"/>
            <a:chOff x="0" y="0"/>
            <a:chExt cx="8603361" cy="10286746"/>
          </a:xfrm>
        </p:grpSpPr>
        <p:sp>
          <p:nvSpPr>
            <p:cNvPr id="11" name="Freeform 11"/>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l="-93201" r="-8174"/>
              </a:stretch>
            </a:blipFill>
          </p:spPr>
          <p:txBody>
            <a:bodyPr/>
            <a:lstStyle/>
            <a:p>
              <a:endParaRPr lang="en-US"/>
            </a:p>
          </p:txBody>
        </p:sp>
      </p:gr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609132" y="2448480"/>
            <a:ext cx="9513968" cy="1571326"/>
          </a:xfrm>
          <a:prstGeom prst="rect">
            <a:avLst/>
          </a:prstGeom>
        </p:spPr>
        <p:txBody>
          <a:bodyPr lIns="0" tIns="0" rIns="0" bIns="0" rtlCol="0" anchor="t">
            <a:spAutoFit/>
          </a:bodyPr>
          <a:lstStyle/>
          <a:p>
            <a:pPr marL="0" lvl="0" indent="0" algn="l">
              <a:lnSpc>
                <a:spcPts val="6300"/>
              </a:lnSpc>
              <a:spcBef>
                <a:spcPct val="0"/>
              </a:spcBef>
            </a:pPr>
            <a:r>
              <a:rPr lang="en-US" sz="4500">
                <a:solidFill>
                  <a:srgbClr val="051D40"/>
                </a:solidFill>
                <a:latin typeface="Open Sans Extra Bold"/>
                <a:ea typeface="Open Sans Extra Bold"/>
                <a:cs typeface="Open Sans Extra Bold"/>
                <a:sym typeface="Open Sans Extra Bold"/>
              </a:rPr>
              <a:t>Phát triển ứng dụng đa nền tảng</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132" y="4714758"/>
            <a:ext cx="7716160" cy="1892783"/>
          </a:xfrm>
          <a:prstGeom prst="rect">
            <a:avLst/>
          </a:prstGeom>
        </p:spPr>
        <p:txBody>
          <a:bodyPr lIns="0" tIns="0" rIns="0" bIns="0" rtlCol="0" anchor="t">
            <a:spAutoFit/>
          </a:bodyPr>
          <a:lstStyle/>
          <a:p>
            <a:pPr algn="l">
              <a:lnSpc>
                <a:spcPts val="3823"/>
              </a:lnSpc>
            </a:pPr>
            <a:r>
              <a:rPr lang="en-US" sz="2730" spc="-54">
                <a:solidFill>
                  <a:srgbClr val="051D40"/>
                </a:solidFill>
                <a:latin typeface="Montserrat"/>
                <a:ea typeface="Montserrat"/>
                <a:cs typeface="Montserrat"/>
                <a:sym typeface="Montserrat"/>
              </a:rPr>
              <a:t>Xây dựng ứng dụng mobile (Android + IOS) cho sàn thương mại điện tử </a:t>
            </a:r>
          </a:p>
          <a:p>
            <a:pPr algn="l">
              <a:lnSpc>
                <a:spcPts val="3823"/>
              </a:lnSpc>
            </a:pPr>
            <a:endParaRPr lang="en-US" sz="2730" spc="-54">
              <a:solidFill>
                <a:srgbClr val="051D40"/>
              </a:solidFill>
              <a:latin typeface="Montserrat"/>
              <a:ea typeface="Montserrat"/>
              <a:cs typeface="Montserrat"/>
              <a:sym typeface="Montserrat"/>
            </a:endParaRPr>
          </a:p>
          <a:p>
            <a:pPr marL="0" lvl="0" indent="0" algn="l">
              <a:lnSpc>
                <a:spcPts val="3823"/>
              </a:lnSpc>
              <a:spcBef>
                <a:spcPct val="0"/>
              </a:spcBef>
            </a:pPr>
            <a:r>
              <a:rPr lang="en-US" sz="2730" spc="-54">
                <a:solidFill>
                  <a:srgbClr val="051D40"/>
                </a:solidFill>
                <a:latin typeface="Montserrat"/>
                <a:ea typeface="Montserrat"/>
                <a:cs typeface="Montserrat"/>
                <a:sym typeface="Montserrat"/>
              </a:rPr>
              <a:t>=&gt; phù hợp với xu hướng hiện tại</a:t>
            </a:r>
          </a:p>
        </p:txBody>
      </p:sp>
      <p:grpSp>
        <p:nvGrpSpPr>
          <p:cNvPr id="10" name="Group 10"/>
          <p:cNvGrpSpPr/>
          <p:nvPr/>
        </p:nvGrpSpPr>
        <p:grpSpPr>
          <a:xfrm>
            <a:off x="9966307" y="300249"/>
            <a:ext cx="8027935" cy="9598729"/>
            <a:chOff x="0" y="0"/>
            <a:chExt cx="8603361" cy="10286746"/>
          </a:xfrm>
        </p:grpSpPr>
        <p:sp>
          <p:nvSpPr>
            <p:cNvPr id="11" name="Freeform 11"/>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l="-93201" r="-8174"/>
              </a:stretch>
            </a:blipFill>
          </p:spPr>
          <p:txBody>
            <a:bodyPr/>
            <a:lstStyle/>
            <a:p>
              <a:endParaRPr lang="en-US"/>
            </a:p>
          </p:txBody>
        </p:sp>
      </p:gr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529204" y="2553840"/>
            <a:ext cx="9513968" cy="771374"/>
          </a:xfrm>
          <a:prstGeom prst="rect">
            <a:avLst/>
          </a:prstGeom>
        </p:spPr>
        <p:txBody>
          <a:bodyPr lIns="0" tIns="0" rIns="0" bIns="0" rtlCol="0" anchor="t">
            <a:spAutoFit/>
          </a:bodyPr>
          <a:lstStyle/>
          <a:p>
            <a:pPr marL="0" lvl="0" indent="0" algn="l">
              <a:lnSpc>
                <a:spcPts val="6300"/>
              </a:lnSpc>
              <a:spcBef>
                <a:spcPct val="0"/>
              </a:spcBef>
            </a:pPr>
            <a:r>
              <a:rPr lang="en-US" sz="4500">
                <a:solidFill>
                  <a:srgbClr val="051D40"/>
                </a:solidFill>
                <a:latin typeface="Open Sans Extra Bold"/>
                <a:ea typeface="Open Sans Extra Bold"/>
                <a:cs typeface="Open Sans Extra Bold"/>
                <a:sym typeface="Open Sans Extra Bold"/>
              </a:rPr>
              <a:t>Phân tích dữ liệu lớn</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529204" y="3737306"/>
            <a:ext cx="8357175" cy="4750283"/>
          </a:xfrm>
          <a:prstGeom prst="rect">
            <a:avLst/>
          </a:prstGeom>
        </p:spPr>
        <p:txBody>
          <a:bodyPr lIns="0" tIns="0" rIns="0" bIns="0" rtlCol="0" anchor="t">
            <a:spAutoFit/>
          </a:bodyPr>
          <a:lstStyle/>
          <a:p>
            <a:pPr algn="l">
              <a:lnSpc>
                <a:spcPts val="3823"/>
              </a:lnSpc>
            </a:pPr>
            <a:r>
              <a:rPr lang="en-US" sz="2730" spc="-54">
                <a:solidFill>
                  <a:srgbClr val="051D40"/>
                </a:solidFill>
                <a:latin typeface="Montserrat"/>
                <a:ea typeface="Montserrat"/>
                <a:cs typeface="Montserrat"/>
                <a:sym typeface="Montserrat"/>
              </a:rPr>
              <a:t>Sử dụng CDC - </a:t>
            </a:r>
            <a:r>
              <a:rPr lang="en-US" sz="2730" b="1" spc="-54">
                <a:solidFill>
                  <a:srgbClr val="051D40"/>
                </a:solidFill>
                <a:latin typeface="Montserrat Bold"/>
                <a:ea typeface="Montserrat Bold"/>
                <a:cs typeface="Montserrat Bold"/>
                <a:sym typeface="Montserrat Bold"/>
              </a:rPr>
              <a:t>C</a:t>
            </a:r>
            <a:r>
              <a:rPr lang="en-US" sz="2730" spc="-54">
                <a:solidFill>
                  <a:srgbClr val="051D40"/>
                </a:solidFill>
                <a:latin typeface="Montserrat"/>
                <a:ea typeface="Montserrat"/>
                <a:cs typeface="Montserrat"/>
                <a:sym typeface="Montserrat"/>
              </a:rPr>
              <a:t>hange </a:t>
            </a:r>
            <a:r>
              <a:rPr lang="en-US" sz="2730" b="1" spc="-54">
                <a:solidFill>
                  <a:srgbClr val="051D40"/>
                </a:solidFill>
                <a:latin typeface="Montserrat Bold"/>
                <a:ea typeface="Montserrat Bold"/>
                <a:cs typeface="Montserrat Bold"/>
                <a:sym typeface="Montserrat Bold"/>
              </a:rPr>
              <a:t>D</a:t>
            </a:r>
            <a:r>
              <a:rPr lang="en-US" sz="2730" spc="-54">
                <a:solidFill>
                  <a:srgbClr val="051D40"/>
                </a:solidFill>
                <a:latin typeface="Montserrat"/>
                <a:ea typeface="Montserrat"/>
                <a:cs typeface="Montserrat"/>
                <a:sym typeface="Montserrat"/>
              </a:rPr>
              <a:t>ata </a:t>
            </a:r>
            <a:r>
              <a:rPr lang="en-US" sz="2730" b="1" spc="-54">
                <a:solidFill>
                  <a:srgbClr val="051D40"/>
                </a:solidFill>
                <a:latin typeface="Montserrat Bold"/>
                <a:ea typeface="Montserrat Bold"/>
                <a:cs typeface="Montserrat Bold"/>
                <a:sym typeface="Montserrat Bold"/>
              </a:rPr>
              <a:t>C</a:t>
            </a:r>
            <a:r>
              <a:rPr lang="en-US" sz="2730" spc="-54">
                <a:solidFill>
                  <a:srgbClr val="051D40"/>
                </a:solidFill>
                <a:latin typeface="Montserrat"/>
                <a:ea typeface="Montserrat"/>
                <a:cs typeface="Montserrat"/>
                <a:sym typeface="Montserrat"/>
              </a:rPr>
              <a:t>apture để ghi nhận sự thay đổi dữ liệu trong thời gian thực</a:t>
            </a:r>
          </a:p>
          <a:p>
            <a:pPr algn="l">
              <a:lnSpc>
                <a:spcPts val="3823"/>
              </a:lnSpc>
            </a:pPr>
            <a:endParaRPr lang="en-US" sz="2730" spc="-54">
              <a:solidFill>
                <a:srgbClr val="051D40"/>
              </a:solidFill>
              <a:latin typeface="Montserrat"/>
              <a:ea typeface="Montserrat"/>
              <a:cs typeface="Montserrat"/>
              <a:sym typeface="Montserrat"/>
            </a:endParaRPr>
          </a:p>
          <a:p>
            <a:pPr algn="l">
              <a:lnSpc>
                <a:spcPts val="3823"/>
              </a:lnSpc>
            </a:pPr>
            <a:r>
              <a:rPr lang="en-US" sz="2730" spc="-54">
                <a:solidFill>
                  <a:srgbClr val="051D40"/>
                </a:solidFill>
                <a:latin typeface="Montserrat"/>
                <a:ea typeface="Montserrat"/>
                <a:cs typeface="Montserrat"/>
                <a:sym typeface="Montserrat"/>
              </a:rPr>
              <a:t>=</a:t>
            </a:r>
            <a:r>
              <a:rPr lang="en-US" sz="2730" b="1" spc="-54">
                <a:solidFill>
                  <a:srgbClr val="051D40"/>
                </a:solidFill>
                <a:latin typeface="Montserrat Bold"/>
                <a:ea typeface="Montserrat Bold"/>
                <a:cs typeface="Montserrat Bold"/>
                <a:sym typeface="Montserrat Bold"/>
              </a:rPr>
              <a:t>&gt;</a:t>
            </a:r>
            <a:r>
              <a:rPr lang="en-US" sz="2730" spc="-54">
                <a:solidFill>
                  <a:srgbClr val="051D40"/>
                </a:solidFill>
                <a:latin typeface="Montserrat"/>
                <a:ea typeface="Montserrat"/>
                <a:cs typeface="Montserrat"/>
                <a:sym typeface="Montserrat"/>
              </a:rPr>
              <a:t> Hỗ trợ phân tích báo cáo bán hàng, </a:t>
            </a:r>
          </a:p>
          <a:p>
            <a:pPr algn="l">
              <a:lnSpc>
                <a:spcPts val="3823"/>
              </a:lnSpc>
            </a:pPr>
            <a:endParaRPr lang="en-US" sz="2730" spc="-54">
              <a:solidFill>
                <a:srgbClr val="051D40"/>
              </a:solidFill>
              <a:latin typeface="Montserrat"/>
              <a:ea typeface="Montserrat"/>
              <a:cs typeface="Montserrat"/>
              <a:sym typeface="Montserrat"/>
            </a:endParaRPr>
          </a:p>
          <a:p>
            <a:pPr algn="l">
              <a:lnSpc>
                <a:spcPts val="3823"/>
              </a:lnSpc>
            </a:pPr>
            <a:r>
              <a:rPr lang="en-US" sz="2730" spc="-54">
                <a:solidFill>
                  <a:srgbClr val="051D40"/>
                </a:solidFill>
                <a:latin typeface="Montserrat"/>
                <a:ea typeface="Montserrat"/>
                <a:cs typeface="Montserrat"/>
                <a:sym typeface="Montserrat"/>
              </a:rPr>
              <a:t>=</a:t>
            </a:r>
            <a:r>
              <a:rPr lang="en-US" sz="2730" b="1" spc="-54">
                <a:solidFill>
                  <a:srgbClr val="051D40"/>
                </a:solidFill>
                <a:latin typeface="Montserrat Bold"/>
                <a:ea typeface="Montserrat Bold"/>
                <a:cs typeface="Montserrat Bold"/>
                <a:sym typeface="Montserrat Bold"/>
              </a:rPr>
              <a:t>&gt;</a:t>
            </a:r>
            <a:r>
              <a:rPr lang="en-US" sz="2730" spc="-54">
                <a:solidFill>
                  <a:srgbClr val="051D40"/>
                </a:solidFill>
                <a:latin typeface="Montserrat"/>
                <a:ea typeface="Montserrat"/>
                <a:cs typeface="Montserrat"/>
                <a:sym typeface="Montserrat"/>
              </a:rPr>
              <a:t> Đưa ra đánh giá về hành vi tiêu dùng của khách hàng</a:t>
            </a:r>
          </a:p>
          <a:p>
            <a:pPr algn="l">
              <a:lnSpc>
                <a:spcPts val="3823"/>
              </a:lnSpc>
            </a:pPr>
            <a:endParaRPr lang="en-US" sz="2730" spc="-54">
              <a:solidFill>
                <a:srgbClr val="051D40"/>
              </a:solidFill>
              <a:latin typeface="Montserrat"/>
              <a:ea typeface="Montserrat"/>
              <a:cs typeface="Montserrat"/>
              <a:sym typeface="Montserrat"/>
            </a:endParaRPr>
          </a:p>
          <a:p>
            <a:pPr marL="0" lvl="0" indent="0" algn="l">
              <a:lnSpc>
                <a:spcPts val="3823"/>
              </a:lnSpc>
              <a:spcBef>
                <a:spcPct val="0"/>
              </a:spcBef>
            </a:pPr>
            <a:r>
              <a:rPr lang="en-US" sz="2730" spc="-54">
                <a:solidFill>
                  <a:srgbClr val="051D40"/>
                </a:solidFill>
                <a:latin typeface="Montserrat"/>
                <a:ea typeface="Montserrat"/>
                <a:cs typeface="Montserrat"/>
                <a:sym typeface="Montserrat"/>
              </a:rPr>
              <a:t>=</a:t>
            </a:r>
            <a:r>
              <a:rPr lang="en-US" sz="2730" b="1" spc="-54">
                <a:solidFill>
                  <a:srgbClr val="051D40"/>
                </a:solidFill>
                <a:latin typeface="Montserrat Bold"/>
                <a:ea typeface="Montserrat Bold"/>
                <a:cs typeface="Montserrat Bold"/>
                <a:sym typeface="Montserrat Bold"/>
              </a:rPr>
              <a:t>&gt; </a:t>
            </a:r>
            <a:r>
              <a:rPr lang="en-US" sz="2730" spc="-54">
                <a:solidFill>
                  <a:srgbClr val="051D40"/>
                </a:solidFill>
                <a:latin typeface="Montserrat"/>
                <a:ea typeface="Montserrat"/>
                <a:cs typeface="Montserrat"/>
                <a:sym typeface="Montserrat"/>
              </a:rPr>
              <a:t>Tối ưu Logistic, giảm thời gian + chi phí và tăng trải nghiệm cho khách hàng</a:t>
            </a:r>
          </a:p>
        </p:txBody>
      </p:sp>
      <p:grpSp>
        <p:nvGrpSpPr>
          <p:cNvPr id="10" name="Group 10"/>
          <p:cNvGrpSpPr/>
          <p:nvPr/>
        </p:nvGrpSpPr>
        <p:grpSpPr>
          <a:xfrm>
            <a:off x="9966307" y="300249"/>
            <a:ext cx="8027935" cy="9598729"/>
            <a:chOff x="0" y="0"/>
            <a:chExt cx="8603361" cy="10286746"/>
          </a:xfrm>
        </p:grpSpPr>
        <p:sp>
          <p:nvSpPr>
            <p:cNvPr id="11" name="Freeform 11"/>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l="-93201" r="-8174"/>
              </a:stretch>
            </a:blipFill>
          </p:spPr>
          <p:txBody>
            <a:bodyPr/>
            <a:lstStyle/>
            <a:p>
              <a:endParaRPr lang="en-US"/>
            </a:p>
          </p:txBody>
        </p:sp>
      </p:gr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1885313" y="4157742"/>
            <a:ext cx="8819592" cy="1771491"/>
          </a:xfrm>
          <a:prstGeom prst="rect">
            <a:avLst/>
          </a:prstGeom>
        </p:spPr>
        <p:txBody>
          <a:bodyPr lIns="0" tIns="0" rIns="0" bIns="0" rtlCol="0" anchor="t">
            <a:spAutoFit/>
          </a:bodyPr>
          <a:lstStyle/>
          <a:p>
            <a:pPr marL="0" lvl="0" indent="0" algn="l">
              <a:lnSpc>
                <a:spcPts val="14510"/>
              </a:lnSpc>
              <a:spcBef>
                <a:spcPct val="0"/>
              </a:spcBef>
            </a:pPr>
            <a:r>
              <a:rPr lang="en-US" sz="10364">
                <a:solidFill>
                  <a:srgbClr val="051D40"/>
                </a:solidFill>
                <a:latin typeface="Open Sans Extra Bold"/>
                <a:ea typeface="Open Sans Extra Bold"/>
                <a:cs typeface="Open Sans Extra Bold"/>
                <a:sym typeface="Open Sans Extra Bold"/>
              </a:rPr>
              <a:t>THANK YOU!</a:t>
            </a:r>
          </a:p>
        </p:txBody>
      </p:sp>
      <p:sp>
        <p:nvSpPr>
          <p:cNvPr id="3" name="Freeform 3"/>
          <p:cNvSpPr/>
          <p:nvPr/>
        </p:nvSpPr>
        <p:spPr>
          <a:xfrm>
            <a:off x="12398912" y="967949"/>
            <a:ext cx="5889088" cy="8229600"/>
          </a:xfrm>
          <a:custGeom>
            <a:avLst/>
            <a:gdLst/>
            <a:ahLst/>
            <a:cxnLst/>
            <a:rect l="l" t="t" r="r" b="b"/>
            <a:pathLst>
              <a:path w="5889088" h="8229600">
                <a:moveTo>
                  <a:pt x="0" y="0"/>
                </a:moveTo>
                <a:lnTo>
                  <a:pt x="5889088" y="0"/>
                </a:lnTo>
                <a:lnTo>
                  <a:pt x="5889088" y="8229600"/>
                </a:lnTo>
                <a:lnTo>
                  <a:pt x="0" y="8229600"/>
                </a:lnTo>
                <a:lnTo>
                  <a:pt x="0" y="0"/>
                </a:lnTo>
                <a:close/>
              </a:path>
            </a:pathLst>
          </a:custGeom>
          <a:blipFill>
            <a:blip r:embed="rId2"/>
            <a:stretch>
              <a:fillRect t="-3703" b="-3703"/>
            </a:stretch>
          </a:blipFill>
        </p:spPr>
        <p:txBody>
          <a:bodyPr/>
          <a:lstStyle/>
          <a:p>
            <a:endParaRPr lang="en-US"/>
          </a:p>
        </p:txBody>
      </p:sp>
      <p:grpSp>
        <p:nvGrpSpPr>
          <p:cNvPr id="4" name="Group 4"/>
          <p:cNvGrpSpPr/>
          <p:nvPr/>
        </p:nvGrpSpPr>
        <p:grpSpPr>
          <a:xfrm>
            <a:off x="12398912" y="0"/>
            <a:ext cx="5889088" cy="756959"/>
            <a:chOff x="0" y="0"/>
            <a:chExt cx="1551036" cy="199364"/>
          </a:xfrm>
        </p:grpSpPr>
        <p:sp>
          <p:nvSpPr>
            <p:cNvPr id="5" name="Freeform 5"/>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6" name="TextBox 6"/>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2398912" y="9530041"/>
            <a:ext cx="5889088" cy="756959"/>
            <a:chOff x="0" y="0"/>
            <a:chExt cx="1551036" cy="199364"/>
          </a:xfrm>
        </p:grpSpPr>
        <p:sp>
          <p:nvSpPr>
            <p:cNvPr id="8" name="Freeform 8"/>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9" name="TextBox 9"/>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TotalTime>
  <Words>4111</Words>
  <Application>Microsoft Office PowerPoint</Application>
  <PresentationFormat>Custom</PresentationFormat>
  <Paragraphs>376</Paragraphs>
  <Slides>47</Slides>
  <Notes>20</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Arial</vt:lpstr>
      <vt:lpstr>Calibri</vt:lpstr>
      <vt:lpstr>Source Sans Pro</vt:lpstr>
      <vt:lpstr>Source Sans Pro Bold</vt:lpstr>
      <vt:lpstr>Times New Roman</vt:lpstr>
      <vt:lpstr>Poppins Bold</vt:lpstr>
      <vt:lpstr>Montserrat</vt:lpstr>
      <vt:lpstr>Poppins</vt:lpstr>
      <vt:lpstr>Montserrat Bold</vt:lpstr>
      <vt:lpstr>Open Sans Extra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Khoá luận tốt nghiệp</dc:title>
  <cp:lastModifiedBy>Khoa Huỳnh</cp:lastModifiedBy>
  <cp:revision>11</cp:revision>
  <dcterms:created xsi:type="dcterms:W3CDTF">2006-08-16T00:00:00Z</dcterms:created>
  <dcterms:modified xsi:type="dcterms:W3CDTF">2025-07-21T16:21:46Z</dcterms:modified>
  <dc:identifier>DAGNKi8j7w8</dc:identifier>
</cp:coreProperties>
</file>